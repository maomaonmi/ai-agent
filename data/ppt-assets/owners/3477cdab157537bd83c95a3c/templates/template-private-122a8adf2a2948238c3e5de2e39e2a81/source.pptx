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712"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介绍我们最新的研究成果——GraphService，一个面向大规模图应用的拓扑感知构造器。随着图数据规模的爆炸式增长，如何高效地构建和处理这些图数据成为了一个关键挑战。我们的工作旨在解决这一问题，通过创新的设计显著提升大规模图应用的服务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报告将分为五个部分。首先，我会介绍研究的背景以及我们发现的核心问题。接着，会简要回顾相关的技术背景知识。然后，将详细阐述GraphService的核心设计思路和实现方法。之后，我们会展示一系列实验结果来验证GraphService的有效性。最后，对全文进行总结并展望未来的研究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First, let's look at the research background. Graph services, such as social networks, e-commerce recommendation systems, and knowledge graphs, have become an integral part of our lives. The performance of these services, or Quality of Service (QoS), is directly related to user experience. However, with the explosive growth of data volume, such as the Sogou graph with trillions of edges, the processing capacity of a single machine has been far exceeded, and distributed systems must be used for storage and computation.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distributed graph processing, a complete workflow includes loading, preprocessing, construction, and application phases. Current research mainly focuses on the throughput of graph applications. However, the time spent on graph construction (distributing graph data to compute nodes) is often thousands of times longer than the actual computation time. Inter-node communication cost is the main bottleneck, accounting for the vast majority of the construction time.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What is the core of the problem? Existing graph partitioning methods (e.g., XTree) only consider the graph's structure (e.g., tight vertex connections) but ignore a critical fact: the HPC network running these programs is hierarchical.</a:t>
            </a:r>
          </a:p>
          <a:p>
            <a:pPr indent="0" algn="l">
              <a:lnSpc>
                <a:spcPct val="100000"/>
              </a:lnSpc>
            </a:pPr>
            <a:r>
              <a:rPr lang="en-US" sz="1400" b="0" i="0" u="none" strike="noStrike">
                <a:solidFill>
                  <a:srgbClr val="000000"/>
                </a:solidFill>
              </a:rPr>
              <a:t>Look at the left diagram, a typical HPC communication topology. Compute nodes are organized into different Domains and Routing Cells. Intra-cabinet communication is fast, but cross-cabinet/room communication is much slower.</a:t>
            </a:r>
          </a:p>
          <a:p>
            <a:pPr indent="0" algn="l">
              <a:lnSpc>
                <a:spcPct val="100000"/>
              </a:lnSpc>
            </a:pPr>
            <a:r>
              <a:rPr lang="en-US" sz="1400" b="0" i="0" u="none" strike="noStrike">
                <a:solidFill>
                  <a:srgbClr val="000000"/>
                </a:solidFill>
              </a:rPr>
              <a:t>Ignoring this hardware topology leads to costly cross-domain communication, the root cause of low graph construction efficiency.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solve this problem, we designed GraphService. Its core ideas are twofold:</a:t>
            </a:r>
          </a:p>
          <a:p>
            <a:pPr indent="0" algn="l">
              <a:lnSpc>
                <a:spcPct val="100000"/>
              </a:lnSpc>
            </a:pPr>
            <a:r>
              <a:rPr lang="en-US" sz="1400" b="0" i="0" u="none" strike="noStrike">
                <a:solidFill>
                  <a:srgbClr val="000000"/>
                </a:solidFill>
              </a:rPr>
              <a:t>First, we propose a hierarchy-aware graph partitioner that "understands" the underlying network topology and places closely related graph data in the same communication domain as much as possible to reduce cross-domain communication.</a:t>
            </a:r>
          </a:p>
          <a:p>
            <a:pPr indent="0" algn="l">
              <a:lnSpc>
                <a:spcPct val="100000"/>
              </a:lnSpc>
            </a:pPr>
            <a:r>
              <a:rPr lang="en-US" sz="1400" b="0" i="0" u="none" strike="noStrike">
                <a:solidFill>
                  <a:srgbClr val="000000"/>
                </a:solidFill>
              </a:rPr>
              <a:t>Second, we found that many graphs contain a large number of vertices with the same degree. We leverage this for graph compression, which not only saves memory but also accelerates the graph construction process through batch processing.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better understand our design, let's briefly introduce the HPC communication topology. As shown in the figure, compute nodes are organized into different communication domains connected by routing units. For example, C1, C2, C3 belong to one leaf domain, while C4, C5, C6 belong to another. Communication within the same domain is very fast, while cross-domain communication (e.g., from C1 to C4) is much slower. Our goal is to leverage this structure to match the distribution of graph data with the communication hierarchy of the hardware.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Another basic concept is graph storage and distribution. We typically use the CSR format to efficiently store sparse graphs. In a distributed environment, we need to "split" this large graph and distribute it across different machines, a process known as graph partitioning. The quality of partitioning directly affects how much data needs to be exchanged between nodes during subsequent computations, i.e., communication volume, so it is crucial for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Now let's look at our first core design: the Hierarchy-aware Graph Partitioner. Traditional partitioning may split related vertices into different cabinets, causing heavy cross-domain traffic. Our method references the hardware communication topology, placing closely related vertices in the same domain (e.g., cabinet). This turns most communication into fast intra-domain traffic, greatly reducing overhead.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second core design is space-time efficient graph compression. We observe that many vertices share the same degree in real-world graphs (e.g., users with few friends in social networks). By grouping and processing these vertices together, we not only save memory space but also enable batch operations, significantly accelerating graph construction.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verify the performance of GraphService, extensive experiments were conducted. We tested on three HPC systems of varying scales, utilizing up to nearly 80,000 compute nodes. The datasets included real-world social graphs like Twitter, large-scale synthetic graphs like Kronecker, and web graphs like Sogou. We compared GraphService with mainstream systems such as Gemini and GraphScope, as well as top supercomputers on the Graph500 list.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First, let's look at the Graph500 test results, an authoritative benchmark for supercomputing graph capabilities. Our GraphService achieved a throughput of 162,494 GTEPS in the BFS test, 17% higher than the then-champion Fugaku. More importantly, our graph construction time is over 10,000 times faster than Fugaku, fully proving the effectiveness of our method.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On real-world graph datasets (Twitter, Sogou), GraphService significantly outperforms mainstream systems like Gemini and GraphScope. Across BFS, SSSP, and PageRank algorithms, it achieves speedups of several times, up to nearly 19x.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Scalability is a critical metric for distributed systems. Our experiments show that GraphService's throughput grows almost linearly as the number of compute nodes increases.</a:t>
            </a:r>
          </a:p>
          <a:p>
            <a:pPr indent="0" algn="l">
              <a:lnSpc>
                <a:spcPct val="100000"/>
              </a:lnSpc>
            </a:pPr>
            <a:r>
              <a:rPr lang="en-US" sz="1400" b="0" i="0" u="none" strike="noStrike">
                <a:solidFill>
                  <a:srgbClr val="000000"/>
                </a:solidFill>
              </a:rPr>
              <a:t>As clearly shown in the line chart on the right, when the number of nodes increases from 1,000 to 79,000, throughput jumps from 20,000 to 1,200,000 GTEPS, a very significant increase.</a:t>
            </a:r>
          </a:p>
          <a:p>
            <a:pPr indent="0" algn="l">
              <a:lnSpc>
                <a:spcPct val="100000"/>
              </a:lnSpc>
            </a:pPr>
            <a:r>
              <a:rPr lang="en-US" sz="1400" b="0" i="0" u="none" strike="noStrike">
                <a:solidFill>
                  <a:srgbClr val="000000"/>
                </a:solidFill>
              </a:rPr>
              <a:t>This means we can continuously improve system processing capacity by simply adding machines, which is crucial for handling even larger graph datasets in the future. Meanwhile, the growth rate of graph construction time is much lower than that of the number of nodes, ensuring efficiency.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graph compression technology delivers tangible benefits. Experiments show it reduces memory usage by over 70%, critical for memory-constrained clusters. Meanwhile, batch memory access speeds up graph construction by 30% to 50%.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We compare GraphService with other related work. As can be seen, most existing systems do not consider communication topology or adopt our proposed graph compression method. With these two key technologies, GraphService has achieved significant performance leadership on both Graph500 and real-world graph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summary, our work makes three key contributions: First, we present GraphService, a system dedicated to optimizing the graph construction process. Second, we design a hierarchy-aware partitioner and efficient graph compression techniques, effectively solving the communication bottleneck. Finally, extensive experiments demonstrate that GraphService comprehensively outperforms existing systems, providing an efficient solution for large-scale graph processing.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future work, we plan to extend GraphService to more graph algorithms and scenarios. We also aim to integrate it with GNN training frameworks to optimize the end-to-end process from graph construction to model training. Additionally, we will continue exploring advanced graph compression techniques to address future challenges with complex graph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最后，我要感谢国家自然科学基金等项目对本研究的资助，以及团队成员们的辛勤付出和紧密合作。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我的报告到此结束，感谢大家的聆听。现在是问答环节，欢迎大家提问。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12.svg"/><Relationship Id="rId3" Type="http://schemas.openxmlformats.org/officeDocument/2006/relationships/image" Target="../media/image4.jpeg"/><Relationship Id="rId7" Type="http://schemas.openxmlformats.org/officeDocument/2006/relationships/image" Target="../media/image8.sv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0.svg"/><Relationship Id="rId5" Type="http://schemas.openxmlformats.org/officeDocument/2006/relationships/image" Target="../media/image6.sv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jpeg"/><Relationship Id="rId7" Type="http://schemas.openxmlformats.org/officeDocument/2006/relationships/image" Target="../media/image14.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3.svg"/><Relationship Id="rId10" Type="http://schemas.openxmlformats.org/officeDocument/2006/relationships/image" Target="../media/image17.jpeg"/><Relationship Id="rId4" Type="http://schemas.openxmlformats.org/officeDocument/2006/relationships/image" Target="../media/image2.png"/><Relationship Id="rId9" Type="http://schemas.openxmlformats.org/officeDocument/2006/relationships/image" Target="../media/image16.svg"/></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4.jpeg"/><Relationship Id="rId7" Type="http://schemas.openxmlformats.org/officeDocument/2006/relationships/image" Target="../media/image21.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svg"/><Relationship Id="rId10" Type="http://schemas.openxmlformats.org/officeDocument/2006/relationships/image" Target="../media/image24.jpeg"/><Relationship Id="rId4" Type="http://schemas.openxmlformats.org/officeDocument/2006/relationships/image" Target="../media/image18.png"/><Relationship Id="rId9" Type="http://schemas.openxmlformats.org/officeDocument/2006/relationships/image" Target="../media/image23.svg"/></Relationships>
</file>

<file path=ppt/slides/_rels/slide5.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4.jpe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jpeg"/><Relationship Id="rId9"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4.jpeg"/><Relationship Id="rId7" Type="http://schemas.openxmlformats.org/officeDocument/2006/relationships/image" Target="../media/image33.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23.sv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4.jpeg"/><Relationship Id="rId7" Type="http://schemas.openxmlformats.org/officeDocument/2006/relationships/image" Target="../media/image35.png"/><Relationship Id="rId12" Type="http://schemas.openxmlformats.org/officeDocument/2006/relationships/image" Target="../media/image19.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3.svg"/><Relationship Id="rId11" Type="http://schemas.openxmlformats.org/officeDocument/2006/relationships/image" Target="../media/image18.png"/><Relationship Id="rId5" Type="http://schemas.openxmlformats.org/officeDocument/2006/relationships/image" Target="../media/image22.png"/><Relationship Id="rId10" Type="http://schemas.openxmlformats.org/officeDocument/2006/relationships/image" Target="../media/image31.svg"/><Relationship Id="rId4" Type="http://schemas.openxmlformats.org/officeDocument/2006/relationships/image" Target="../media/image25.jpe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4.jpeg"/><Relationship Id="rId7"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jpeg"/><Relationship Id="rId9" Type="http://schemas.openxmlformats.org/officeDocument/2006/relationships/image" Target="../media/image42.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4.jpeg"/><Relationship Id="rId7" Type="http://schemas.openxmlformats.org/officeDocument/2006/relationships/image" Target="../media/image16.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45.svg"/><Relationship Id="rId10" Type="http://schemas.openxmlformats.org/officeDocument/2006/relationships/image" Target="../media/image46.jpeg"/><Relationship Id="rId4" Type="http://schemas.openxmlformats.org/officeDocument/2006/relationships/image" Target="../media/image44.png"/><Relationship Id="rId9" Type="http://schemas.openxmlformats.org/officeDocument/2006/relationships/image" Target="../media/image31.sv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eg"/><Relationship Id="rId7" Type="http://schemas.openxmlformats.org/officeDocument/2006/relationships/image" Target="../media/image48.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7.png"/><Relationship Id="rId5" Type="http://schemas.openxmlformats.org/officeDocument/2006/relationships/image" Target="../media/image19.svg"/><Relationship Id="rId10" Type="http://schemas.openxmlformats.org/officeDocument/2006/relationships/image" Target="../media/image49.jpeg"/><Relationship Id="rId4" Type="http://schemas.openxmlformats.org/officeDocument/2006/relationships/image" Target="../media/image18.png"/><Relationship Id="rId9"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51.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16.sv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4.jpeg"/><Relationship Id="rId7"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52.png"/><Relationship Id="rId9"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53.png"/><Relationship Id="rId5" Type="http://schemas.openxmlformats.org/officeDocument/2006/relationships/image" Target="../media/image27.sv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jpeg"/><Relationship Id="rId7" Type="http://schemas.openxmlformats.org/officeDocument/2006/relationships/image" Target="../media/image21.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6.sv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4.jpe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8.sv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61.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60.png"/><Relationship Id="rId5" Type="http://schemas.openxmlformats.org/officeDocument/2006/relationships/image" Target="../media/image59.svg"/><Relationship Id="rId10" Type="http://schemas.openxmlformats.org/officeDocument/2006/relationships/image" Target="../media/image62.jpeg"/><Relationship Id="rId4" Type="http://schemas.openxmlformats.org/officeDocument/2006/relationships/image" Target="../media/image58.png"/><Relationship Id="rId9" Type="http://schemas.openxmlformats.org/officeDocument/2006/relationships/image" Target="../media/image10.svg"/></Relationships>
</file>

<file path=ppt/slides/_rels/slide1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jpeg"/><Relationship Id="rId7" Type="http://schemas.openxmlformats.org/officeDocument/2006/relationships/image" Target="../media/image66.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64.svg"/><Relationship Id="rId4" Type="http://schemas.openxmlformats.org/officeDocument/2006/relationships/image" Target="../media/image63.png"/><Relationship Id="rId9" Type="http://schemas.openxmlformats.org/officeDocument/2006/relationships/image" Target="../media/image48.svg"/></Relationships>
</file>

<file path=ppt/slides/_rels/slide19.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69.svg"/><Relationship Id="rId4" Type="http://schemas.openxmlformats.org/officeDocument/2006/relationships/image" Target="../media/image68.png"/></Relationships>
</file>

<file path=ppt/slides/_rels/slide2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71.svg"/><Relationship Id="rId4"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8710863" y="6177071"/>
            <a:ext cx="3481137" cy="580953"/>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r>
              <a:rPr lang="zh-CN" altLang="en-US" sz="2000" dirty="0">
                <a:solidFill>
                  <a:schemeClr val="bg1"/>
                </a:solidFill>
              </a:rPr>
              <a:t>汇报人：薛远识</a:t>
            </a:r>
            <a:endParaRPr sz="2000" dirty="0">
              <a:solidFill>
                <a:schemeClr val="bg1"/>
              </a:solidFill>
            </a:endParaRPr>
          </a:p>
        </p:txBody>
      </p:sp>
      <p:sp>
        <p:nvSpPr>
          <p:cNvPr id="4" name="AutoShape 4"/>
          <p:cNvSpPr/>
          <p:nvPr/>
        </p:nvSpPr>
        <p:spPr>
          <a:xfrm>
            <a:off x="635000" y="1143000"/>
            <a:ext cx="1092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FFFFFF"/>
                </a:solidFill>
                <a:latin typeface="Noto Sans SC"/>
                <a:ea typeface="Noto Sans SC"/>
                <a:cs typeface="Noto Sans SC"/>
                <a:sym typeface="Noto Sans SC"/>
              </a:rPr>
              <a:t>GraphService:</a:t>
            </a:r>
            <a:r>
              <a:rPr lang="en-US" sz="2800" b="1" i="0" u="none" strike="noStrike">
                <a:solidFill>
                  <a:srgbClr val="FF9F1C"/>
                </a:solidFill>
                <a:latin typeface="Noto Sans SC"/>
                <a:ea typeface="Noto Sans SC"/>
                <a:cs typeface="Noto Sans SC"/>
                <a:sym typeface="Noto Sans SC"/>
              </a:rPr>
              <a:t>Topology-aware Constructor</a:t>
            </a:r>
            <a:endParaRPr lang="en-US" sz="1100"/>
          </a:p>
          <a:p>
            <a:pPr indent="0" algn="ctr">
              <a:lnSpc>
                <a:spcPct val="125000"/>
              </a:lnSpc>
            </a:pPr>
            <a:r>
              <a:rPr lang="en-US" sz="2400" b="1" i="0" u="none" strike="noStrike">
                <a:solidFill>
                  <a:srgbClr val="FFFFFF"/>
                </a:solidFill>
                <a:latin typeface="Noto Sans SC"/>
                <a:ea typeface="Noto Sans SC"/>
                <a:cs typeface="Noto Sans SC"/>
                <a:sym typeface="Noto Sans SC"/>
              </a:rPr>
              <a:t>for Large-scale Graph Applications</a:t>
            </a:r>
          </a:p>
        </p:txBody>
      </p:sp>
      <p:sp>
        <p:nvSpPr>
          <p:cNvPr id="5" name="AutoShape 5"/>
          <p:cNvSpPr/>
          <p:nvPr/>
        </p:nvSpPr>
        <p:spPr>
          <a:xfrm>
            <a:off x="5588000" y="2603500"/>
            <a:ext cx="1016000" cy="50800"/>
          </a:xfrm>
          <a:prstGeom prst="roundRect">
            <a:avLst>
              <a:gd name="adj" fmla="val 0"/>
            </a:avLst>
          </a:prstGeom>
          <a:solidFill>
            <a:srgbClr val="41EA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35000" y="2921000"/>
            <a:ext cx="10922000" cy="508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800" b="1" i="0" u="none" strike="noStrike">
                <a:solidFill>
                  <a:srgbClr val="41EAD4"/>
                </a:solidFill>
                <a:latin typeface="Noto Sans SC"/>
                <a:ea typeface="Noto Sans SC"/>
                <a:cs typeface="Noto Sans SC"/>
                <a:sym typeface="Noto Sans SC"/>
              </a:rPr>
              <a:t>A Topology-aware Constructor for Large-scale Graph Applications</a:t>
            </a:r>
            <a:endParaRPr lang="en-US" sz="1100"/>
          </a:p>
        </p:txBody>
      </p:sp>
      <p:sp>
        <p:nvSpPr>
          <p:cNvPr id="7" name="AutoShape 7"/>
          <p:cNvSpPr/>
          <p:nvPr/>
        </p:nvSpPr>
        <p:spPr>
          <a:xfrm>
            <a:off x="635000" y="4064000"/>
            <a:ext cx="1092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err="1">
                <a:solidFill>
                  <a:srgbClr val="FFFFFF">
                    <a:alpha val="94902"/>
                  </a:srgbClr>
                </a:solidFill>
                <a:latin typeface="Noto Sans SC"/>
                <a:ea typeface="Noto Sans SC"/>
                <a:cs typeface="Noto Sans SC"/>
                <a:sym typeface="Noto Sans SC"/>
              </a:rPr>
              <a:t>Xinbiao</a:t>
            </a:r>
            <a:r>
              <a:rPr lang="en-US" sz="1800" b="1" i="0" u="none" strike="noStrike" dirty="0">
                <a:solidFill>
                  <a:srgbClr val="FFFFFF">
                    <a:alpha val="94902"/>
                  </a:srgbClr>
                </a:solidFill>
                <a:latin typeface="Noto Sans SC"/>
                <a:ea typeface="Noto Sans SC"/>
                <a:cs typeface="Noto Sans SC"/>
                <a:sym typeface="Noto Sans SC"/>
              </a:rPr>
              <a:t> Gan</a:t>
            </a:r>
            <a:endParaRPr lang="en-US" sz="1100" dirty="0"/>
          </a:p>
        </p:txBody>
      </p:sp>
      <p:sp>
        <p:nvSpPr>
          <p:cNvPr id="8" name="AutoShape 8"/>
          <p:cNvSpPr/>
          <p:nvPr/>
        </p:nvSpPr>
        <p:spPr>
          <a:xfrm>
            <a:off x="635000" y="4445000"/>
            <a:ext cx="1092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70196"/>
                  </a:srgbClr>
                </a:solidFill>
                <a:latin typeface="Noto Sans SC"/>
                <a:ea typeface="Noto Sans SC"/>
                <a:cs typeface="Noto Sans SC"/>
                <a:sym typeface="Noto Sans SC"/>
              </a:rPr>
              <a:t>National University of Defense Technology</a:t>
            </a:r>
            <a:endParaRPr lang="en-US" sz="110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800" y="5334000"/>
            <a:ext cx="406400" cy="40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4064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CONTENTS</a:t>
            </a:r>
            <a:endParaRPr lang="en-US" sz="1100"/>
          </a:p>
        </p:txBody>
      </p:sp>
      <p:sp>
        <p:nvSpPr>
          <p:cNvPr id="5" name="AutoShape 5"/>
          <p:cNvSpPr/>
          <p:nvPr/>
        </p:nvSpPr>
        <p:spPr>
          <a:xfrm>
            <a:off x="762000" y="1651000"/>
            <a:ext cx="63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9F1C"/>
                </a:solidFill>
                <a:latin typeface="Poppins"/>
                <a:ea typeface="Poppins"/>
                <a:cs typeface="Poppins"/>
                <a:sym typeface="Poppins"/>
              </a:rPr>
              <a:t>01</a:t>
            </a:r>
            <a:endParaRPr lang="en-US" sz="1100"/>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51000" y="1689100"/>
            <a:ext cx="304800" cy="304800"/>
          </a:xfrm>
          <a:prstGeom prst="rect">
            <a:avLst/>
          </a:prstGeom>
        </p:spPr>
      </p:pic>
      <p:sp>
        <p:nvSpPr>
          <p:cNvPr id="7" name="AutoShape 7"/>
          <p:cNvSpPr/>
          <p:nvPr/>
        </p:nvSpPr>
        <p:spPr>
          <a:xfrm>
            <a:off x="2159000" y="16510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Research Background and Problem Statement</a:t>
            </a:r>
            <a:endParaRPr lang="en-US" sz="1100"/>
          </a:p>
        </p:txBody>
      </p:sp>
      <p:cxnSp>
        <p:nvCxnSpPr>
          <p:cNvPr id="8" name="Connector 8"/>
          <p:cNvCxnSpPr/>
          <p:nvPr/>
        </p:nvCxnSpPr>
        <p:spPr>
          <a:xfrm rot="-4092">
            <a:off x="762004" y="2152650"/>
            <a:ext cx="10668000" cy="12700"/>
          </a:xfrm>
          <a:prstGeom prst="line">
            <a:avLst/>
          </a:prstGeom>
          <a:solidFill>
            <a:srgbClr val="DEE0E3">
              <a:alpha val="100000"/>
            </a:srgbClr>
          </a:solidFill>
          <a:ln w="12700" cap="flat" cmpd="sng">
            <a:solidFill>
              <a:srgbClr val="41EAD4">
                <a:alpha val="20000"/>
              </a:srgbClr>
            </a:solidFill>
            <a:prstDash val="solid"/>
            <a:round/>
            <a:headEnd type="none" w="med" len="med"/>
            <a:tailEnd type="none" w="med" len="med"/>
          </a:ln>
        </p:spPr>
      </p:cxnSp>
      <p:sp>
        <p:nvSpPr>
          <p:cNvPr id="9" name="AutoShape 9"/>
          <p:cNvSpPr/>
          <p:nvPr/>
        </p:nvSpPr>
        <p:spPr>
          <a:xfrm>
            <a:off x="762000" y="2413000"/>
            <a:ext cx="63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9F1C"/>
                </a:solidFill>
                <a:latin typeface="Poppins"/>
                <a:ea typeface="Poppins"/>
                <a:cs typeface="Poppins"/>
                <a:sym typeface="Poppins"/>
              </a:rPr>
              <a:t>02</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51000" y="2451100"/>
            <a:ext cx="304800" cy="304800"/>
          </a:xfrm>
          <a:prstGeom prst="rect">
            <a:avLst/>
          </a:prstGeom>
        </p:spPr>
      </p:pic>
      <p:sp>
        <p:nvSpPr>
          <p:cNvPr id="11" name="AutoShape 11"/>
          <p:cNvSpPr/>
          <p:nvPr/>
        </p:nvSpPr>
        <p:spPr>
          <a:xfrm>
            <a:off x="2159000" y="24130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Related Technical Background</a:t>
            </a:r>
            <a:endParaRPr lang="en-US" sz="1100"/>
          </a:p>
        </p:txBody>
      </p:sp>
      <p:cxnSp>
        <p:nvCxnSpPr>
          <p:cNvPr id="12" name="Connector 12"/>
          <p:cNvCxnSpPr/>
          <p:nvPr/>
        </p:nvCxnSpPr>
        <p:spPr>
          <a:xfrm rot="-4092">
            <a:off x="762004" y="2914650"/>
            <a:ext cx="10668000" cy="12700"/>
          </a:xfrm>
          <a:prstGeom prst="line">
            <a:avLst/>
          </a:prstGeom>
          <a:solidFill>
            <a:srgbClr val="DEE0E3">
              <a:alpha val="100000"/>
            </a:srgbClr>
          </a:solidFill>
          <a:ln w="12700" cap="flat" cmpd="sng">
            <a:solidFill>
              <a:srgbClr val="41EAD4">
                <a:alpha val="20000"/>
              </a:srgbClr>
            </a:solidFill>
            <a:prstDash val="solid"/>
            <a:round/>
            <a:headEnd type="none" w="med" len="med"/>
            <a:tailEnd type="none" w="med" len="med"/>
          </a:ln>
        </p:spPr>
      </p:cxnSp>
      <p:sp>
        <p:nvSpPr>
          <p:cNvPr id="13" name="AutoShape 13"/>
          <p:cNvSpPr/>
          <p:nvPr/>
        </p:nvSpPr>
        <p:spPr>
          <a:xfrm>
            <a:off x="762000" y="3175000"/>
            <a:ext cx="63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9F1C"/>
                </a:solidFill>
                <a:latin typeface="Poppins"/>
                <a:ea typeface="Poppins"/>
                <a:cs typeface="Poppins"/>
                <a:sym typeface="Poppins"/>
              </a:rPr>
              <a:t>03</a:t>
            </a:r>
            <a:endParaRPr lang="en-US" sz="1100"/>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51000" y="3213100"/>
            <a:ext cx="304800" cy="304800"/>
          </a:xfrm>
          <a:prstGeom prst="rect">
            <a:avLst/>
          </a:prstGeom>
        </p:spPr>
      </p:pic>
      <p:sp>
        <p:nvSpPr>
          <p:cNvPr id="15" name="AutoShape 15"/>
          <p:cNvSpPr/>
          <p:nvPr/>
        </p:nvSpPr>
        <p:spPr>
          <a:xfrm>
            <a:off x="2159000" y="31750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Core Design of GraphService</a:t>
            </a:r>
            <a:endParaRPr lang="en-US" sz="1100"/>
          </a:p>
        </p:txBody>
      </p:sp>
      <p:cxnSp>
        <p:nvCxnSpPr>
          <p:cNvPr id="16" name="Connector 16"/>
          <p:cNvCxnSpPr/>
          <p:nvPr/>
        </p:nvCxnSpPr>
        <p:spPr>
          <a:xfrm rot="-4092">
            <a:off x="762004" y="3676650"/>
            <a:ext cx="10668000" cy="12700"/>
          </a:xfrm>
          <a:prstGeom prst="line">
            <a:avLst/>
          </a:prstGeom>
          <a:solidFill>
            <a:srgbClr val="DEE0E3">
              <a:alpha val="100000"/>
            </a:srgbClr>
          </a:solidFill>
          <a:ln w="12700" cap="flat" cmpd="sng">
            <a:solidFill>
              <a:srgbClr val="41EAD4">
                <a:alpha val="20000"/>
              </a:srgbClr>
            </a:solidFill>
            <a:prstDash val="solid"/>
            <a:round/>
            <a:headEnd type="none" w="med" len="med"/>
            <a:tailEnd type="none" w="med" len="med"/>
          </a:ln>
        </p:spPr>
      </p:cxnSp>
      <p:sp>
        <p:nvSpPr>
          <p:cNvPr id="17" name="AutoShape 17"/>
          <p:cNvSpPr/>
          <p:nvPr/>
        </p:nvSpPr>
        <p:spPr>
          <a:xfrm>
            <a:off x="762000" y="3937000"/>
            <a:ext cx="63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9F1C"/>
                </a:solidFill>
                <a:latin typeface="Poppins"/>
                <a:ea typeface="Poppins"/>
                <a:cs typeface="Poppins"/>
                <a:sym typeface="Poppins"/>
              </a:rPr>
              <a:t>04</a:t>
            </a:r>
            <a:endParaRPr lang="en-US" sz="1100"/>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51000" y="3975100"/>
            <a:ext cx="304800" cy="304800"/>
          </a:xfrm>
          <a:prstGeom prst="rect">
            <a:avLst/>
          </a:prstGeom>
        </p:spPr>
      </p:pic>
      <p:sp>
        <p:nvSpPr>
          <p:cNvPr id="19" name="AutoShape 19"/>
          <p:cNvSpPr/>
          <p:nvPr/>
        </p:nvSpPr>
        <p:spPr>
          <a:xfrm>
            <a:off x="2159000" y="39370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Experimental Evaluation and Results</a:t>
            </a:r>
            <a:endParaRPr lang="en-US" sz="1100"/>
          </a:p>
        </p:txBody>
      </p:sp>
      <p:cxnSp>
        <p:nvCxnSpPr>
          <p:cNvPr id="20" name="Connector 20"/>
          <p:cNvCxnSpPr/>
          <p:nvPr/>
        </p:nvCxnSpPr>
        <p:spPr>
          <a:xfrm rot="-4092">
            <a:off x="762004" y="4438650"/>
            <a:ext cx="10668000" cy="12700"/>
          </a:xfrm>
          <a:prstGeom prst="line">
            <a:avLst/>
          </a:prstGeom>
          <a:solidFill>
            <a:srgbClr val="DEE0E3">
              <a:alpha val="100000"/>
            </a:srgbClr>
          </a:solidFill>
          <a:ln w="12700" cap="flat" cmpd="sng">
            <a:solidFill>
              <a:srgbClr val="41EAD4">
                <a:alpha val="20000"/>
              </a:srgbClr>
            </a:solidFill>
            <a:prstDash val="solid"/>
            <a:round/>
            <a:headEnd type="none" w="med" len="med"/>
            <a:tailEnd type="none" w="med" len="med"/>
          </a:ln>
        </p:spPr>
      </p:cxnSp>
      <p:sp>
        <p:nvSpPr>
          <p:cNvPr id="21" name="AutoShape 21"/>
          <p:cNvSpPr/>
          <p:nvPr/>
        </p:nvSpPr>
        <p:spPr>
          <a:xfrm>
            <a:off x="762000" y="4699000"/>
            <a:ext cx="63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9F1C"/>
                </a:solidFill>
                <a:latin typeface="Poppins"/>
                <a:ea typeface="Poppins"/>
                <a:cs typeface="Poppins"/>
                <a:sym typeface="Poppins"/>
              </a:rPr>
              <a:t>05</a:t>
            </a:r>
            <a:endParaRPr lang="en-US" sz="1100"/>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651000" y="4737100"/>
            <a:ext cx="304800" cy="304800"/>
          </a:xfrm>
          <a:prstGeom prst="rect">
            <a:avLst/>
          </a:prstGeom>
        </p:spPr>
      </p:pic>
      <p:sp>
        <p:nvSpPr>
          <p:cNvPr id="23" name="AutoShape 23"/>
          <p:cNvSpPr/>
          <p:nvPr/>
        </p:nvSpPr>
        <p:spPr>
          <a:xfrm>
            <a:off x="2159000" y="46990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Conclusion and Future Work</a:t>
            </a:r>
            <a:endParaRPr lang="en-US" sz="1100"/>
          </a:p>
        </p:txBody>
      </p:sp>
      <p:cxnSp>
        <p:nvCxnSpPr>
          <p:cNvPr id="24" name="Connector 24"/>
          <p:cNvCxnSpPr/>
          <p:nvPr/>
        </p:nvCxnSpPr>
        <p:spPr>
          <a:xfrm rot="-4092">
            <a:off x="762004" y="5200650"/>
            <a:ext cx="10668000" cy="12700"/>
          </a:xfrm>
          <a:prstGeom prst="line">
            <a:avLst/>
          </a:prstGeom>
          <a:solidFill>
            <a:srgbClr val="DEE0E3">
              <a:alpha val="100000"/>
            </a:srgbClr>
          </a:solidFill>
          <a:ln w="12700" cap="flat" cmpd="sng">
            <a:solidFill>
              <a:srgbClr val="41EAD4">
                <a:alpha val="20000"/>
              </a:srgbClr>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a:ea typeface="Noto Sans SC"/>
                <a:cs typeface="Noto Sans SC"/>
                <a:sym typeface="Noto Sans SC"/>
              </a:rPr>
              <a:t>Research Background: The Importance of Graph Services</a:t>
            </a:r>
            <a:endParaRPr lang="en-US" sz="1100"/>
          </a:p>
        </p:txBody>
      </p:sp>
      <p:sp>
        <p:nvSpPr>
          <p:cNvPr id="5" name="AutoShape 5"/>
          <p:cNvSpPr/>
          <p:nvPr/>
        </p:nvSpPr>
        <p:spPr>
          <a:xfrm>
            <a:off x="762000" y="1524000"/>
            <a:ext cx="5080000" cy="1270000"/>
          </a:xfrm>
          <a:prstGeom prst="roundRect">
            <a:avLst>
              <a:gd name="adj" fmla="val 10000"/>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14500"/>
            <a:ext cx="406400" cy="406400"/>
          </a:xfrm>
          <a:prstGeom prst="rect">
            <a:avLst/>
          </a:prstGeom>
        </p:spPr>
      </p:pic>
      <p:sp>
        <p:nvSpPr>
          <p:cNvPr id="7" name="AutoShape 7"/>
          <p:cNvSpPr/>
          <p:nvPr/>
        </p:nvSpPr>
        <p:spPr>
          <a:xfrm>
            <a:off x="1524000" y="16764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1EAD4"/>
                </a:solidFill>
                <a:latin typeface="Noto Sans SC"/>
                <a:ea typeface="Noto Sans SC"/>
                <a:cs typeface="Noto Sans SC"/>
                <a:sym typeface="Noto Sans SC"/>
              </a:rPr>
              <a:t>Widespread Application Scenarios</a:t>
            </a:r>
            <a:endParaRPr lang="en-US" sz="1100"/>
          </a:p>
        </p:txBody>
      </p:sp>
      <p:sp>
        <p:nvSpPr>
          <p:cNvPr id="8" name="AutoShape 8"/>
          <p:cNvSpPr/>
          <p:nvPr/>
        </p:nvSpPr>
        <p:spPr>
          <a:xfrm>
            <a:off x="1524000" y="2032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DCDCDC"/>
                </a:solidFill>
                <a:latin typeface="Noto Sans SC"/>
                <a:ea typeface="Noto Sans SC"/>
                <a:cs typeface="Noto Sans SC"/>
                <a:sym typeface="Noto Sans SC"/>
              </a:rPr>
              <a:t>Graph services have been deeply integrated into daily life, covering social networks, recommendation systems, knowledge graphs, and other fields.</a:t>
            </a:r>
            <a:endParaRPr lang="en-US" sz="1100"/>
          </a:p>
        </p:txBody>
      </p:sp>
      <p:sp>
        <p:nvSpPr>
          <p:cNvPr id="9" name="AutoShape 9"/>
          <p:cNvSpPr/>
          <p:nvPr/>
        </p:nvSpPr>
        <p:spPr>
          <a:xfrm>
            <a:off x="762000" y="2984500"/>
            <a:ext cx="5080000" cy="1270000"/>
          </a:xfrm>
          <a:prstGeom prst="roundRect">
            <a:avLst>
              <a:gd name="adj" fmla="val 10000"/>
            </a:avLst>
          </a:prstGeom>
          <a:solidFill>
            <a:srgbClr val="FFFFFF">
              <a:alpha val="5000"/>
            </a:srgbClr>
          </a:solidFill>
          <a:ln w="12700" cap="flat" cmpd="sng">
            <a:solidFill>
              <a:srgbClr val="FF9F1C">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175000"/>
            <a:ext cx="406400" cy="406400"/>
          </a:xfrm>
          <a:prstGeom prst="rect">
            <a:avLst/>
          </a:prstGeom>
        </p:spPr>
      </p:pic>
      <p:sp>
        <p:nvSpPr>
          <p:cNvPr id="11" name="AutoShape 11"/>
          <p:cNvSpPr/>
          <p:nvPr/>
        </p:nvSpPr>
        <p:spPr>
          <a:xfrm>
            <a:off x="1524000" y="31369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F1C"/>
                </a:solidFill>
                <a:latin typeface="Noto Sans SC"/>
                <a:ea typeface="Noto Sans SC"/>
                <a:cs typeface="Noto Sans SC"/>
                <a:sym typeface="Noto Sans SC"/>
              </a:rPr>
              <a:t>Key to Quality of Service (QoS)</a:t>
            </a:r>
            <a:endParaRPr lang="en-US" sz="1100"/>
          </a:p>
        </p:txBody>
      </p:sp>
      <p:sp>
        <p:nvSpPr>
          <p:cNvPr id="12" name="AutoShape 12"/>
          <p:cNvSpPr/>
          <p:nvPr/>
        </p:nvSpPr>
        <p:spPr>
          <a:xfrm>
            <a:off x="1524000" y="34925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DCDCDC"/>
                </a:solidFill>
                <a:latin typeface="Noto Sans SC"/>
                <a:ea typeface="Noto Sans SC"/>
                <a:cs typeface="Noto Sans SC"/>
                <a:sym typeface="Noto Sans SC"/>
              </a:rPr>
              <a:t>Quality of Service (QoS) is a key metric for measuring graph services, including throughput, response time, etc.</a:t>
            </a:r>
            <a:endParaRPr lang="en-US" sz="1100"/>
          </a:p>
        </p:txBody>
      </p:sp>
      <p:sp>
        <p:nvSpPr>
          <p:cNvPr id="13" name="AutoShape 13"/>
          <p:cNvSpPr/>
          <p:nvPr/>
        </p:nvSpPr>
        <p:spPr>
          <a:xfrm>
            <a:off x="762000" y="4445000"/>
            <a:ext cx="5080000" cy="1270000"/>
          </a:xfrm>
          <a:prstGeom prst="roundRect">
            <a:avLst>
              <a:gd name="adj" fmla="val 10000"/>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635500"/>
            <a:ext cx="406400" cy="406400"/>
          </a:xfrm>
          <a:prstGeom prst="rect">
            <a:avLst/>
          </a:prstGeom>
        </p:spPr>
      </p:pic>
      <p:sp>
        <p:nvSpPr>
          <p:cNvPr id="15" name="AutoShape 15"/>
          <p:cNvSpPr/>
          <p:nvPr/>
        </p:nvSpPr>
        <p:spPr>
          <a:xfrm>
            <a:off x="1524000" y="45974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41EAD4"/>
                </a:solidFill>
                <a:latin typeface="Noto Sans SC"/>
                <a:ea typeface="Noto Sans SC"/>
                <a:cs typeface="Noto Sans SC"/>
                <a:sym typeface="Noto Sans SC"/>
              </a:rPr>
              <a:t>Distributed Needs Driven by Massive Data</a:t>
            </a:r>
            <a:endParaRPr lang="en-US" sz="1100"/>
          </a:p>
        </p:txBody>
      </p:sp>
      <p:sp>
        <p:nvSpPr>
          <p:cNvPr id="16" name="AutoShape 16"/>
          <p:cNvSpPr/>
          <p:nvPr/>
        </p:nvSpPr>
        <p:spPr>
          <a:xfrm>
            <a:off x="1524000" y="4953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DCDCDC"/>
                </a:solidFill>
                <a:latin typeface="Noto Sans SC"/>
                <a:ea typeface="Noto Sans SC"/>
                <a:cs typeface="Noto Sans SC"/>
                <a:sym typeface="Noto Sans SC"/>
              </a:rPr>
              <a:t>As the scale of graph data (vertices/edges) grows rapidly, a single machine can no longer handle it, and distributed systems are a must.</a:t>
            </a:r>
            <a:endParaRPr lang="en-US" sz="1100"/>
          </a:p>
        </p:txBody>
      </p:sp>
      <p:sp>
        <p:nvSpPr>
          <p:cNvPr id="17" name="AutoShape 17"/>
          <p:cNvSpPr/>
          <p:nvPr/>
        </p:nvSpPr>
        <p:spPr>
          <a:xfrm>
            <a:off x="6350000" y="1905000"/>
            <a:ext cx="4826000" cy="2667000"/>
          </a:xfrm>
          <a:prstGeom prst="roundRect">
            <a:avLst>
              <a:gd name="adj" fmla="val 4761"/>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srcRect l="105" r="105"/>
          <a:stretch>
            <a:fillRect/>
          </a:stretch>
        </p:blipFill>
        <p:spPr>
          <a:xfrm>
            <a:off x="6477000" y="2032000"/>
            <a:ext cx="4572000" cy="2413000"/>
          </a:xfrm>
          <a:prstGeom prst="roundRect">
            <a:avLst>
              <a:gd name="adj" fmla="val 5263"/>
            </a:avLst>
          </a:prstGeom>
          <a:noFill/>
          <a:ln w="25400" cap="flat" cmpd="sng">
            <a:noFill/>
            <a:prstDash val="solid"/>
            <a:round/>
          </a:ln>
        </p:spPr>
      </p:pic>
      <p:sp>
        <p:nvSpPr>
          <p:cNvPr id="19" name="AutoShape 19"/>
          <p:cNvSpPr/>
          <p:nvPr/>
        </p:nvSpPr>
        <p:spPr>
          <a:xfrm>
            <a:off x="6350000" y="46990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alpha val="70196"/>
                  </a:srgbClr>
                </a:solidFill>
                <a:latin typeface="Noto Sans SC"/>
                <a:ea typeface="Noto Sans SC"/>
                <a:cs typeface="Noto Sans SC"/>
                <a:sym typeface="Noto Sans SC"/>
              </a:rPr>
              <a:t>Figure: Schematic of a complex knowledge graph (showing scale and association)</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55372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a:ea typeface="Noto Sans SC"/>
                <a:cs typeface="Noto Sans SC"/>
                <a:sym typeface="Noto Sans SC"/>
              </a:rPr>
              <a:t>Problem Statement: Bottleneck of Graph Construction</a:t>
            </a:r>
            <a:endParaRPr lang="en-US" sz="1100"/>
          </a:p>
        </p:txBody>
      </p:sp>
      <p:sp>
        <p:nvSpPr>
          <p:cNvPr id="5" name="AutoShape 5"/>
          <p:cNvSpPr/>
          <p:nvPr/>
        </p:nvSpPr>
        <p:spPr>
          <a:xfrm>
            <a:off x="762000" y="1270000"/>
            <a:ext cx="10668000" cy="762000"/>
          </a:xfrm>
          <a:prstGeom prst="roundRect">
            <a:avLst>
              <a:gd name="adj" fmla="val 16666"/>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498600"/>
            <a:ext cx="304800" cy="304800"/>
          </a:xfrm>
          <a:prstGeom prst="rect">
            <a:avLst/>
          </a:prstGeom>
        </p:spPr>
      </p:pic>
      <p:sp>
        <p:nvSpPr>
          <p:cNvPr id="7" name="AutoShape 7"/>
          <p:cNvSpPr/>
          <p:nvPr/>
        </p:nvSpPr>
        <p:spPr>
          <a:xfrm>
            <a:off x="1460500" y="1397000"/>
            <a:ext cx="914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DCDCDC"/>
                </a:solidFill>
                <a:latin typeface="Noto Sans SC"/>
                <a:ea typeface="Noto Sans SC"/>
                <a:cs typeface="Noto Sans SC"/>
                <a:sym typeface="Noto Sans SC"/>
              </a:rPr>
              <a:t>Traditional systems focus too much on</a:t>
            </a:r>
            <a:r>
              <a:rPr lang="en-US" sz="1300" b="1" i="0" u="none" strike="noStrike">
                <a:solidFill>
                  <a:srgbClr val="41EAD4"/>
                </a:solidFill>
                <a:latin typeface="Noto Sans SC"/>
                <a:ea typeface="Noto Sans SC"/>
                <a:cs typeface="Noto Sans SC"/>
                <a:sym typeface="Noto Sans SC"/>
              </a:rPr>
              <a:t>high throughput</a:t>
            </a:r>
            <a:r>
              <a:rPr lang="en-US" sz="1300" b="0" i="0" u="none" strike="noStrike">
                <a:solidFill>
                  <a:srgbClr val="DCDCDC"/>
                </a:solidFill>
                <a:latin typeface="Noto Sans SC"/>
                <a:ea typeface="Noto Sans SC"/>
                <a:cs typeface="Noto Sans SC"/>
                <a:sym typeface="Noto Sans SC"/>
              </a:rPr>
              <a:t>of operators (BFS/SSSP), but ignore the huge overhead of the construction phase.</a:t>
            </a:r>
            <a:endParaRPr lang="en-US" sz="1100"/>
          </a:p>
        </p:txBody>
      </p:sp>
      <p:sp>
        <p:nvSpPr>
          <p:cNvPr id="8" name="AutoShape 8"/>
          <p:cNvSpPr/>
          <p:nvPr/>
        </p:nvSpPr>
        <p:spPr>
          <a:xfrm>
            <a:off x="762000" y="2159000"/>
            <a:ext cx="10668000" cy="762000"/>
          </a:xfrm>
          <a:prstGeom prst="roundRect">
            <a:avLst>
              <a:gd name="adj" fmla="val 16666"/>
            </a:avLst>
          </a:prstGeom>
          <a:solidFill>
            <a:srgbClr val="FFFFFF">
              <a:alpha val="5000"/>
            </a:srgbClr>
          </a:solidFill>
          <a:ln w="12700" cap="flat" cmpd="sng">
            <a:solidFill>
              <a:srgbClr val="FF9F1C">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2387600"/>
            <a:ext cx="304800" cy="304800"/>
          </a:xfrm>
          <a:prstGeom prst="rect">
            <a:avLst/>
          </a:prstGeom>
        </p:spPr>
      </p:pic>
      <p:sp>
        <p:nvSpPr>
          <p:cNvPr id="10" name="AutoShape 10"/>
          <p:cNvSpPr/>
          <p:nvPr/>
        </p:nvSpPr>
        <p:spPr>
          <a:xfrm>
            <a:off x="1460500" y="2286000"/>
            <a:ext cx="914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DCDCDC"/>
                </a:solidFill>
                <a:latin typeface="Noto Sans SC"/>
                <a:ea typeface="Noto Sans SC"/>
                <a:cs typeface="Noto Sans SC"/>
                <a:sym typeface="Noto Sans SC"/>
              </a:rPr>
              <a:t>Graph construction time (τ_c) is typically</a:t>
            </a:r>
            <a:r>
              <a:rPr lang="en-US" sz="1300" b="1" i="0" u="none" strike="noStrike">
                <a:solidFill>
                  <a:srgbClr val="FF9F1C"/>
                </a:solidFill>
                <a:latin typeface="Noto Sans SC"/>
                <a:ea typeface="Noto Sans SC"/>
                <a:cs typeface="Noto Sans SC"/>
                <a:sym typeface="Noto Sans SC"/>
              </a:rPr>
              <a:t>3-5 orders of magnitude</a:t>
            </a:r>
            <a:r>
              <a:rPr lang="en-US" sz="1300" b="0" i="0" u="none" strike="noStrike">
                <a:solidFill>
                  <a:srgbClr val="DCDCDC"/>
                </a:solidFill>
                <a:latin typeface="Noto Sans SC"/>
                <a:ea typeface="Noto Sans SC"/>
                <a:cs typeface="Noto Sans SC"/>
                <a:sym typeface="Noto Sans SC"/>
              </a:rPr>
              <a:t>higher than operator time (τ_g), a key bottleneck.</a:t>
            </a:r>
            <a:endParaRPr lang="en-US" sz="1100"/>
          </a:p>
        </p:txBody>
      </p:sp>
      <p:sp>
        <p:nvSpPr>
          <p:cNvPr id="11" name="AutoShape 11"/>
          <p:cNvSpPr/>
          <p:nvPr/>
        </p:nvSpPr>
        <p:spPr>
          <a:xfrm>
            <a:off x="762000" y="3048000"/>
            <a:ext cx="10668000" cy="762000"/>
          </a:xfrm>
          <a:prstGeom prst="roundRect">
            <a:avLst>
              <a:gd name="adj" fmla="val 16666"/>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276600"/>
            <a:ext cx="304800" cy="304800"/>
          </a:xfrm>
          <a:prstGeom prst="rect">
            <a:avLst/>
          </a:prstGeom>
        </p:spPr>
      </p:pic>
      <p:sp>
        <p:nvSpPr>
          <p:cNvPr id="13" name="AutoShape 13"/>
          <p:cNvSpPr/>
          <p:nvPr/>
        </p:nvSpPr>
        <p:spPr>
          <a:xfrm>
            <a:off x="1460500" y="3175000"/>
            <a:ext cx="914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DCDCDC"/>
                </a:solidFill>
                <a:latin typeface="Noto Sans SC"/>
                <a:ea typeface="Noto Sans SC"/>
                <a:cs typeface="Noto Sans SC"/>
                <a:sym typeface="Noto Sans SC"/>
              </a:rPr>
              <a:t>Communication costs account for</a:t>
            </a:r>
            <a:r>
              <a:rPr lang="en-US" sz="1300" b="1" i="0" u="none" strike="noStrike">
                <a:solidFill>
                  <a:srgbClr val="41EAD4"/>
                </a:solidFill>
                <a:latin typeface="Noto Sans SC"/>
                <a:ea typeface="Noto Sans SC"/>
                <a:cs typeface="Noto Sans SC"/>
                <a:sym typeface="Noto Sans SC"/>
              </a:rPr>
              <a:t>over 80%</a:t>
            </a:r>
            <a:r>
              <a:rPr lang="en-US" sz="1300" b="0" i="0" u="none" strike="noStrike">
                <a:solidFill>
                  <a:srgbClr val="DCDCDC"/>
                </a:solidFill>
                <a:latin typeface="Noto Sans SC"/>
                <a:ea typeface="Noto Sans SC"/>
                <a:cs typeface="Noto Sans SC"/>
                <a:sym typeface="Noto Sans SC"/>
              </a:rPr>
              <a:t>of the construction phase, the core cause of high latency.</a:t>
            </a:r>
            <a:endParaRPr lang="en-US" sz="1100"/>
          </a:p>
        </p:txBody>
      </p:sp>
      <p:sp>
        <p:nvSpPr>
          <p:cNvPr id="14" name="AutoShape 14"/>
          <p:cNvSpPr/>
          <p:nvPr/>
        </p:nvSpPr>
        <p:spPr>
          <a:xfrm>
            <a:off x="762000" y="40005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Noto Sans SC"/>
                <a:ea typeface="Noto Sans SC"/>
                <a:cs typeface="Noto Sans SC"/>
                <a:sym typeface="Noto Sans SC"/>
              </a:rPr>
              <a:t>Graph Processing Pipeline: Construction is the critical entry point of online processing</a:t>
            </a:r>
            <a:endParaRPr lang="en-US" sz="1100"/>
          </a:p>
        </p:txBody>
      </p:sp>
      <p:pic>
        <p:nvPicPr>
          <p:cNvPr id="15" name="Picture 15"/>
          <p:cNvPicPr>
            <a:picLocks noChangeAspect="1"/>
          </p:cNvPicPr>
          <p:nvPr/>
        </p:nvPicPr>
        <p:blipFill>
          <a:blip r:embed="rId10"/>
          <a:srcRect l="163" r="163"/>
          <a:stretch>
            <a:fillRect/>
          </a:stretch>
        </p:blipFill>
        <p:spPr>
          <a:xfrm>
            <a:off x="3683000" y="4381500"/>
            <a:ext cx="4826000" cy="1155700"/>
          </a:xfrm>
          <a:prstGeom prst="rect">
            <a:avLst/>
          </a:prstGeom>
          <a:noFill/>
          <a:ln w="12700" cap="flat" cmpd="sng">
            <a:solidFill>
              <a:srgbClr val="FFFFFF">
                <a:alpha val="20000"/>
              </a:srgbClr>
            </a:solidFill>
            <a:prstDash val="solid"/>
            <a:round/>
          </a:ln>
          <a:effectLst>
            <a:outerShdw blurRad="127000" dist="50800" dir="5400000" algn="tl" rotWithShape="0">
              <a:srgbClr val="000000">
                <a:alpha val="50000"/>
              </a:srgbClr>
            </a:outerShdw>
          </a:effectLst>
        </p:spPr>
      </p:pic>
      <p:sp>
        <p:nvSpPr>
          <p:cNvPr id="16" name="AutoShape 16"/>
          <p:cNvSpPr/>
          <p:nvPr/>
        </p:nvSpPr>
        <p:spPr>
          <a:xfrm>
            <a:off x="762000" y="5842000"/>
            <a:ext cx="10668000" cy="25400"/>
          </a:xfrm>
          <a:prstGeom prst="roundRect">
            <a:avLst>
              <a:gd name="adj" fmla="val 0"/>
            </a:avLst>
          </a:prstGeom>
          <a:gradFill rotWithShape="1">
            <a:gsLst>
              <a:gs pos="0">
                <a:srgbClr val="41EAD4">
                  <a:alpha val="0"/>
                </a:srgbClr>
              </a:gs>
              <a:gs pos="50000">
                <a:srgbClr val="41EAD4">
                  <a:alpha val="100000"/>
                </a:srgbClr>
              </a:gs>
              <a:gs pos="100000">
                <a:srgbClr val="41EAD4">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6045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a:ea typeface="Noto Sans SC"/>
                <a:cs typeface="Noto Sans SC"/>
                <a:sym typeface="Noto Sans SC"/>
              </a:rPr>
              <a:t>Core Problem: Neglect of Communication Topology</a:t>
            </a:r>
            <a:endParaRPr lang="en-US" sz="1100"/>
          </a:p>
        </p:txBody>
      </p:sp>
      <p:pic>
        <p:nvPicPr>
          <p:cNvPr id="5" name="Picture 5"/>
          <p:cNvPicPr>
            <a:picLocks noChangeAspect="1"/>
          </p:cNvPicPr>
          <p:nvPr/>
        </p:nvPicPr>
        <p:blipFill>
          <a:blip r:embed="rId4"/>
          <a:srcRect l="134" r="134"/>
          <a:stretch>
            <a:fillRect/>
          </a:stretch>
        </p:blipFill>
        <p:spPr>
          <a:xfrm>
            <a:off x="762000" y="1524000"/>
            <a:ext cx="4064000" cy="2006600"/>
          </a:xfrm>
          <a:prstGeom prst="roundRect">
            <a:avLst>
              <a:gd name="adj" fmla="val 6329"/>
            </a:avLst>
          </a:prstGeom>
          <a:noFill/>
          <a:ln w="12700" cap="flat" cmpd="sng">
            <a:solidFill>
              <a:srgbClr val="41EAD4">
                <a:alpha val="100000"/>
              </a:srgbClr>
            </a:solidFill>
            <a:prstDash val="solid"/>
            <a:round/>
          </a:ln>
          <a:effectLst>
            <a:outerShdw blurRad="127000" dist="63500" dir="2700000" algn="tl" rotWithShape="0">
              <a:srgbClr val="41EAD4">
                <a:alpha val="30000"/>
              </a:srgbClr>
            </a:outerShdw>
          </a:effectLst>
        </p:spPr>
      </p:pic>
      <p:sp>
        <p:nvSpPr>
          <p:cNvPr id="6" name="AutoShape 6"/>
          <p:cNvSpPr/>
          <p:nvPr/>
        </p:nvSpPr>
        <p:spPr>
          <a:xfrm>
            <a:off x="762000" y="3683000"/>
            <a:ext cx="406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alpha val="60000"/>
                  </a:srgbClr>
                </a:solidFill>
                <a:latin typeface="Noto Sans SC"/>
                <a:ea typeface="Noto Sans SC"/>
                <a:cs typeface="Noto Sans SC"/>
                <a:sym typeface="Noto Sans SC"/>
              </a:rPr>
              <a:t>Schematic of HPC Hierarchical Communication Topology</a:t>
            </a:r>
            <a:endParaRPr lang="en-US" sz="1100"/>
          </a:p>
        </p:txBody>
      </p:sp>
      <p:sp>
        <p:nvSpPr>
          <p:cNvPr id="7" name="AutoShape 7"/>
          <p:cNvSpPr/>
          <p:nvPr/>
        </p:nvSpPr>
        <p:spPr>
          <a:xfrm>
            <a:off x="5334000" y="1524000"/>
            <a:ext cx="6096000" cy="1143000"/>
          </a:xfrm>
          <a:prstGeom prst="roundRect">
            <a:avLst>
              <a:gd name="adj" fmla="val 11111"/>
            </a:avLst>
          </a:prstGeom>
          <a:solidFill>
            <a:srgbClr val="FFFFFF">
              <a:alpha val="5000"/>
            </a:srgbClr>
          </a:solidFill>
          <a:ln w="12700" cap="flat" cmpd="sng">
            <a:solidFill>
              <a:srgbClr val="41EAD4">
                <a:alpha val="2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88000" y="1892300"/>
            <a:ext cx="406400" cy="406400"/>
          </a:xfrm>
          <a:prstGeom prst="rect">
            <a:avLst/>
          </a:prstGeom>
        </p:spPr>
      </p:pic>
      <p:sp>
        <p:nvSpPr>
          <p:cNvPr id="9" name="AutoShape 9"/>
          <p:cNvSpPr/>
          <p:nvPr/>
        </p:nvSpPr>
        <p:spPr>
          <a:xfrm>
            <a:off x="6159500" y="1651000"/>
            <a:ext cx="508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1EAD4"/>
                </a:solidFill>
                <a:latin typeface="Noto Sans SC"/>
                <a:ea typeface="Noto Sans SC"/>
                <a:cs typeface="Noto Sans SC"/>
                <a:sym typeface="Noto Sans SC"/>
              </a:rPr>
              <a:t>Algorithm Limitation: Ignoring Underlying Characteristics</a:t>
            </a:r>
            <a:endParaRPr lang="en-US" sz="1100"/>
          </a:p>
          <a:p>
            <a:pPr indent="0" algn="l">
              <a:lnSpc>
                <a:spcPct val="125000"/>
              </a:lnSpc>
            </a:pPr>
            <a:r>
              <a:rPr lang="en-US" sz="1200" b="0" i="0" u="none" strike="noStrike">
                <a:solidFill>
                  <a:srgbClr val="E5E7EB"/>
                </a:solidFill>
                <a:latin typeface="Noto Sans SC"/>
                <a:ea typeface="Noto Sans SC"/>
                <a:cs typeface="Noto Sans SC"/>
                <a:sym typeface="Noto Sans SC"/>
              </a:rPr>
              <a:t>Current graph partitioning algorithms focus only on the graph's sparsity, ignoring the physical communication hierarchy of the underlying HPC system.</a:t>
            </a:r>
          </a:p>
        </p:txBody>
      </p:sp>
      <p:sp>
        <p:nvSpPr>
          <p:cNvPr id="10" name="AutoShape 10"/>
          <p:cNvSpPr/>
          <p:nvPr/>
        </p:nvSpPr>
        <p:spPr>
          <a:xfrm>
            <a:off x="5334000" y="2857500"/>
            <a:ext cx="6096000" cy="1143000"/>
          </a:xfrm>
          <a:prstGeom prst="roundRect">
            <a:avLst>
              <a:gd name="adj" fmla="val 11111"/>
            </a:avLst>
          </a:prstGeom>
          <a:solidFill>
            <a:srgbClr val="FFFFFF">
              <a:alpha val="5000"/>
            </a:srgbClr>
          </a:solidFill>
          <a:ln w="12700" cap="flat" cmpd="sng">
            <a:solidFill>
              <a:srgbClr val="41EAD4">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88000" y="3225800"/>
            <a:ext cx="406400" cy="406400"/>
          </a:xfrm>
          <a:prstGeom prst="rect">
            <a:avLst/>
          </a:prstGeom>
        </p:spPr>
      </p:pic>
      <p:sp>
        <p:nvSpPr>
          <p:cNvPr id="12" name="AutoShape 12"/>
          <p:cNvSpPr/>
          <p:nvPr/>
        </p:nvSpPr>
        <p:spPr>
          <a:xfrm>
            <a:off x="6159500" y="2984500"/>
            <a:ext cx="508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1EAD4"/>
                </a:solidFill>
                <a:latin typeface="Noto Sans SC"/>
                <a:ea typeface="Noto Sans SC"/>
                <a:cs typeface="Noto Sans SC"/>
                <a:sym typeface="Noto Sans SC"/>
              </a:rPr>
              <a:t>Hardware Feature: Hierarchical Communication Latency</a:t>
            </a:r>
            <a:endParaRPr lang="en-US" sz="1100"/>
          </a:p>
          <a:p>
            <a:pPr indent="0" algn="l">
              <a:lnSpc>
                <a:spcPct val="125000"/>
              </a:lnSpc>
            </a:pPr>
            <a:r>
              <a:rPr lang="en-US" sz="1200" b="0" i="0" u="none" strike="noStrike">
                <a:solidFill>
                  <a:srgbClr val="E5E7EB"/>
                </a:solidFill>
                <a:latin typeface="Noto Sans SC"/>
                <a:ea typeface="Noto Sans SC"/>
                <a:cs typeface="Noto Sans SC"/>
                <a:sym typeface="Noto Sans SC"/>
              </a:rPr>
              <a:t>HPC networks have strict hierarchies; cross-cabinet/room latency is much higher than intra-level communication.</a:t>
            </a:r>
          </a:p>
        </p:txBody>
      </p:sp>
      <p:sp>
        <p:nvSpPr>
          <p:cNvPr id="13" name="AutoShape 13"/>
          <p:cNvSpPr/>
          <p:nvPr/>
        </p:nvSpPr>
        <p:spPr>
          <a:xfrm>
            <a:off x="5334000" y="4191000"/>
            <a:ext cx="6096000" cy="1143000"/>
          </a:xfrm>
          <a:prstGeom prst="roundRect">
            <a:avLst>
              <a:gd name="adj" fmla="val 11111"/>
            </a:avLst>
          </a:prstGeom>
          <a:solidFill>
            <a:srgbClr val="FFFFFF">
              <a:alpha val="5000"/>
            </a:srgbClr>
          </a:solidFill>
          <a:ln w="12700" cap="flat" cmpd="sng">
            <a:solidFill>
              <a:srgbClr val="FF9F1C">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88000" y="4559300"/>
            <a:ext cx="406400" cy="406400"/>
          </a:xfrm>
          <a:prstGeom prst="rect">
            <a:avLst/>
          </a:prstGeom>
        </p:spPr>
      </p:pic>
      <p:sp>
        <p:nvSpPr>
          <p:cNvPr id="15" name="AutoShape 15"/>
          <p:cNvSpPr/>
          <p:nvPr/>
        </p:nvSpPr>
        <p:spPr>
          <a:xfrm>
            <a:off x="6159500" y="4318000"/>
            <a:ext cx="508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F1C"/>
                </a:solidFill>
                <a:latin typeface="Noto Sans SC"/>
                <a:ea typeface="Noto Sans SC"/>
                <a:cs typeface="Noto Sans SC"/>
                <a:sym typeface="Noto Sans SC"/>
              </a:rPr>
              <a:t>Performance Bottleneck: High Cross-domain Overhead</a:t>
            </a:r>
            <a:endParaRPr lang="en-US" sz="1100"/>
          </a:p>
          <a:p>
            <a:pPr indent="0" algn="l">
              <a:lnSpc>
                <a:spcPct val="125000"/>
              </a:lnSpc>
            </a:pPr>
            <a:r>
              <a:rPr lang="en-US" sz="1200" b="0" i="0" u="none" strike="noStrike">
                <a:solidFill>
                  <a:srgbClr val="E5E7EB"/>
                </a:solidFill>
                <a:latin typeface="Noto Sans SC"/>
                <a:ea typeface="Noto Sans SC"/>
                <a:cs typeface="Noto Sans SC"/>
                <a:sym typeface="Noto Sans SC"/>
              </a:rPr>
              <a:t>Neglecting topology causes unnecessary cross-domain traffic, drastically increasing latency and reducing efficiency.</a:t>
            </a:r>
          </a:p>
        </p:txBody>
      </p:sp>
      <p:sp>
        <p:nvSpPr>
          <p:cNvPr id="16" name="AutoShape 16"/>
          <p:cNvSpPr/>
          <p:nvPr/>
        </p:nvSpPr>
        <p:spPr>
          <a:xfrm>
            <a:off x="762000" y="5715000"/>
            <a:ext cx="10668000" cy="25400"/>
          </a:xfrm>
          <a:prstGeom prst="roundRect">
            <a:avLst>
              <a:gd name="adj" fmla="val 0"/>
            </a:avLst>
          </a:prstGeom>
          <a:gradFill rotWithShape="1">
            <a:gsLst>
              <a:gs pos="0">
                <a:srgbClr val="41EAD4">
                  <a:alpha val="0"/>
                </a:srgbClr>
              </a:gs>
              <a:gs pos="50000">
                <a:srgbClr val="41EAD4">
                  <a:alpha val="100000"/>
                </a:srgbClr>
              </a:gs>
              <a:gs pos="100000">
                <a:srgbClr val="41EAD4">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9550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000" b="1" i="0" u="none" strike="noStrike">
                <a:solidFill>
                  <a:srgbClr val="FFFFFF"/>
                </a:solidFill>
                <a:latin typeface="Noto Sans SC"/>
                <a:ea typeface="Noto Sans SC"/>
                <a:cs typeface="Noto Sans SC"/>
                <a:sym typeface="Noto Sans SC"/>
              </a:rPr>
              <a:t>Solution: Introduction to GraphService</a:t>
            </a:r>
            <a:endParaRPr lang="en-US" sz="1100"/>
          </a:p>
        </p:txBody>
      </p:sp>
      <p:sp>
        <p:nvSpPr>
          <p:cNvPr id="5" name="AutoShape 5"/>
          <p:cNvSpPr/>
          <p:nvPr/>
        </p:nvSpPr>
        <p:spPr>
          <a:xfrm>
            <a:off x="762000" y="1397000"/>
            <a:ext cx="5588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FFFFFF">
                    <a:alpha val="90196"/>
                  </a:srgbClr>
                </a:solidFill>
                <a:latin typeface="Noto Sans SC"/>
                <a:ea typeface="Noto Sans SC"/>
                <a:cs typeface="Noto Sans SC"/>
                <a:sym typeface="Noto Sans SC"/>
              </a:rPr>
              <a:t>To solve the above problems, we propose GraphService, a flexible and efficient graph constructor. Its core ideas include two aspects:</a:t>
            </a:r>
            <a:endParaRPr lang="en-US" sz="1100"/>
          </a:p>
        </p:txBody>
      </p:sp>
      <p:sp>
        <p:nvSpPr>
          <p:cNvPr id="6" name="AutoShape 6"/>
          <p:cNvSpPr/>
          <p:nvPr/>
        </p:nvSpPr>
        <p:spPr>
          <a:xfrm>
            <a:off x="762000" y="2286000"/>
            <a:ext cx="5588000" cy="1270000"/>
          </a:xfrm>
          <a:prstGeom prst="roundRect">
            <a:avLst>
              <a:gd name="adj" fmla="val 10000"/>
            </a:avLst>
          </a:prstGeom>
          <a:solidFill>
            <a:srgbClr val="41EAD4">
              <a:alpha val="10000"/>
            </a:srgbClr>
          </a:solidFill>
          <a:ln w="12700" cap="flat" cmpd="sng">
            <a:solidFill>
              <a:srgbClr val="41EAD4">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476500"/>
            <a:ext cx="406400" cy="406400"/>
          </a:xfrm>
          <a:prstGeom prst="rect">
            <a:avLst/>
          </a:prstGeom>
        </p:spPr>
      </p:pic>
      <p:sp>
        <p:nvSpPr>
          <p:cNvPr id="8" name="AutoShape 8"/>
          <p:cNvSpPr/>
          <p:nvPr/>
        </p:nvSpPr>
        <p:spPr>
          <a:xfrm>
            <a:off x="1524000" y="2413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1EAD4"/>
                </a:solidFill>
                <a:latin typeface="Noto Sans SC"/>
                <a:ea typeface="Noto Sans SC"/>
                <a:cs typeface="Noto Sans SC"/>
                <a:sym typeface="Noto Sans SC"/>
              </a:rPr>
              <a:t>Hierarchy-aware Graph Partitioner</a:t>
            </a:r>
            <a:endParaRPr lang="en-US" sz="1100"/>
          </a:p>
        </p:txBody>
      </p:sp>
      <p:sp>
        <p:nvSpPr>
          <p:cNvPr id="9" name="AutoShape 9"/>
          <p:cNvSpPr/>
          <p:nvPr/>
        </p:nvSpPr>
        <p:spPr>
          <a:xfrm>
            <a:off x="1524000" y="2794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FFFFFF">
                    <a:alpha val="80000"/>
                  </a:srgbClr>
                </a:solidFill>
                <a:latin typeface="Noto Sans SC"/>
                <a:ea typeface="Noto Sans SC"/>
                <a:cs typeface="Noto Sans SC"/>
                <a:sym typeface="Noto Sans SC"/>
              </a:rPr>
              <a:t>Utilizes the communication topology information of the target HPC system to distribute graph data as much as possible within the same communication domain, thereby minimizing communication costs.</a:t>
            </a:r>
            <a:endParaRPr lang="en-US" sz="1100"/>
          </a:p>
        </p:txBody>
      </p:sp>
      <p:sp>
        <p:nvSpPr>
          <p:cNvPr id="10" name="AutoShape 10"/>
          <p:cNvSpPr/>
          <p:nvPr/>
        </p:nvSpPr>
        <p:spPr>
          <a:xfrm>
            <a:off x="762000" y="3746500"/>
            <a:ext cx="5588000" cy="1270000"/>
          </a:xfrm>
          <a:prstGeom prst="roundRect">
            <a:avLst>
              <a:gd name="adj" fmla="val 10000"/>
            </a:avLst>
          </a:prstGeom>
          <a:solidFill>
            <a:srgbClr val="FF9F1C">
              <a:alpha val="10000"/>
            </a:srgbClr>
          </a:solidFill>
          <a:ln w="12700" cap="flat" cmpd="sng">
            <a:solidFill>
              <a:srgbClr val="FF9F1C">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937000"/>
            <a:ext cx="406400" cy="406400"/>
          </a:xfrm>
          <a:prstGeom prst="rect">
            <a:avLst/>
          </a:prstGeom>
        </p:spPr>
      </p:pic>
      <p:sp>
        <p:nvSpPr>
          <p:cNvPr id="12" name="AutoShape 12"/>
          <p:cNvSpPr/>
          <p:nvPr/>
        </p:nvSpPr>
        <p:spPr>
          <a:xfrm>
            <a:off x="1524000" y="3873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F1C"/>
                </a:solidFill>
                <a:latin typeface="Noto Sans SC"/>
                <a:ea typeface="Noto Sans SC"/>
                <a:cs typeface="Noto Sans SC"/>
                <a:sym typeface="Noto Sans SC"/>
              </a:rPr>
              <a:t>Space-time Efficient Graph Compression</a:t>
            </a:r>
            <a:endParaRPr lang="en-US" sz="1100"/>
          </a:p>
        </p:txBody>
      </p:sp>
      <p:sp>
        <p:nvSpPr>
          <p:cNvPr id="13" name="AutoShape 13"/>
          <p:cNvSpPr/>
          <p:nvPr/>
        </p:nvSpPr>
        <p:spPr>
          <a:xfrm>
            <a:off x="1524000" y="42545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FFFFFF">
                    <a:alpha val="80000"/>
                  </a:srgbClr>
                </a:solidFill>
                <a:latin typeface="Noto Sans SC"/>
                <a:ea typeface="Noto Sans SC"/>
                <a:cs typeface="Noto Sans SC"/>
                <a:sym typeface="Noto Sans SC"/>
              </a:rPr>
              <a:t>Accelerates graph construction and reduces memory usage by identifying and grouping a large number of vertices with the same degree in the graph for batch memory access.</a:t>
            </a:r>
            <a:endParaRPr lang="en-US" sz="1100"/>
          </a:p>
        </p:txBody>
      </p:sp>
      <p:pic>
        <p:nvPicPr>
          <p:cNvPr id="14" name="Picture 14"/>
          <p:cNvPicPr>
            <a:picLocks noChangeAspect="1"/>
          </p:cNvPicPr>
          <p:nvPr/>
        </p:nvPicPr>
        <p:blipFill>
          <a:blip r:embed="rId8"/>
          <a:srcRect/>
          <a:stretch>
            <a:fillRect/>
          </a:stretch>
        </p:blipFill>
        <p:spPr>
          <a:xfrm>
            <a:off x="7620000" y="1778000"/>
            <a:ext cx="3048000" cy="3048000"/>
          </a:xfrm>
          <a:prstGeom prst="roundRect">
            <a:avLst>
              <a:gd name="adj" fmla="val 6250"/>
            </a:avLst>
          </a:prstGeom>
          <a:noFill/>
          <a:ln w="12700" cap="flat" cmpd="sng">
            <a:solidFill>
              <a:srgbClr val="FFFFFF">
                <a:alpha val="20000"/>
              </a:srgbClr>
            </a:solidFill>
            <a:prstDash val="solid"/>
            <a:round/>
          </a:ln>
          <a:effectLst>
            <a:outerShdw blurRad="254000" dist="127000" dir="5400000" algn="tl" rotWithShape="0">
              <a:srgbClr val="000000">
                <a:alpha val="50000"/>
              </a:srgbClr>
            </a:outerShdw>
          </a:effectLst>
        </p:spPr>
      </p:pic>
      <p:sp>
        <p:nvSpPr>
          <p:cNvPr id="15" name="AutoShape 15"/>
          <p:cNvSpPr/>
          <p:nvPr/>
        </p:nvSpPr>
        <p:spPr>
          <a:xfrm>
            <a:off x="7620000" y="495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alpha val="60000"/>
                  </a:srgbClr>
                </a:solidFill>
                <a:latin typeface="Noto Sans SC"/>
                <a:ea typeface="Noto Sans SC"/>
                <a:cs typeface="Noto Sans SC"/>
                <a:sym typeface="Noto Sans SC"/>
              </a:rPr>
              <a:t>GraphService Overall Architecture Diagram</a:t>
            </a:r>
            <a:endParaRPr lang="en-US" sz="1100"/>
          </a:p>
        </p:txBody>
      </p:sp>
      <p:cxnSp>
        <p:nvCxnSpPr>
          <p:cNvPr id="16" name="Connector 16"/>
          <p:cNvCxnSpPr/>
          <p:nvPr/>
        </p:nvCxnSpPr>
        <p:spPr>
          <a:xfrm rot="-4092">
            <a:off x="762004" y="1200150"/>
            <a:ext cx="10668000" cy="12700"/>
          </a:xfrm>
          <a:prstGeom prst="line">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6096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a:ea typeface="Noto Sans SC"/>
                <a:cs typeface="Noto Sans SC"/>
                <a:sym typeface="Noto Sans SC"/>
              </a:rPr>
              <a:t>Background: HPC Communication Topology</a:t>
            </a:r>
            <a:endParaRPr lang="en-US" sz="1100"/>
          </a:p>
        </p:txBody>
      </p:sp>
      <p:pic>
        <p:nvPicPr>
          <p:cNvPr id="5" name="Picture 5"/>
          <p:cNvPicPr>
            <a:picLocks noChangeAspect="1"/>
          </p:cNvPicPr>
          <p:nvPr/>
        </p:nvPicPr>
        <p:blipFill>
          <a:blip r:embed="rId4"/>
          <a:srcRect t="32" b="32"/>
          <a:stretch>
            <a:fillRect/>
          </a:stretch>
        </p:blipFill>
        <p:spPr>
          <a:xfrm>
            <a:off x="762000" y="1651000"/>
            <a:ext cx="4826000" cy="2374900"/>
          </a:xfrm>
          <a:prstGeom prst="roundRect">
            <a:avLst>
              <a:gd name="adj" fmla="val 5347"/>
            </a:avLst>
          </a:prstGeom>
          <a:noFill/>
          <a:ln w="12700" cap="flat" cmpd="sng">
            <a:solidFill>
              <a:srgbClr val="41EAD4">
                <a:alpha val="100000"/>
              </a:srgbClr>
            </a:solidFill>
            <a:prstDash val="solid"/>
            <a:round/>
          </a:ln>
          <a:effectLst>
            <a:outerShdw blurRad="127000" dist="63500" dir="2700000" algn="tl" rotWithShape="0">
              <a:srgbClr val="000000">
                <a:alpha val="50000"/>
              </a:srgbClr>
            </a:outerShdw>
          </a:effectLst>
        </p:spPr>
      </p:pic>
      <p:sp>
        <p:nvSpPr>
          <p:cNvPr id="6" name="AutoShape 6"/>
          <p:cNvSpPr/>
          <p:nvPr/>
        </p:nvSpPr>
        <p:spPr>
          <a:xfrm>
            <a:off x="762000" y="41910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alpha val="70196"/>
                  </a:srgbClr>
                </a:solidFill>
                <a:latin typeface="Noto Sans SC"/>
                <a:ea typeface="Noto Sans SC"/>
                <a:cs typeface="Noto Sans SC"/>
                <a:sym typeface="Noto Sans SC"/>
              </a:rPr>
              <a:t>Figure 1: Hierarchical Communication Topology of HPC System</a:t>
            </a:r>
            <a:endParaRPr lang="en-US" sz="1100"/>
          </a:p>
        </p:txBody>
      </p:sp>
      <p:sp>
        <p:nvSpPr>
          <p:cNvPr id="7" name="AutoShape 7"/>
          <p:cNvSpPr/>
          <p:nvPr/>
        </p:nvSpPr>
        <p:spPr>
          <a:xfrm>
            <a:off x="6604000" y="1651000"/>
            <a:ext cx="4826000" cy="889000"/>
          </a:xfrm>
          <a:prstGeom prst="roundRect">
            <a:avLst>
              <a:gd name="adj" fmla="val 14285"/>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94500" y="1892300"/>
            <a:ext cx="406400" cy="406400"/>
          </a:xfrm>
          <a:prstGeom prst="rect">
            <a:avLst/>
          </a:prstGeom>
        </p:spPr>
      </p:pic>
      <p:sp>
        <p:nvSpPr>
          <p:cNvPr id="9" name="AutoShape 9"/>
          <p:cNvSpPr/>
          <p:nvPr/>
        </p:nvSpPr>
        <p:spPr>
          <a:xfrm>
            <a:off x="7302500" y="17145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1EAD4"/>
                </a:solidFill>
                <a:latin typeface="Noto Sans SC"/>
                <a:ea typeface="Noto Sans SC"/>
                <a:cs typeface="Noto Sans SC"/>
                <a:sym typeface="Noto Sans SC"/>
              </a:rPr>
              <a:t>Hierarchical Connection Architecture</a:t>
            </a:r>
            <a:endParaRPr lang="en-US" sz="1100"/>
          </a:p>
          <a:p>
            <a:pPr indent="0" algn="l">
              <a:lnSpc>
                <a:spcPct val="125000"/>
              </a:lnSpc>
            </a:pPr>
            <a:r>
              <a:rPr lang="en-US" sz="1000" b="0" i="0" u="none" strike="noStrike">
                <a:solidFill>
                  <a:srgbClr val="E5E7EB"/>
                </a:solidFill>
                <a:latin typeface="Noto Sans SC"/>
                <a:ea typeface="Noto Sans SC"/>
                <a:cs typeface="Noto Sans SC"/>
                <a:sym typeface="Noto Sans SC"/>
              </a:rPr>
              <a:t>Large-scale HPC systems connect compute nodes through routing units (RC) to form hierarchical communication domains.</a:t>
            </a:r>
          </a:p>
        </p:txBody>
      </p:sp>
      <p:sp>
        <p:nvSpPr>
          <p:cNvPr id="10" name="AutoShape 10"/>
          <p:cNvSpPr/>
          <p:nvPr/>
        </p:nvSpPr>
        <p:spPr>
          <a:xfrm>
            <a:off x="6604000" y="2667000"/>
            <a:ext cx="4826000" cy="889000"/>
          </a:xfrm>
          <a:prstGeom prst="roundRect">
            <a:avLst>
              <a:gd name="adj" fmla="val 14285"/>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94500" y="2908300"/>
            <a:ext cx="406400" cy="406400"/>
          </a:xfrm>
          <a:prstGeom prst="rect">
            <a:avLst/>
          </a:prstGeom>
        </p:spPr>
      </p:pic>
      <p:sp>
        <p:nvSpPr>
          <p:cNvPr id="12" name="AutoShape 12"/>
          <p:cNvSpPr/>
          <p:nvPr/>
        </p:nvSpPr>
        <p:spPr>
          <a:xfrm>
            <a:off x="7302500" y="27305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1EAD4"/>
                </a:solidFill>
                <a:latin typeface="Noto Sans SC"/>
                <a:ea typeface="Noto Sans SC"/>
                <a:cs typeface="Noto Sans SC"/>
                <a:sym typeface="Noto Sans SC"/>
              </a:rPr>
              <a:t>Multi-level Domain Division</a:t>
            </a:r>
            <a:endParaRPr lang="en-US" sz="1100"/>
          </a:p>
          <a:p>
            <a:pPr indent="0" algn="l">
              <a:lnSpc>
                <a:spcPct val="125000"/>
              </a:lnSpc>
            </a:pPr>
            <a:r>
              <a:rPr lang="en-US" sz="1000" b="0" i="0" u="none" strike="noStrike">
                <a:solidFill>
                  <a:srgbClr val="E5E7EB"/>
                </a:solidFill>
                <a:latin typeface="Noto Sans SC"/>
                <a:ea typeface="Noto Sans SC"/>
                <a:cs typeface="Noto Sans SC"/>
                <a:sym typeface="Noto Sans SC"/>
              </a:rPr>
              <a:t>Communication domains are divided into different levels, such as leaf domains, level-1 domains, level-2 domains, etc.</a:t>
            </a:r>
          </a:p>
        </p:txBody>
      </p:sp>
      <p:sp>
        <p:nvSpPr>
          <p:cNvPr id="13" name="AutoShape 13"/>
          <p:cNvSpPr/>
          <p:nvPr/>
        </p:nvSpPr>
        <p:spPr>
          <a:xfrm>
            <a:off x="6604000" y="3683000"/>
            <a:ext cx="4826000" cy="889000"/>
          </a:xfrm>
          <a:prstGeom prst="roundRect">
            <a:avLst>
              <a:gd name="adj" fmla="val 14285"/>
            </a:avLst>
          </a:prstGeom>
          <a:solidFill>
            <a:srgbClr val="FFFFFF">
              <a:alpha val="5000"/>
            </a:srgbClr>
          </a:solidFill>
          <a:ln w="12700" cap="flat" cmpd="sng">
            <a:solidFill>
              <a:srgbClr val="FF9F1C">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94500" y="3924300"/>
            <a:ext cx="406400" cy="406400"/>
          </a:xfrm>
          <a:prstGeom prst="rect">
            <a:avLst/>
          </a:prstGeom>
        </p:spPr>
      </p:pic>
      <p:sp>
        <p:nvSpPr>
          <p:cNvPr id="15" name="AutoShape 15"/>
          <p:cNvSpPr/>
          <p:nvPr/>
        </p:nvSpPr>
        <p:spPr>
          <a:xfrm>
            <a:off x="7302500" y="37465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9F1C"/>
                </a:solidFill>
                <a:latin typeface="Noto Sans SC"/>
                <a:ea typeface="Noto Sans SC"/>
                <a:cs typeface="Noto Sans SC"/>
                <a:sym typeface="Noto Sans SC"/>
              </a:rPr>
              <a:t>Communication Latency</a:t>
            </a:r>
            <a:endParaRPr lang="en-US" sz="1100"/>
          </a:p>
          <a:p>
            <a:pPr indent="0" algn="l">
              <a:lnSpc>
                <a:spcPct val="125000"/>
              </a:lnSpc>
            </a:pPr>
            <a:r>
              <a:rPr lang="en-US" sz="1000" b="0" i="0" u="none" strike="noStrike">
                <a:solidFill>
                  <a:srgbClr val="E5E7EB"/>
                </a:solidFill>
                <a:latin typeface="Noto Sans SC"/>
                <a:ea typeface="Noto Sans SC"/>
                <a:cs typeface="Noto Sans SC"/>
                <a:sym typeface="Noto Sans SC"/>
              </a:rPr>
              <a:t>Communication latency between nodes within the same communication domain is much lower than cross-domain communication.</a:t>
            </a:r>
          </a:p>
        </p:txBody>
      </p:sp>
      <p:sp>
        <p:nvSpPr>
          <p:cNvPr id="16" name="AutoShape 16"/>
          <p:cNvSpPr/>
          <p:nvPr/>
        </p:nvSpPr>
        <p:spPr>
          <a:xfrm>
            <a:off x="6604000" y="4699000"/>
            <a:ext cx="4826000" cy="889000"/>
          </a:xfrm>
          <a:prstGeom prst="roundRect">
            <a:avLst>
              <a:gd name="adj" fmla="val 14285"/>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94500" y="4940300"/>
            <a:ext cx="406400" cy="406400"/>
          </a:xfrm>
          <a:prstGeom prst="rect">
            <a:avLst/>
          </a:prstGeom>
        </p:spPr>
      </p:pic>
      <p:sp>
        <p:nvSpPr>
          <p:cNvPr id="18" name="AutoShape 18"/>
          <p:cNvSpPr/>
          <p:nvPr/>
        </p:nvSpPr>
        <p:spPr>
          <a:xfrm>
            <a:off x="7302500" y="47625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41EAD4"/>
                </a:solidFill>
                <a:latin typeface="Noto Sans SC"/>
                <a:ea typeface="Noto Sans SC"/>
                <a:cs typeface="Noto Sans SC"/>
                <a:sym typeface="Noto Sans SC"/>
              </a:rPr>
              <a:t>Core Optimization Goal</a:t>
            </a:r>
            <a:endParaRPr lang="en-US" sz="1100"/>
          </a:p>
          <a:p>
            <a:pPr indent="0" algn="l">
              <a:lnSpc>
                <a:spcPct val="125000"/>
              </a:lnSpc>
            </a:pPr>
            <a:r>
              <a:rPr lang="en-US" sz="1000" b="0" i="0" u="none" strike="noStrike">
                <a:solidFill>
                  <a:srgbClr val="E5E7EB"/>
                </a:solidFill>
                <a:latin typeface="Noto Sans SC"/>
                <a:ea typeface="Noto Sans SC"/>
                <a:cs typeface="Noto Sans SC"/>
                <a:sym typeface="Noto Sans SC"/>
              </a:rPr>
              <a:t>The optimization goal is to place related graph data within the same communication domain to minimize communication overhead.</a:t>
            </a:r>
          </a:p>
        </p:txBody>
      </p:sp>
      <p:sp>
        <p:nvSpPr>
          <p:cNvPr id="19" name="AutoShape 19"/>
          <p:cNvSpPr/>
          <p:nvPr/>
        </p:nvSpPr>
        <p:spPr>
          <a:xfrm>
            <a:off x="762000" y="5969000"/>
            <a:ext cx="10668000" cy="25400"/>
          </a:xfrm>
          <a:prstGeom prst="roundRect">
            <a:avLst>
              <a:gd name="adj" fmla="val 0"/>
            </a:avLst>
          </a:prstGeom>
          <a:gradFill rotWithShape="1">
            <a:gsLst>
              <a:gs pos="0">
                <a:srgbClr val="41EAD4">
                  <a:alpha val="0"/>
                </a:srgbClr>
              </a:gs>
              <a:gs pos="50000">
                <a:srgbClr val="41EAD4">
                  <a:alpha val="100000"/>
                </a:srgbClr>
              </a:gs>
              <a:gs pos="100000">
                <a:srgbClr val="41EAD4">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6045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a:ea typeface="Noto Sans SC"/>
                <a:cs typeface="Noto Sans SC"/>
                <a:sym typeface="Noto Sans SC"/>
              </a:rPr>
              <a:t>Background: CSR and Graph Distribution</a:t>
            </a:r>
            <a:endParaRPr lang="en-US" sz="1100"/>
          </a:p>
        </p:txBody>
      </p:sp>
      <p:pic>
        <p:nvPicPr>
          <p:cNvPr id="5" name="Picture 5"/>
          <p:cNvPicPr>
            <a:picLocks noChangeAspect="1"/>
          </p:cNvPicPr>
          <p:nvPr/>
        </p:nvPicPr>
        <p:blipFill>
          <a:blip r:embed="rId4"/>
          <a:srcRect t="155" b="155"/>
          <a:stretch>
            <a:fillRect/>
          </a:stretch>
        </p:blipFill>
        <p:spPr>
          <a:xfrm>
            <a:off x="762000" y="1778000"/>
            <a:ext cx="4318000" cy="1841500"/>
          </a:xfrm>
          <a:prstGeom prst="roundRect">
            <a:avLst>
              <a:gd name="adj" fmla="val 6896"/>
            </a:avLst>
          </a:prstGeom>
          <a:noFill/>
          <a:ln w="12700" cap="flat" cmpd="sng">
            <a:solidFill>
              <a:srgbClr val="41EAD4">
                <a:alpha val="30000"/>
              </a:srgbClr>
            </a:solidFill>
            <a:prstDash val="solid"/>
            <a:round/>
          </a:ln>
          <a:effectLst>
            <a:outerShdw blurRad="127000" dist="63500" dir="2700000" algn="tl" rotWithShape="0">
              <a:srgbClr val="000000">
                <a:alpha val="50000"/>
              </a:srgbClr>
            </a:outerShdw>
          </a:effectLst>
        </p:spPr>
      </p:pic>
      <p:sp>
        <p:nvSpPr>
          <p:cNvPr id="6" name="AutoShape 6"/>
          <p:cNvSpPr/>
          <p:nvPr/>
        </p:nvSpPr>
        <p:spPr>
          <a:xfrm>
            <a:off x="762000" y="3746500"/>
            <a:ext cx="431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70196"/>
                  </a:srgbClr>
                </a:solidFill>
                <a:latin typeface="Noto Sans SC"/>
                <a:ea typeface="Noto Sans SC"/>
                <a:cs typeface="Noto Sans SC"/>
                <a:sym typeface="Noto Sans SC"/>
              </a:rPr>
              <a:t>CSR (Compressed Sparse Row) storage format for sparse matrices</a:t>
            </a:r>
            <a:endParaRPr lang="en-US" sz="1100"/>
          </a:p>
        </p:txBody>
      </p:sp>
      <p:sp>
        <p:nvSpPr>
          <p:cNvPr id="7" name="AutoShape 7"/>
          <p:cNvSpPr/>
          <p:nvPr/>
        </p:nvSpPr>
        <p:spPr>
          <a:xfrm>
            <a:off x="5842000" y="1524000"/>
            <a:ext cx="5588000" cy="1143000"/>
          </a:xfrm>
          <a:prstGeom prst="roundRect">
            <a:avLst>
              <a:gd name="adj" fmla="val 11111"/>
            </a:avLst>
          </a:prstGeom>
          <a:solidFill>
            <a:srgbClr val="FFFFFF">
              <a:alpha val="5000"/>
            </a:srgbClr>
          </a:solidFill>
          <a:ln w="12700" cap="flat" cmpd="sng">
            <a:solidFill>
              <a:srgbClr val="41EAD4">
                <a:alpha val="2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32500" y="1714500"/>
            <a:ext cx="406400" cy="406400"/>
          </a:xfrm>
          <a:prstGeom prst="rect">
            <a:avLst/>
          </a:prstGeom>
        </p:spPr>
      </p:pic>
      <p:sp>
        <p:nvSpPr>
          <p:cNvPr id="9" name="AutoShape 9"/>
          <p:cNvSpPr/>
          <p:nvPr/>
        </p:nvSpPr>
        <p:spPr>
          <a:xfrm>
            <a:off x="6540500" y="1676400"/>
            <a:ext cx="482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1EAD4"/>
                </a:solidFill>
                <a:latin typeface="Noto Sans SC"/>
                <a:ea typeface="Noto Sans SC"/>
                <a:cs typeface="Noto Sans SC"/>
                <a:sym typeface="Noto Sans SC"/>
              </a:rPr>
              <a:t>CSR Storage Standard</a:t>
            </a:r>
            <a:endParaRPr lang="en-US" sz="1100"/>
          </a:p>
        </p:txBody>
      </p:sp>
      <p:sp>
        <p:nvSpPr>
          <p:cNvPr id="10" name="AutoShape 10"/>
          <p:cNvSpPr/>
          <p:nvPr/>
        </p:nvSpPr>
        <p:spPr>
          <a:xfrm>
            <a:off x="6540500" y="20320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6E6E6"/>
                </a:solidFill>
                <a:latin typeface="Noto Sans SC"/>
                <a:ea typeface="Noto Sans SC"/>
                <a:cs typeface="Noto Sans SC"/>
                <a:sym typeface="Noto Sans SC"/>
              </a:rPr>
              <a:t>CSR is a standard format for storing sparse graph data, representing the graph through three arrays (val, col_idx, row_ptr).</a:t>
            </a:r>
            <a:endParaRPr lang="en-US" sz="1100"/>
          </a:p>
        </p:txBody>
      </p:sp>
      <p:sp>
        <p:nvSpPr>
          <p:cNvPr id="11" name="AutoShape 11"/>
          <p:cNvSpPr/>
          <p:nvPr/>
        </p:nvSpPr>
        <p:spPr>
          <a:xfrm>
            <a:off x="5842000" y="2857500"/>
            <a:ext cx="5588000" cy="1143000"/>
          </a:xfrm>
          <a:prstGeom prst="roundRect">
            <a:avLst>
              <a:gd name="adj" fmla="val 11111"/>
            </a:avLst>
          </a:prstGeom>
          <a:solidFill>
            <a:srgbClr val="FFFFFF">
              <a:alpha val="5000"/>
            </a:srgbClr>
          </a:solidFill>
          <a:ln w="12700" cap="flat" cmpd="sng">
            <a:solidFill>
              <a:srgbClr val="FF9F1C">
                <a:alpha val="2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32500" y="3048000"/>
            <a:ext cx="406400" cy="406400"/>
          </a:xfrm>
          <a:prstGeom prst="rect">
            <a:avLst/>
          </a:prstGeom>
        </p:spPr>
      </p:pic>
      <p:sp>
        <p:nvSpPr>
          <p:cNvPr id="13" name="AutoShape 13"/>
          <p:cNvSpPr/>
          <p:nvPr/>
        </p:nvSpPr>
        <p:spPr>
          <a:xfrm>
            <a:off x="6540500" y="3009900"/>
            <a:ext cx="482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F1C"/>
                </a:solidFill>
                <a:latin typeface="Noto Sans SC"/>
                <a:ea typeface="Noto Sans SC"/>
                <a:cs typeface="Noto Sans SC"/>
                <a:sym typeface="Noto Sans SC"/>
              </a:rPr>
              <a:t>Distributed Graph Partitioning</a:t>
            </a:r>
            <a:endParaRPr lang="en-US" sz="1100"/>
          </a:p>
        </p:txBody>
      </p:sp>
      <p:sp>
        <p:nvSpPr>
          <p:cNvPr id="14" name="AutoShape 14"/>
          <p:cNvSpPr/>
          <p:nvPr/>
        </p:nvSpPr>
        <p:spPr>
          <a:xfrm>
            <a:off x="6540500" y="33655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6E6E6"/>
                </a:solidFill>
                <a:latin typeface="Noto Sans SC"/>
                <a:ea typeface="Noto Sans SC"/>
                <a:cs typeface="Noto Sans SC"/>
                <a:sym typeface="Noto Sans SC"/>
              </a:rPr>
              <a:t>In distributed graph processing, vertices and edges are distributed to different compute nodes.</a:t>
            </a:r>
            <a:endParaRPr lang="en-US" sz="1100"/>
          </a:p>
        </p:txBody>
      </p:sp>
      <p:sp>
        <p:nvSpPr>
          <p:cNvPr id="15" name="AutoShape 15"/>
          <p:cNvSpPr/>
          <p:nvPr/>
        </p:nvSpPr>
        <p:spPr>
          <a:xfrm>
            <a:off x="5842000" y="4191000"/>
            <a:ext cx="5588000" cy="1143000"/>
          </a:xfrm>
          <a:prstGeom prst="roundRect">
            <a:avLst>
              <a:gd name="adj" fmla="val 11111"/>
            </a:avLst>
          </a:prstGeom>
          <a:solidFill>
            <a:srgbClr val="FFFFFF">
              <a:alpha val="5000"/>
            </a:srgbClr>
          </a:solidFill>
          <a:ln w="12700" cap="flat" cmpd="sng">
            <a:solidFill>
              <a:srgbClr val="41EAD4">
                <a:alpha val="2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32500" y="4381500"/>
            <a:ext cx="406400" cy="406400"/>
          </a:xfrm>
          <a:prstGeom prst="rect">
            <a:avLst/>
          </a:prstGeom>
        </p:spPr>
      </p:pic>
      <p:sp>
        <p:nvSpPr>
          <p:cNvPr id="17" name="AutoShape 17"/>
          <p:cNvSpPr/>
          <p:nvPr/>
        </p:nvSpPr>
        <p:spPr>
          <a:xfrm>
            <a:off x="6540500" y="4343400"/>
            <a:ext cx="482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1EAD4"/>
                </a:solidFill>
                <a:latin typeface="Noto Sans SC"/>
                <a:ea typeface="Noto Sans SC"/>
                <a:cs typeface="Noto Sans SC"/>
                <a:sym typeface="Noto Sans SC"/>
              </a:rPr>
              <a:t>Key Performance Factors</a:t>
            </a:r>
            <a:endParaRPr lang="en-US" sz="1100"/>
          </a:p>
        </p:txBody>
      </p:sp>
      <p:sp>
        <p:nvSpPr>
          <p:cNvPr id="18" name="AutoShape 18"/>
          <p:cNvSpPr/>
          <p:nvPr/>
        </p:nvSpPr>
        <p:spPr>
          <a:xfrm>
            <a:off x="6540500" y="4699000"/>
            <a:ext cx="4826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6E6E6"/>
                </a:solidFill>
                <a:latin typeface="Noto Sans SC"/>
                <a:ea typeface="Noto Sans SC"/>
                <a:cs typeface="Noto Sans SC"/>
                <a:sym typeface="Noto Sans SC"/>
              </a:rPr>
              <a:t>Partitioning strategy determines communication patterns and efficiency, a critical step in distributed processing.</a:t>
            </a:r>
            <a:endParaRPr lang="en-US" sz="1100"/>
          </a:p>
        </p:txBody>
      </p:sp>
      <p:sp>
        <p:nvSpPr>
          <p:cNvPr id="19" name="AutoShape 19"/>
          <p:cNvSpPr/>
          <p:nvPr/>
        </p:nvSpPr>
        <p:spPr>
          <a:xfrm>
            <a:off x="762000" y="5715000"/>
            <a:ext cx="10668000" cy="25400"/>
          </a:xfrm>
          <a:prstGeom prst="roundRect">
            <a:avLst>
              <a:gd name="adj" fmla="val 0"/>
            </a:avLst>
          </a:prstGeom>
          <a:gradFill rotWithShape="1">
            <a:gsLst>
              <a:gs pos="0">
                <a:srgbClr val="41EAD4">
                  <a:alpha val="0"/>
                </a:srgbClr>
              </a:gs>
              <a:gs pos="50000">
                <a:srgbClr val="41EAD4">
                  <a:alpha val="100000"/>
                </a:srgbClr>
              </a:gs>
              <a:gs pos="100000">
                <a:srgbClr val="41EAD4">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5438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a:ea typeface="Noto Sans SC"/>
                <a:cs typeface="Noto Sans SC"/>
                <a:sym typeface="Noto Sans SC"/>
              </a:rPr>
              <a:t>Core Design 1: Hierarchy-aware Graph Partitioner</a:t>
            </a:r>
            <a:endParaRPr lang="en-US" sz="1100"/>
          </a:p>
        </p:txBody>
      </p:sp>
      <p:sp>
        <p:nvSpPr>
          <p:cNvPr id="5" name="AutoShape 5"/>
          <p:cNvSpPr/>
          <p:nvPr/>
        </p:nvSpPr>
        <p:spPr>
          <a:xfrm>
            <a:off x="762000" y="1397000"/>
            <a:ext cx="6096000" cy="1143000"/>
          </a:xfrm>
          <a:prstGeom prst="roundRect">
            <a:avLst>
              <a:gd name="adj" fmla="val 11111"/>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406400" cy="406400"/>
          </a:xfrm>
          <a:prstGeom prst="rect">
            <a:avLst/>
          </a:prstGeom>
        </p:spPr>
      </p:pic>
      <p:sp>
        <p:nvSpPr>
          <p:cNvPr id="7" name="AutoShape 7"/>
          <p:cNvSpPr/>
          <p:nvPr/>
        </p:nvSpPr>
        <p:spPr>
          <a:xfrm>
            <a:off x="1524000" y="15494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1EAD4"/>
                </a:solidFill>
                <a:latin typeface="Noto Sans SC"/>
                <a:ea typeface="Noto Sans SC"/>
                <a:cs typeface="Noto Sans SC"/>
                <a:sym typeface="Noto Sans SC"/>
              </a:rPr>
              <a:t>Design Philosophy</a:t>
            </a:r>
            <a:endParaRPr lang="en-US" sz="1100"/>
          </a:p>
        </p:txBody>
      </p:sp>
      <p:sp>
        <p:nvSpPr>
          <p:cNvPr id="8" name="AutoShape 8"/>
          <p:cNvSpPr/>
          <p:nvPr/>
        </p:nvSpPr>
        <p:spPr>
          <a:xfrm>
            <a:off x="1524000" y="1905000"/>
            <a:ext cx="4953000" cy="609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Allocate vertices and edges of the graph as much as possible within the same communication domain to reduce cross-domain communication.</a:t>
            </a:r>
            <a:endParaRPr lang="en-US" sz="1100"/>
          </a:p>
        </p:txBody>
      </p:sp>
      <p:sp>
        <p:nvSpPr>
          <p:cNvPr id="9" name="AutoShape 9"/>
          <p:cNvSpPr/>
          <p:nvPr/>
        </p:nvSpPr>
        <p:spPr>
          <a:xfrm>
            <a:off x="762000" y="2730500"/>
            <a:ext cx="6096000" cy="1143000"/>
          </a:xfrm>
          <a:prstGeom prst="roundRect">
            <a:avLst>
              <a:gd name="adj" fmla="val 11111"/>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2921000"/>
            <a:ext cx="406400" cy="406400"/>
          </a:xfrm>
          <a:prstGeom prst="rect">
            <a:avLst/>
          </a:prstGeom>
        </p:spPr>
      </p:pic>
      <p:sp>
        <p:nvSpPr>
          <p:cNvPr id="11" name="AutoShape 11"/>
          <p:cNvSpPr/>
          <p:nvPr/>
        </p:nvSpPr>
        <p:spPr>
          <a:xfrm>
            <a:off x="1524000" y="28829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1EAD4"/>
                </a:solidFill>
                <a:latin typeface="Noto Sans SC"/>
                <a:ea typeface="Noto Sans SC"/>
                <a:cs typeface="Noto Sans SC"/>
                <a:sym typeface="Noto Sans SC"/>
              </a:rPr>
              <a:t>Specific Strategy</a:t>
            </a:r>
            <a:endParaRPr lang="en-US" sz="1100"/>
          </a:p>
        </p:txBody>
      </p:sp>
      <p:sp>
        <p:nvSpPr>
          <p:cNvPr id="12" name="AutoShape 12"/>
          <p:cNvSpPr/>
          <p:nvPr/>
        </p:nvSpPr>
        <p:spPr>
          <a:xfrm>
            <a:off x="1524000" y="3238500"/>
            <a:ext cx="4953000" cy="609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Uses HPC system's communication topology to guide partitioning, aligning results with hardware hierarchy.</a:t>
            </a:r>
            <a:endParaRPr lang="en-US" sz="1100"/>
          </a:p>
        </p:txBody>
      </p:sp>
      <p:sp>
        <p:nvSpPr>
          <p:cNvPr id="13" name="AutoShape 13"/>
          <p:cNvSpPr/>
          <p:nvPr/>
        </p:nvSpPr>
        <p:spPr>
          <a:xfrm>
            <a:off x="762000" y="4064000"/>
            <a:ext cx="6096000" cy="1143000"/>
          </a:xfrm>
          <a:prstGeom prst="roundRect">
            <a:avLst>
              <a:gd name="adj" fmla="val 11111"/>
            </a:avLst>
          </a:prstGeom>
          <a:solidFill>
            <a:srgbClr val="FFFFFF">
              <a:alpha val="5000"/>
            </a:srgbClr>
          </a:solidFill>
          <a:ln w="12700" cap="flat" cmpd="sng">
            <a:solidFill>
              <a:srgbClr val="FF9F1C">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254500"/>
            <a:ext cx="406400" cy="406400"/>
          </a:xfrm>
          <a:prstGeom prst="rect">
            <a:avLst/>
          </a:prstGeom>
        </p:spPr>
      </p:pic>
      <p:sp>
        <p:nvSpPr>
          <p:cNvPr id="15" name="AutoShape 15"/>
          <p:cNvSpPr/>
          <p:nvPr/>
        </p:nvSpPr>
        <p:spPr>
          <a:xfrm>
            <a:off x="1524000" y="42164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F1C"/>
                </a:solidFill>
                <a:latin typeface="Noto Sans SC"/>
                <a:ea typeface="Noto Sans SC"/>
                <a:cs typeface="Noto Sans SC"/>
                <a:sym typeface="Noto Sans SC"/>
              </a:rPr>
              <a:t>Core Advantage</a:t>
            </a:r>
            <a:endParaRPr lang="en-US" sz="1100"/>
          </a:p>
        </p:txBody>
      </p:sp>
      <p:sp>
        <p:nvSpPr>
          <p:cNvPr id="16" name="AutoShape 16"/>
          <p:cNvSpPr/>
          <p:nvPr/>
        </p:nvSpPr>
        <p:spPr>
          <a:xfrm>
            <a:off x="1524000" y="4572000"/>
            <a:ext cx="4953000" cy="609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Reduces communication cost and time by minimizing expensive cross-domain communication.</a:t>
            </a:r>
            <a:endParaRPr lang="en-US" sz="1100"/>
          </a:p>
        </p:txBody>
      </p:sp>
      <p:sp>
        <p:nvSpPr>
          <p:cNvPr id="17" name="AutoShape 17"/>
          <p:cNvSpPr/>
          <p:nvPr/>
        </p:nvSpPr>
        <p:spPr>
          <a:xfrm>
            <a:off x="7874000" y="1524000"/>
            <a:ext cx="3302000" cy="3302000"/>
          </a:xfrm>
          <a:prstGeom prst="roundRect">
            <a:avLst>
              <a:gd name="adj" fmla="val 3846"/>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srcRect/>
          <a:stretch>
            <a:fillRect/>
          </a:stretch>
        </p:blipFill>
        <p:spPr>
          <a:xfrm>
            <a:off x="8001000" y="1651000"/>
            <a:ext cx="3048000" cy="3048000"/>
          </a:xfrm>
          <a:prstGeom prst="roundRect">
            <a:avLst>
              <a:gd name="adj" fmla="val 4166"/>
            </a:avLst>
          </a:prstGeom>
          <a:noFill/>
          <a:ln w="25400" cap="flat" cmpd="sng">
            <a:noFill/>
            <a:prstDash val="solid"/>
            <a:round/>
          </a:ln>
        </p:spPr>
      </p:pic>
      <p:sp>
        <p:nvSpPr>
          <p:cNvPr id="19" name="AutoShape 19"/>
          <p:cNvSpPr/>
          <p:nvPr/>
        </p:nvSpPr>
        <p:spPr>
          <a:xfrm>
            <a:off x="7874000" y="4953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9CA3AF"/>
                </a:solidFill>
                <a:latin typeface="Noto Sans SC"/>
                <a:ea typeface="Noto Sans SC"/>
                <a:cs typeface="Noto Sans SC"/>
                <a:sym typeface="Noto Sans SC"/>
              </a:rPr>
              <a:t>Fig: Hierarchy-aware vs Traditional Strategy</a:t>
            </a:r>
            <a:endParaRPr lang="en-US" sz="1100"/>
          </a:p>
        </p:txBody>
      </p:sp>
      <p:sp>
        <p:nvSpPr>
          <p:cNvPr id="20" name="AutoShape 20"/>
          <p:cNvSpPr/>
          <p:nvPr/>
        </p:nvSpPr>
        <p:spPr>
          <a:xfrm>
            <a:off x="762000" y="5715000"/>
            <a:ext cx="10668000" cy="25400"/>
          </a:xfrm>
          <a:prstGeom prst="roundRect">
            <a:avLst>
              <a:gd name="adj" fmla="val 0"/>
            </a:avLst>
          </a:prstGeom>
          <a:gradFill rotWithShape="1">
            <a:gsLst>
              <a:gs pos="0">
                <a:srgbClr val="41EAD4">
                  <a:alpha val="100000"/>
                </a:srgbClr>
              </a:gs>
              <a:gs pos="100000">
                <a:srgbClr val="41EAD4">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48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600" b="1" i="0" u="none" strike="noStrike">
                <a:solidFill>
                  <a:srgbClr val="FFFFFF"/>
                </a:solidFill>
                <a:latin typeface="Noto Sans SC"/>
                <a:ea typeface="Noto Sans SC"/>
                <a:cs typeface="Noto Sans SC"/>
                <a:sym typeface="Noto Sans SC"/>
              </a:rPr>
              <a:t>Core Design 2: Space-time Efficient Graph Compression</a:t>
            </a:r>
            <a:endParaRPr lang="en-US" sz="1100"/>
          </a:p>
        </p:txBody>
      </p:sp>
      <p:sp>
        <p:nvSpPr>
          <p:cNvPr id="5" name="AutoShape 5"/>
          <p:cNvSpPr/>
          <p:nvPr/>
        </p:nvSpPr>
        <p:spPr>
          <a:xfrm>
            <a:off x="762000" y="1524000"/>
            <a:ext cx="5334000" cy="1143000"/>
          </a:xfrm>
          <a:prstGeom prst="roundRect">
            <a:avLst>
              <a:gd name="adj" fmla="val 11111"/>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892300"/>
            <a:ext cx="406400" cy="406400"/>
          </a:xfrm>
          <a:prstGeom prst="rect">
            <a:avLst/>
          </a:prstGeom>
        </p:spPr>
      </p:pic>
      <p:sp>
        <p:nvSpPr>
          <p:cNvPr id="7" name="AutoShape 7"/>
          <p:cNvSpPr/>
          <p:nvPr/>
        </p:nvSpPr>
        <p:spPr>
          <a:xfrm>
            <a:off x="1587500" y="1651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1EAD4"/>
                </a:solidFill>
                <a:latin typeface="Noto Sans SC"/>
                <a:ea typeface="Noto Sans SC"/>
                <a:cs typeface="Noto Sans SC"/>
                <a:sym typeface="Noto Sans SC"/>
              </a:rPr>
              <a:t>Key Observation</a:t>
            </a:r>
            <a:endParaRPr lang="en-US" sz="1100"/>
          </a:p>
        </p:txBody>
      </p:sp>
      <p:sp>
        <p:nvSpPr>
          <p:cNvPr id="8" name="AutoShape 8"/>
          <p:cNvSpPr/>
          <p:nvPr/>
        </p:nvSpPr>
        <p:spPr>
          <a:xfrm>
            <a:off x="1587500" y="2032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5E7EB"/>
                </a:solidFill>
                <a:latin typeface="Noto Sans SC"/>
                <a:ea typeface="Noto Sans SC"/>
                <a:cs typeface="Noto Sans SC"/>
                <a:sym typeface="Noto Sans SC"/>
              </a:rPr>
              <a:t>In real-world graphs, there are a large number of vertices with the same degree.</a:t>
            </a:r>
            <a:endParaRPr lang="en-US" sz="1100"/>
          </a:p>
        </p:txBody>
      </p:sp>
      <p:sp>
        <p:nvSpPr>
          <p:cNvPr id="9" name="AutoShape 9"/>
          <p:cNvSpPr/>
          <p:nvPr/>
        </p:nvSpPr>
        <p:spPr>
          <a:xfrm>
            <a:off x="762000" y="2857500"/>
            <a:ext cx="5334000" cy="1143000"/>
          </a:xfrm>
          <a:prstGeom prst="roundRect">
            <a:avLst>
              <a:gd name="adj" fmla="val 11111"/>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225800"/>
            <a:ext cx="406400" cy="406400"/>
          </a:xfrm>
          <a:prstGeom prst="rect">
            <a:avLst/>
          </a:prstGeom>
        </p:spPr>
      </p:pic>
      <p:sp>
        <p:nvSpPr>
          <p:cNvPr id="11" name="AutoShape 11"/>
          <p:cNvSpPr/>
          <p:nvPr/>
        </p:nvSpPr>
        <p:spPr>
          <a:xfrm>
            <a:off x="1587500" y="29845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1EAD4"/>
                </a:solidFill>
                <a:latin typeface="Noto Sans SC"/>
                <a:ea typeface="Noto Sans SC"/>
                <a:cs typeface="Noto Sans SC"/>
                <a:sym typeface="Noto Sans SC"/>
              </a:rPr>
              <a:t>Compression Method</a:t>
            </a:r>
            <a:endParaRPr lang="en-US" sz="1100"/>
          </a:p>
        </p:txBody>
      </p:sp>
      <p:sp>
        <p:nvSpPr>
          <p:cNvPr id="12" name="AutoShape 12"/>
          <p:cNvSpPr/>
          <p:nvPr/>
        </p:nvSpPr>
        <p:spPr>
          <a:xfrm>
            <a:off x="1587500" y="3365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E5E7EB"/>
                </a:solidFill>
                <a:latin typeface="Noto Sans SC"/>
                <a:ea typeface="Noto Sans SC"/>
                <a:cs typeface="Noto Sans SC"/>
                <a:sym typeface="Noto Sans SC"/>
              </a:rPr>
              <a:t>Groups vertices with the same degree for storage/indexing, avoiding duplicate structural metadata.</a:t>
            </a:r>
            <a:endParaRPr lang="en-US" sz="1100"/>
          </a:p>
        </p:txBody>
      </p:sp>
      <p:sp>
        <p:nvSpPr>
          <p:cNvPr id="13" name="AutoShape 13"/>
          <p:cNvSpPr/>
          <p:nvPr/>
        </p:nvSpPr>
        <p:spPr>
          <a:xfrm>
            <a:off x="762000" y="4191000"/>
            <a:ext cx="5334000" cy="1397000"/>
          </a:xfrm>
          <a:prstGeom prst="roundRect">
            <a:avLst>
              <a:gd name="adj" fmla="val 9090"/>
            </a:avLst>
          </a:prstGeom>
          <a:solidFill>
            <a:srgbClr val="FFFFFF">
              <a:alpha val="5000"/>
            </a:srgbClr>
          </a:solidFill>
          <a:ln w="12700" cap="flat" cmpd="sng">
            <a:solidFill>
              <a:srgbClr val="FF9F1C">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686300"/>
            <a:ext cx="406400" cy="406400"/>
          </a:xfrm>
          <a:prstGeom prst="rect">
            <a:avLst/>
          </a:prstGeom>
        </p:spPr>
      </p:pic>
      <p:sp>
        <p:nvSpPr>
          <p:cNvPr id="15" name="AutoShape 15"/>
          <p:cNvSpPr/>
          <p:nvPr/>
        </p:nvSpPr>
        <p:spPr>
          <a:xfrm>
            <a:off x="1587500" y="4318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9F1C"/>
                </a:solidFill>
                <a:latin typeface="Noto Sans SC"/>
                <a:ea typeface="Noto Sans SC"/>
                <a:cs typeface="Noto Sans SC"/>
                <a:sym typeface="Noto Sans SC"/>
              </a:rPr>
              <a:t>Dual Advantages</a:t>
            </a:r>
            <a:endParaRPr lang="en-US" sz="1100"/>
          </a:p>
        </p:txBody>
      </p:sp>
      <p:sp>
        <p:nvSpPr>
          <p:cNvPr id="16" name="AutoShape 16"/>
          <p:cNvSpPr/>
          <p:nvPr/>
        </p:nvSpPr>
        <p:spPr>
          <a:xfrm>
            <a:off x="1587500" y="4699000"/>
            <a:ext cx="4318000" cy="762000"/>
          </a:xfrm>
          <a:prstGeom prst="rect">
            <a:avLst/>
          </a:prstGeom>
          <a:noFill/>
          <a:ln w="12700" cap="flat" cmpd="sng">
            <a:noFill/>
            <a:prstDash val="solid"/>
            <a:round/>
          </a:ln>
        </p:spPr>
        <p:txBody>
          <a:bodyPr vert="horz" wrap="square" lIns="0" tIns="0" rIns="0" bIns="0" rtlCol="0" anchor="ctr" anchorCtr="0"/>
          <a:lstStyle/>
          <a:p>
            <a:pPr marL="152400" indent="-152400" algn="l">
              <a:lnSpc>
                <a:spcPct val="125000"/>
              </a:lnSpc>
              <a:buClr>
                <a:srgbClr val="E5E7EB"/>
              </a:buClr>
              <a:buChar char="•"/>
              <a:defRPr/>
            </a:pPr>
            <a:r>
              <a:rPr lang="en-US" sz="1200" b="1" i="0" u="none" strike="noStrike">
                <a:solidFill>
                  <a:srgbClr val="E5E7EB"/>
                </a:solidFill>
                <a:latin typeface="Noto Sans SC"/>
                <a:ea typeface="Noto Sans SC"/>
                <a:cs typeface="Noto Sans SC"/>
                <a:sym typeface="Noto Sans SC"/>
              </a:rPr>
              <a:t>Time Efficiency:</a:t>
            </a:r>
            <a:r>
              <a:rPr lang="en-US" sz="1200" b="0" i="0" u="none" strike="noStrike">
                <a:solidFill>
                  <a:srgbClr val="E5E7EB"/>
                </a:solidFill>
                <a:latin typeface="Noto Sans SC"/>
                <a:ea typeface="Noto Sans SC"/>
                <a:cs typeface="Noto Sans SC"/>
                <a:sym typeface="Noto Sans SC"/>
              </a:rPr>
              <a:t>Batch memory access accelerates graph construction.</a:t>
            </a:r>
            <a:endParaRPr lang="en-US" sz="1100"/>
          </a:p>
          <a:p>
            <a:pPr marL="152400" indent="-152400" algn="l">
              <a:lnSpc>
                <a:spcPct val="125000"/>
              </a:lnSpc>
              <a:buClr>
                <a:srgbClr val="E5E7EB"/>
              </a:buClr>
              <a:buChar char="•"/>
            </a:pPr>
            <a:r>
              <a:rPr lang="en-US" sz="1200" b="1" i="0" u="none" strike="noStrike">
                <a:solidFill>
                  <a:srgbClr val="E5E7EB"/>
                </a:solidFill>
                <a:latin typeface="Noto Sans SC"/>
                <a:ea typeface="Noto Sans SC"/>
                <a:cs typeface="Noto Sans SC"/>
                <a:sym typeface="Noto Sans SC"/>
              </a:rPr>
              <a:t>Space Efficiency:</a:t>
            </a:r>
            <a:r>
              <a:rPr lang="en-US" sz="1200" b="0" i="0" u="none" strike="noStrike">
                <a:solidFill>
                  <a:srgbClr val="E5E7EB"/>
                </a:solidFill>
                <a:latin typeface="Noto Sans SC"/>
                <a:ea typeface="Noto Sans SC"/>
                <a:cs typeface="Noto Sans SC"/>
                <a:sym typeface="Noto Sans SC"/>
              </a:rPr>
              <a:t>Reduces redundant storage &amp; memory usage.</a:t>
            </a:r>
          </a:p>
        </p:txBody>
      </p:sp>
      <p:sp>
        <p:nvSpPr>
          <p:cNvPr id="17" name="AutoShape 17"/>
          <p:cNvSpPr/>
          <p:nvPr/>
        </p:nvSpPr>
        <p:spPr>
          <a:xfrm>
            <a:off x="7620000" y="1651000"/>
            <a:ext cx="3302000" cy="3302000"/>
          </a:xfrm>
          <a:prstGeom prst="roundRect">
            <a:avLst>
              <a:gd name="adj" fmla="val 3846"/>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srcRect/>
          <a:stretch>
            <a:fillRect/>
          </a:stretch>
        </p:blipFill>
        <p:spPr>
          <a:xfrm>
            <a:off x="7747000" y="1778000"/>
            <a:ext cx="3048000" cy="3048000"/>
          </a:xfrm>
          <a:prstGeom prst="roundRect">
            <a:avLst>
              <a:gd name="adj" fmla="val 4166"/>
            </a:avLst>
          </a:prstGeom>
          <a:noFill/>
          <a:ln w="25400" cap="flat" cmpd="sng">
            <a:noFill/>
            <a:prstDash val="solid"/>
            <a:round/>
          </a:ln>
        </p:spPr>
      </p:pic>
      <p:sp>
        <p:nvSpPr>
          <p:cNvPr id="19" name="AutoShape 19"/>
          <p:cNvSpPr/>
          <p:nvPr/>
        </p:nvSpPr>
        <p:spPr>
          <a:xfrm>
            <a:off x="7620000" y="5080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9CA3AF"/>
                </a:solidFill>
                <a:latin typeface="Noto Sans SC"/>
                <a:ea typeface="Noto Sans SC"/>
                <a:cs typeface="Noto Sans SC"/>
                <a:sym typeface="Noto Sans SC"/>
              </a:rPr>
              <a:t>Fig: Grouped Compression of Same-degree Vertices</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485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a:ea typeface="Noto Sans SC"/>
                <a:cs typeface="Noto Sans SC"/>
                <a:sym typeface="Noto Sans SC"/>
              </a:rPr>
              <a:t>Experimental Setup: Testbed &amp; Datasets</a:t>
            </a:r>
            <a:endParaRPr lang="en-US" sz="1100"/>
          </a:p>
        </p:txBody>
      </p:sp>
      <p:sp>
        <p:nvSpPr>
          <p:cNvPr id="5" name="AutoShape 5"/>
          <p:cNvSpPr/>
          <p:nvPr/>
        </p:nvSpPr>
        <p:spPr>
          <a:xfrm>
            <a:off x="762000" y="1270000"/>
            <a:ext cx="5207000" cy="1397000"/>
          </a:xfrm>
          <a:prstGeom prst="roundRect">
            <a:avLst>
              <a:gd name="adj" fmla="val 9090"/>
            </a:avLst>
          </a:prstGeom>
          <a:solidFill>
            <a:srgbClr val="0D1B2A">
              <a:alpha val="60000"/>
            </a:srgbClr>
          </a:solidFill>
          <a:ln w="12700" cap="flat" cmpd="sng">
            <a:solidFill>
              <a:srgbClr val="41EAD4">
                <a:alpha val="5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460500"/>
            <a:ext cx="406400" cy="406400"/>
          </a:xfrm>
          <a:prstGeom prst="rect">
            <a:avLst/>
          </a:prstGeom>
        </p:spPr>
      </p:pic>
      <p:sp>
        <p:nvSpPr>
          <p:cNvPr id="7" name="AutoShape 7"/>
          <p:cNvSpPr/>
          <p:nvPr/>
        </p:nvSpPr>
        <p:spPr>
          <a:xfrm>
            <a:off x="1524000" y="14224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1EAD4"/>
                </a:solidFill>
                <a:latin typeface="Noto Sans SC"/>
                <a:ea typeface="Noto Sans SC"/>
                <a:cs typeface="Noto Sans SC"/>
                <a:sym typeface="Noto Sans SC"/>
              </a:rPr>
              <a:t>Large-scale Distributed Testbed</a:t>
            </a:r>
            <a:endParaRPr lang="en-US" sz="1100"/>
          </a:p>
        </p:txBody>
      </p:sp>
      <p:sp>
        <p:nvSpPr>
          <p:cNvPr id="8" name="AutoShape 8"/>
          <p:cNvSpPr/>
          <p:nvPr/>
        </p:nvSpPr>
        <p:spPr>
          <a:xfrm>
            <a:off x="1524000" y="17780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90196"/>
                  </a:srgbClr>
                </a:solidFill>
                <a:latin typeface="Noto Sans SC"/>
                <a:ea typeface="Noto Sans SC"/>
                <a:cs typeface="Noto Sans SC"/>
                <a:sym typeface="Noto Sans SC"/>
              </a:rPr>
              <a:t>Deployed on 3 HPC systems with up to</a:t>
            </a:r>
            <a:r>
              <a:rPr lang="en-US" sz="1200" b="1" i="0" u="none" strike="noStrike">
                <a:solidFill>
                  <a:srgbClr val="41EAD4"/>
                </a:solidFill>
                <a:latin typeface="Noto Sans SC"/>
                <a:ea typeface="Noto Sans SC"/>
                <a:cs typeface="Noto Sans SC"/>
                <a:sym typeface="Noto Sans SC"/>
              </a:rPr>
              <a:t>79,024</a:t>
            </a:r>
            <a:r>
              <a:rPr lang="en-US" sz="1200" b="0" i="0" u="none" strike="noStrike">
                <a:solidFill>
                  <a:srgbClr val="FFFFFF">
                    <a:alpha val="90196"/>
                  </a:srgbClr>
                </a:solidFill>
                <a:latin typeface="Noto Sans SC"/>
                <a:ea typeface="Noto Sans SC"/>
                <a:cs typeface="Noto Sans SC"/>
                <a:sym typeface="Noto Sans SC"/>
              </a:rPr>
              <a:t>compute nodes to validate scalability.</a:t>
            </a:r>
            <a:endParaRPr lang="en-US" sz="1100"/>
          </a:p>
        </p:txBody>
      </p:sp>
      <p:sp>
        <p:nvSpPr>
          <p:cNvPr id="9" name="AutoShape 9"/>
          <p:cNvSpPr/>
          <p:nvPr/>
        </p:nvSpPr>
        <p:spPr>
          <a:xfrm>
            <a:off x="6223000" y="1270000"/>
            <a:ext cx="5207000" cy="1397000"/>
          </a:xfrm>
          <a:prstGeom prst="roundRect">
            <a:avLst>
              <a:gd name="adj" fmla="val 9090"/>
            </a:avLst>
          </a:prstGeom>
          <a:solidFill>
            <a:srgbClr val="0D1B2A">
              <a:alpha val="60000"/>
            </a:srgbClr>
          </a:solidFill>
          <a:ln w="12700" cap="flat" cmpd="sng">
            <a:solidFill>
              <a:srgbClr val="FF9F1C">
                <a:alpha val="5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1460500"/>
            <a:ext cx="406400" cy="406400"/>
          </a:xfrm>
          <a:prstGeom prst="rect">
            <a:avLst/>
          </a:prstGeom>
        </p:spPr>
      </p:pic>
      <p:sp>
        <p:nvSpPr>
          <p:cNvPr id="11" name="AutoShape 11"/>
          <p:cNvSpPr/>
          <p:nvPr/>
        </p:nvSpPr>
        <p:spPr>
          <a:xfrm>
            <a:off x="6985000" y="14224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F1C"/>
                </a:solidFill>
                <a:latin typeface="Noto Sans SC"/>
                <a:ea typeface="Noto Sans SC"/>
                <a:cs typeface="Noto Sans SC"/>
                <a:sym typeface="Noto Sans SC"/>
              </a:rPr>
              <a:t>Comparison with Mainstream Systems</a:t>
            </a:r>
            <a:endParaRPr lang="en-US" sz="1100"/>
          </a:p>
        </p:txBody>
      </p:sp>
      <p:sp>
        <p:nvSpPr>
          <p:cNvPr id="12" name="AutoShape 12"/>
          <p:cNvSpPr/>
          <p:nvPr/>
        </p:nvSpPr>
        <p:spPr>
          <a:xfrm>
            <a:off x="6985000" y="17780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90196"/>
                  </a:srgbClr>
                </a:solidFill>
                <a:latin typeface="Noto Sans SC"/>
                <a:ea typeface="Noto Sans SC"/>
                <a:cs typeface="Noto Sans SC"/>
                <a:sym typeface="Noto Sans SC"/>
              </a:rPr>
              <a:t>Compared with Gemini, Gluon, GraphScope, and top Graph500 supercomputing systems.</a:t>
            </a:r>
            <a:endParaRPr lang="en-US" sz="1100"/>
          </a:p>
        </p:txBody>
      </p:sp>
      <p:sp>
        <p:nvSpPr>
          <p:cNvPr id="13" name="AutoShape 13"/>
          <p:cNvSpPr/>
          <p:nvPr/>
        </p:nvSpPr>
        <p:spPr>
          <a:xfrm>
            <a:off x="762000" y="2921000"/>
            <a:ext cx="1066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Dataset Details</a:t>
            </a:r>
            <a:endParaRPr lang="en-US" sz="1100"/>
          </a:p>
        </p:txBody>
      </p:sp>
      <p:graphicFrame>
        <p:nvGraphicFramePr>
          <p:cNvPr id="14" name="Table 14"/>
          <p:cNvGraphicFramePr>
            <a:graphicFrameLocks noGrp="1"/>
          </p:cNvGraphicFramePr>
          <p:nvPr/>
        </p:nvGraphicFramePr>
        <p:xfrm>
          <a:off x="762000" y="3302000"/>
          <a:ext cx="10668000" cy="2032000"/>
        </p:xfrm>
        <a:graphic>
          <a:graphicData uri="http://schemas.openxmlformats.org/drawingml/2006/table">
            <a:tbl>
              <a:tblPr>
                <a:effectLst/>
              </a:tblPr>
              <a:tblGrid>
                <a:gridCol w="2794000">
                  <a:extLst>
                    <a:ext uri="{9D8B030D-6E8A-4147-A177-3AD203B41FA5}">
                      <a16:colId xmlns:a16="http://schemas.microsoft.com/office/drawing/2014/main" val="20000"/>
                    </a:ext>
                  </a:extLst>
                </a:gridCol>
                <a:gridCol w="2540000">
                  <a:extLst>
                    <a:ext uri="{9D8B030D-6E8A-4147-A177-3AD203B41FA5}">
                      <a16:colId xmlns:a16="http://schemas.microsoft.com/office/drawing/2014/main" val="20001"/>
                    </a:ext>
                  </a:extLst>
                </a:gridCol>
                <a:gridCol w="2794000">
                  <a:extLst>
                    <a:ext uri="{9D8B030D-6E8A-4147-A177-3AD203B41FA5}">
                      <a16:colId xmlns:a16="http://schemas.microsoft.com/office/drawing/2014/main" val="20002"/>
                    </a:ext>
                  </a:extLst>
                </a:gridCol>
                <a:gridCol w="2540000">
                  <a:extLst>
                    <a:ext uri="{9D8B030D-6E8A-4147-A177-3AD203B41FA5}">
                      <a16:colId xmlns:a16="http://schemas.microsoft.com/office/drawing/2014/main" val="20003"/>
                    </a:ext>
                  </a:extLst>
                </a:gridCol>
              </a:tblGrid>
              <a:tr h="508000">
                <a:tc>
                  <a:txBody>
                    <a:bodyPr/>
                    <a:lstStyle/>
                    <a:p>
                      <a:pPr indent="0" algn="ctr">
                        <a:lnSpc>
                          <a:spcPct val="100000"/>
                        </a:lnSpc>
                        <a:defRPr/>
                      </a:pPr>
                      <a:r>
                        <a:rPr lang="en-US" sz="1300" b="1" i="0" u="none" strike="noStrike">
                          <a:solidFill>
                            <a:srgbClr val="41EAD4"/>
                          </a:solidFill>
                          <a:latin typeface="Noto Sans SC"/>
                          <a:ea typeface="Noto Sans SC"/>
                          <a:cs typeface="Noto Sans SC"/>
                          <a:sym typeface="Noto Sans SC"/>
                        </a:rPr>
                        <a:t>Dataset</a:t>
                      </a:r>
                      <a:endParaRPr lang="en-US" sz="1100"/>
                    </a:p>
                  </a:txBody>
                  <a:tcPr marL="101600" marR="101600" marT="101600" marB="101600" anchor="ctr">
                    <a:lnL>
                      <a:noFill/>
                    </a:lnL>
                    <a:lnR>
                      <a:noFill/>
                    </a:lnR>
                    <a:lnT>
                      <a:noFill/>
                    </a:lnT>
                    <a:lnB w="12700" cap="flat" cmpd="sng" algn="ctr">
                      <a:solidFill>
                        <a:srgbClr val="41EAD4"/>
                      </a:solidFill>
                      <a:prstDash val="solid"/>
                      <a:round/>
                      <a:headEnd type="none" w="med" len="med"/>
                      <a:tailEnd type="none" w="med" len="med"/>
                    </a:lnB>
                    <a:solidFill>
                      <a:srgbClr val="41EAD4">
                        <a:alpha val="20000"/>
                      </a:srgbClr>
                    </a:solidFill>
                  </a:tcPr>
                </a:tc>
                <a:tc>
                  <a:txBody>
                    <a:bodyPr/>
                    <a:lstStyle/>
                    <a:p>
                      <a:pPr indent="0" algn="ctr">
                        <a:lnSpc>
                          <a:spcPct val="100000"/>
                        </a:lnSpc>
                        <a:defRPr/>
                      </a:pPr>
                      <a:r>
                        <a:rPr lang="en-US" sz="1300" b="1" i="0" u="none" strike="noStrike">
                          <a:solidFill>
                            <a:srgbClr val="41EAD4"/>
                          </a:solidFill>
                          <a:latin typeface="Noto Sans SC"/>
                          <a:ea typeface="Noto Sans SC"/>
                          <a:cs typeface="Noto Sans SC"/>
                          <a:sym typeface="Noto Sans SC"/>
                        </a:rPr>
                        <a:t>Vertices</a:t>
                      </a:r>
                      <a:endParaRPr lang="en-US" sz="1100"/>
                    </a:p>
                  </a:txBody>
                  <a:tcPr marL="101600" marR="101600" marT="101600" marB="101600" anchor="ctr">
                    <a:lnL>
                      <a:noFill/>
                    </a:lnL>
                    <a:lnR>
                      <a:noFill/>
                    </a:lnR>
                    <a:lnT>
                      <a:noFill/>
                    </a:lnT>
                    <a:lnB w="12700" cap="flat" cmpd="sng" algn="ctr">
                      <a:solidFill>
                        <a:srgbClr val="41EAD4"/>
                      </a:solidFill>
                      <a:prstDash val="solid"/>
                      <a:round/>
                      <a:headEnd type="none" w="med" len="med"/>
                      <a:tailEnd type="none" w="med" len="med"/>
                    </a:lnB>
                    <a:solidFill>
                      <a:srgbClr val="41EAD4">
                        <a:alpha val="20000"/>
                      </a:srgbClr>
                    </a:solidFill>
                  </a:tcPr>
                </a:tc>
                <a:tc>
                  <a:txBody>
                    <a:bodyPr/>
                    <a:lstStyle/>
                    <a:p>
                      <a:pPr indent="0" algn="ctr">
                        <a:lnSpc>
                          <a:spcPct val="100000"/>
                        </a:lnSpc>
                        <a:defRPr/>
                      </a:pPr>
                      <a:r>
                        <a:rPr lang="en-US" sz="1300" b="1" i="0" u="none" strike="noStrike">
                          <a:solidFill>
                            <a:srgbClr val="41EAD4"/>
                          </a:solidFill>
                          <a:latin typeface="Noto Sans SC"/>
                          <a:ea typeface="Noto Sans SC"/>
                          <a:cs typeface="Noto Sans SC"/>
                          <a:sym typeface="Noto Sans SC"/>
                        </a:rPr>
                        <a:t>Edges</a:t>
                      </a:r>
                      <a:endParaRPr lang="en-US" sz="1100"/>
                    </a:p>
                  </a:txBody>
                  <a:tcPr marL="101600" marR="101600" marT="101600" marB="101600" anchor="ctr">
                    <a:lnL>
                      <a:noFill/>
                    </a:lnL>
                    <a:lnR>
                      <a:noFill/>
                    </a:lnR>
                    <a:lnT>
                      <a:noFill/>
                    </a:lnT>
                    <a:lnB w="12700" cap="flat" cmpd="sng" algn="ctr">
                      <a:solidFill>
                        <a:srgbClr val="41EAD4"/>
                      </a:solidFill>
                      <a:prstDash val="solid"/>
                      <a:round/>
                      <a:headEnd type="none" w="med" len="med"/>
                      <a:tailEnd type="none" w="med" len="med"/>
                    </a:lnB>
                    <a:solidFill>
                      <a:srgbClr val="41EAD4">
                        <a:alpha val="20000"/>
                      </a:srgbClr>
                    </a:solidFill>
                  </a:tcPr>
                </a:tc>
                <a:tc>
                  <a:txBody>
                    <a:bodyPr/>
                    <a:lstStyle/>
                    <a:p>
                      <a:pPr indent="0" algn="ctr">
                        <a:lnSpc>
                          <a:spcPct val="100000"/>
                        </a:lnSpc>
                        <a:defRPr/>
                      </a:pPr>
                      <a:r>
                        <a:rPr lang="en-US" sz="1300" b="1" i="0" u="none" strike="noStrike">
                          <a:solidFill>
                            <a:srgbClr val="41EAD4"/>
                          </a:solidFill>
                          <a:latin typeface="Noto Sans SC"/>
                          <a:ea typeface="Noto Sans SC"/>
                          <a:cs typeface="Noto Sans SC"/>
                          <a:sym typeface="Noto Sans SC"/>
                        </a:rPr>
                        <a:t>Type</a:t>
                      </a:r>
                      <a:endParaRPr lang="en-US" sz="1100"/>
                    </a:p>
                  </a:txBody>
                  <a:tcPr marL="101600" marR="101600" marT="101600" marB="101600" anchor="ctr">
                    <a:lnL>
                      <a:noFill/>
                    </a:lnL>
                    <a:lnR>
                      <a:noFill/>
                    </a:lnR>
                    <a:lnT>
                      <a:noFill/>
                    </a:lnT>
                    <a:lnB w="12700" cap="flat" cmpd="sng" algn="ctr">
                      <a:solidFill>
                        <a:srgbClr val="41EAD4"/>
                      </a:solidFill>
                      <a:prstDash val="solid"/>
                      <a:round/>
                      <a:headEnd type="none" w="med" len="med"/>
                      <a:tailEnd type="none" w="med" len="med"/>
                    </a:lnB>
                    <a:solidFill>
                      <a:srgbClr val="41EAD4">
                        <a:alpha val="20000"/>
                      </a:srgbClr>
                    </a:solidFill>
                  </a:tcPr>
                </a:tc>
                <a:extLst>
                  <a:ext uri="{0D108BD9-81ED-4DB2-BD59-A6C34878D82A}">
                    <a16:rowId xmlns:a16="http://schemas.microsoft.com/office/drawing/2014/main" val="10000"/>
                  </a:ext>
                </a:extLst>
              </a:tr>
              <a:tr h="508000">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Twitter-2010</a:t>
                      </a:r>
                      <a:endParaRPr lang="en-US" sz="1100"/>
                    </a:p>
                  </a:txBody>
                  <a:tcPr marL="101600" marR="101600" marT="101600" marB="101600" anchor="ctr">
                    <a:lnL>
                      <a:noFill/>
                    </a:lnL>
                    <a:lnR>
                      <a:noFill/>
                    </a:lnR>
                    <a:lnT w="12700" cap="flat" cmpd="sng" algn="ctr">
                      <a:solidFill>
                        <a:srgbClr val="41EA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41.6M</a:t>
                      </a:r>
                      <a:endParaRPr lang="en-US" sz="1100"/>
                    </a:p>
                  </a:txBody>
                  <a:tcPr marL="101600" marR="101600" marT="101600" marB="101600" anchor="ctr">
                    <a:lnL>
                      <a:noFill/>
                    </a:lnL>
                    <a:lnR>
                      <a:noFill/>
                    </a:lnR>
                    <a:lnT w="12700" cap="flat" cmpd="sng" algn="ctr">
                      <a:solidFill>
                        <a:srgbClr val="41EA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1.47B</a:t>
                      </a:r>
                      <a:endParaRPr lang="en-US" sz="1100"/>
                    </a:p>
                  </a:txBody>
                  <a:tcPr marL="101600" marR="101600" marT="101600" marB="101600" anchor="ctr">
                    <a:lnL>
                      <a:noFill/>
                    </a:lnL>
                    <a:lnR>
                      <a:noFill/>
                    </a:lnR>
                    <a:lnT w="12700" cap="flat" cmpd="sng" algn="ctr">
                      <a:solidFill>
                        <a:srgbClr val="41EA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Real-world</a:t>
                      </a:r>
                      <a:endParaRPr lang="en-US" sz="1100"/>
                    </a:p>
                  </a:txBody>
                  <a:tcPr marL="101600" marR="101600" marT="101600" marB="101600" anchor="ctr">
                    <a:lnL>
                      <a:noFill/>
                    </a:lnL>
                    <a:lnR>
                      <a:noFill/>
                    </a:lnR>
                    <a:lnT w="12700" cap="flat" cmpd="sng" algn="ctr">
                      <a:solidFill>
                        <a:srgbClr val="41EA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extLst>
                  <a:ext uri="{0D108BD9-81ED-4DB2-BD59-A6C34878D82A}">
                    <a16:rowId xmlns:a16="http://schemas.microsoft.com/office/drawing/2014/main" val="10001"/>
                  </a:ext>
                </a:extLst>
              </a:tr>
              <a:tr h="508000">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Kronecker (scale=42)</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4.4T</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70.4T</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Synthetic</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extLst>
                  <a:ext uri="{0D108BD9-81ED-4DB2-BD59-A6C34878D82A}">
                    <a16:rowId xmlns:a16="http://schemas.microsoft.com/office/drawing/2014/main" val="10002"/>
                  </a:ext>
                </a:extLst>
              </a:tr>
              <a:tr h="508000">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Sogou</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271.8B</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12.3T</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Real-world</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extLst>
                  <a:ext uri="{0D108BD9-81ED-4DB2-BD59-A6C34878D82A}">
                    <a16:rowId xmlns:a16="http://schemas.microsoft.com/office/drawing/2014/main" val="10003"/>
                  </a:ext>
                </a:extLst>
              </a:tr>
            </a:tbl>
          </a:graphicData>
        </a:graphic>
      </p:graphicFrame>
      <p:sp>
        <p:nvSpPr>
          <p:cNvPr id="15" name="AutoShape 15"/>
          <p:cNvSpPr/>
          <p:nvPr/>
        </p:nvSpPr>
        <p:spPr>
          <a:xfrm>
            <a:off x="762000" y="5715000"/>
            <a:ext cx="10668000" cy="25400"/>
          </a:xfrm>
          <a:prstGeom prst="roundRect">
            <a:avLst>
              <a:gd name="adj" fmla="val 0"/>
            </a:avLst>
          </a:prstGeom>
          <a:gradFill rotWithShape="1">
            <a:gsLst>
              <a:gs pos="0">
                <a:srgbClr val="41EAD4">
                  <a:alpha val="0"/>
                </a:srgbClr>
              </a:gs>
              <a:gs pos="50000">
                <a:srgbClr val="41EAD4">
                  <a:alpha val="100000"/>
                </a:srgbClr>
              </a:gs>
              <a:gs pos="100000">
                <a:srgbClr val="41EAD4">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a:ea typeface="Noto Sans SC"/>
                <a:cs typeface="Noto Sans SC"/>
                <a:sym typeface="Noto Sans SC"/>
              </a:rPr>
              <a:t>Experimental Results 1: Graph500 Performance Comparison</a:t>
            </a:r>
            <a:endParaRPr lang="en-US" sz="1100"/>
          </a:p>
        </p:txBody>
      </p:sp>
      <p:pic>
        <p:nvPicPr>
          <p:cNvPr id="5" name="Picture 5"/>
          <p:cNvPicPr>
            <a:picLocks noChangeAspect="1"/>
          </p:cNvPicPr>
          <p:nvPr/>
        </p:nvPicPr>
        <p:blipFill>
          <a:blip r:embed="rId4"/>
          <a:stretch>
            <a:fillRect/>
          </a:stretch>
        </p:blipFill>
        <p:spPr>
          <a:xfrm>
            <a:off x="762000" y="1524000"/>
            <a:ext cx="5080000" cy="3302000"/>
          </a:xfrm>
          <a:prstGeom prst="rect">
            <a:avLst/>
          </a:prstGeom>
          <a:ln w="12700">
            <a:noFill/>
            <a:prstDash val="solid"/>
          </a:ln>
        </p:spPr>
      </p:pic>
      <p:sp>
        <p:nvSpPr>
          <p:cNvPr id="6" name="AutoShape 6"/>
          <p:cNvSpPr/>
          <p:nvPr/>
        </p:nvSpPr>
        <p:spPr>
          <a:xfrm>
            <a:off x="6350000" y="1524000"/>
            <a:ext cx="5080000" cy="1079500"/>
          </a:xfrm>
          <a:prstGeom prst="roundRect">
            <a:avLst>
              <a:gd name="adj" fmla="val 11764"/>
            </a:avLst>
          </a:prstGeom>
          <a:solidFill>
            <a:srgbClr val="FFFFFF">
              <a:alpha val="8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1854200"/>
            <a:ext cx="406400" cy="406400"/>
          </a:xfrm>
          <a:prstGeom prst="rect">
            <a:avLst/>
          </a:prstGeom>
        </p:spPr>
      </p:pic>
      <p:sp>
        <p:nvSpPr>
          <p:cNvPr id="8" name="AutoShape 8"/>
          <p:cNvSpPr/>
          <p:nvPr/>
        </p:nvSpPr>
        <p:spPr>
          <a:xfrm>
            <a:off x="7112000" y="16510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8C8C8"/>
                </a:solidFill>
                <a:latin typeface="Noto Sans SC"/>
                <a:ea typeface="Noto Sans SC"/>
                <a:cs typeface="Noto Sans SC"/>
                <a:sym typeface="Noto Sans SC"/>
              </a:rPr>
              <a:t>BFS Throughput</a:t>
            </a:r>
            <a:endParaRPr lang="en-US" sz="1100"/>
          </a:p>
          <a:p>
            <a:pPr indent="0" algn="l">
              <a:lnSpc>
                <a:spcPct val="125000"/>
              </a:lnSpc>
            </a:pPr>
            <a:r>
              <a:rPr lang="en-US" sz="2000" b="1" i="0" u="none" strike="noStrike">
                <a:solidFill>
                  <a:srgbClr val="41EAD4"/>
                </a:solidFill>
                <a:latin typeface="Noto Sans SC"/>
                <a:ea typeface="Noto Sans SC"/>
                <a:cs typeface="Noto Sans SC"/>
                <a:sym typeface="Noto Sans SC"/>
              </a:rPr>
              <a:t>162,494 GTEPS</a:t>
            </a:r>
            <a:r>
              <a:rPr lang="en-US" sz="1200" b="0" i="0" u="none" strike="noStrike">
                <a:solidFill>
                  <a:srgbClr val="FFFFFF"/>
                </a:solidFill>
                <a:latin typeface="Noto Sans SC"/>
                <a:ea typeface="Noto Sans SC"/>
                <a:cs typeface="Noto Sans SC"/>
                <a:sym typeface="Noto Sans SC"/>
              </a:rPr>
              <a:t>(17% higher than champion)</a:t>
            </a:r>
          </a:p>
        </p:txBody>
      </p:sp>
      <p:sp>
        <p:nvSpPr>
          <p:cNvPr id="9" name="AutoShape 9"/>
          <p:cNvSpPr/>
          <p:nvPr/>
        </p:nvSpPr>
        <p:spPr>
          <a:xfrm>
            <a:off x="6350000" y="2730500"/>
            <a:ext cx="5080000" cy="1079500"/>
          </a:xfrm>
          <a:prstGeom prst="roundRect">
            <a:avLst>
              <a:gd name="adj" fmla="val 11764"/>
            </a:avLst>
          </a:prstGeom>
          <a:solidFill>
            <a:srgbClr val="FFFFFF">
              <a:alpha val="8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060700"/>
            <a:ext cx="406400" cy="406400"/>
          </a:xfrm>
          <a:prstGeom prst="rect">
            <a:avLst/>
          </a:prstGeom>
        </p:spPr>
      </p:pic>
      <p:sp>
        <p:nvSpPr>
          <p:cNvPr id="11" name="AutoShape 11"/>
          <p:cNvSpPr/>
          <p:nvPr/>
        </p:nvSpPr>
        <p:spPr>
          <a:xfrm>
            <a:off x="7112000" y="28575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8C8C8"/>
                </a:solidFill>
                <a:latin typeface="Noto Sans SC"/>
                <a:ea typeface="Noto Sans SC"/>
                <a:cs typeface="Noto Sans SC"/>
                <a:sym typeface="Noto Sans SC"/>
              </a:rPr>
              <a:t>SSSP Throughput</a:t>
            </a:r>
            <a:endParaRPr lang="en-US" sz="1100"/>
          </a:p>
          <a:p>
            <a:pPr indent="0" algn="l">
              <a:lnSpc>
                <a:spcPct val="125000"/>
              </a:lnSpc>
            </a:pPr>
            <a:r>
              <a:rPr lang="en-US" sz="2000" b="1" i="0" u="none" strike="noStrike">
                <a:solidFill>
                  <a:srgbClr val="41EAD4"/>
                </a:solidFill>
                <a:latin typeface="Noto Sans SC"/>
                <a:ea typeface="Noto Sans SC"/>
                <a:cs typeface="Noto Sans SC"/>
                <a:sym typeface="Noto Sans SC"/>
              </a:rPr>
              <a:t>23,021 GTEPS</a:t>
            </a:r>
          </a:p>
        </p:txBody>
      </p:sp>
      <p:sp>
        <p:nvSpPr>
          <p:cNvPr id="12" name="AutoShape 12"/>
          <p:cNvSpPr/>
          <p:nvPr/>
        </p:nvSpPr>
        <p:spPr>
          <a:xfrm>
            <a:off x="6350000" y="3937000"/>
            <a:ext cx="5080000" cy="1079500"/>
          </a:xfrm>
          <a:prstGeom prst="roundRect">
            <a:avLst>
              <a:gd name="adj" fmla="val 11764"/>
            </a:avLst>
          </a:prstGeom>
          <a:solidFill>
            <a:srgbClr val="FFFFFF">
              <a:alpha val="8000"/>
            </a:srgbClr>
          </a:solidFill>
          <a:ln w="12700" cap="flat" cmpd="sng">
            <a:solidFill>
              <a:srgbClr val="FF9F1C">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4267200"/>
            <a:ext cx="406400" cy="406400"/>
          </a:xfrm>
          <a:prstGeom prst="rect">
            <a:avLst/>
          </a:prstGeom>
        </p:spPr>
      </p:pic>
      <p:sp>
        <p:nvSpPr>
          <p:cNvPr id="14" name="AutoShape 14"/>
          <p:cNvSpPr/>
          <p:nvPr/>
        </p:nvSpPr>
        <p:spPr>
          <a:xfrm>
            <a:off x="7112000" y="4064000"/>
            <a:ext cx="406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8C8C8"/>
                </a:solidFill>
                <a:latin typeface="Noto Sans SC"/>
                <a:ea typeface="Noto Sans SC"/>
                <a:cs typeface="Noto Sans SC"/>
                <a:sym typeface="Noto Sans SC"/>
              </a:rPr>
              <a:t>Graph Construction Time</a:t>
            </a:r>
            <a:endParaRPr lang="en-US" sz="1100"/>
          </a:p>
          <a:p>
            <a:pPr indent="0" algn="l">
              <a:lnSpc>
                <a:spcPct val="125000"/>
              </a:lnSpc>
            </a:pPr>
            <a:r>
              <a:rPr lang="en-US" sz="1800" b="1" i="0" u="none" strike="noStrike">
                <a:solidFill>
                  <a:srgbClr val="FF9F1C"/>
                </a:solidFill>
                <a:latin typeface="Noto Sans SC"/>
                <a:ea typeface="Noto Sans SC"/>
                <a:cs typeface="Noto Sans SC"/>
                <a:sym typeface="Noto Sans SC"/>
              </a:rPr>
              <a:t>Reduced by &gt;4 orders</a:t>
            </a:r>
            <a:r>
              <a:rPr lang="en-US" sz="1200" b="0" i="0" u="none" strike="noStrike">
                <a:solidFill>
                  <a:srgbClr val="FFFFFF"/>
                </a:solidFill>
                <a:latin typeface="Noto Sans SC"/>
                <a:ea typeface="Noto Sans SC"/>
                <a:cs typeface="Noto Sans SC"/>
                <a:sym typeface="Noto Sans SC"/>
              </a:rPr>
              <a:t>(vs Fugaku)</a:t>
            </a:r>
          </a:p>
        </p:txBody>
      </p:sp>
      <p:sp>
        <p:nvSpPr>
          <p:cNvPr id="15" name="AutoShape 15"/>
          <p:cNvSpPr/>
          <p:nvPr/>
        </p:nvSpPr>
        <p:spPr>
          <a:xfrm>
            <a:off x="762000" y="5334000"/>
            <a:ext cx="10668000" cy="762000"/>
          </a:xfrm>
          <a:prstGeom prst="roundRect">
            <a:avLst>
              <a:gd name="adj" fmla="val 16666"/>
            </a:avLst>
          </a:prstGeom>
          <a:solidFill>
            <a:srgbClr val="0D1B2A">
              <a:alpha val="60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89000" y="5461000"/>
            <a:ext cx="1041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DCDCDC"/>
                </a:solidFill>
                <a:latin typeface="Noto Sans SC"/>
                <a:ea typeface="Noto Sans SC"/>
                <a:cs typeface="Noto Sans SC"/>
                <a:sym typeface="Noto Sans SC"/>
              </a:rPr>
              <a:t>Summary: GraphService demonstrates exceptional computing performance in the authoritative Graph500 benchmark. It not only surpasses the former champion Fugaku in throughput but also achieves a disruptive breakthrough in graph construction efficiency.</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8547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a:ea typeface="Noto Sans SC"/>
                <a:cs typeface="Noto Sans SC"/>
                <a:sym typeface="Noto Sans SC"/>
              </a:rPr>
              <a:t>Experimental Results 2: Real-world Graph Performance</a:t>
            </a:r>
            <a:endParaRPr lang="en-US" sz="1100"/>
          </a:p>
        </p:txBody>
      </p:sp>
      <p:sp>
        <p:nvSpPr>
          <p:cNvPr id="5" name="AutoShape 5"/>
          <p:cNvSpPr/>
          <p:nvPr/>
        </p:nvSpPr>
        <p:spPr>
          <a:xfrm>
            <a:off x="762000" y="1651000"/>
            <a:ext cx="4572000" cy="3302000"/>
          </a:xfrm>
          <a:prstGeom prst="roundRect">
            <a:avLst>
              <a:gd name="adj" fmla="val 3846"/>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05000"/>
            <a:ext cx="304800" cy="304800"/>
          </a:xfrm>
          <a:prstGeom prst="rect">
            <a:avLst/>
          </a:prstGeom>
        </p:spPr>
      </p:pic>
      <p:sp>
        <p:nvSpPr>
          <p:cNvPr id="7" name="AutoShape 7"/>
          <p:cNvSpPr/>
          <p:nvPr/>
        </p:nvSpPr>
        <p:spPr>
          <a:xfrm>
            <a:off x="1397000" y="18669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1EAD4"/>
                </a:solidFill>
                <a:latin typeface="Noto Sans SC"/>
                <a:ea typeface="Noto Sans SC"/>
                <a:cs typeface="Noto Sans SC"/>
                <a:sym typeface="Noto Sans SC"/>
              </a:rPr>
              <a:t>Core Findings</a:t>
            </a:r>
            <a:endParaRPr lang="en-US" sz="1100"/>
          </a:p>
        </p:txBody>
      </p:sp>
      <p:sp>
        <p:nvSpPr>
          <p:cNvPr id="8" name="AutoShape 8"/>
          <p:cNvSpPr/>
          <p:nvPr/>
        </p:nvSpPr>
        <p:spPr>
          <a:xfrm>
            <a:off x="1016000" y="2413000"/>
            <a:ext cx="406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CDCDC"/>
                </a:solidFill>
                <a:latin typeface="Noto Sans SC"/>
                <a:ea typeface="Noto Sans SC"/>
                <a:cs typeface="Noto Sans SC"/>
                <a:sym typeface="Noto Sans SC"/>
              </a:rPr>
              <a:t>On real-world graph datasets (Twitter, Sogou), GraphService outperforms Gemini, Gluon, GraphScope.</a:t>
            </a:r>
            <a:endParaRPr lang="en-US" sz="1100"/>
          </a:p>
          <a:p>
            <a:pPr indent="0" algn="l">
              <a:lnSpc>
                <a:spcPct val="125000"/>
              </a:lnSpc>
            </a:pPr>
            <a:r>
              <a:rPr lang="en-US" sz="1400" b="0" i="0" u="none" strike="noStrike">
                <a:solidFill>
                  <a:srgbClr val="DCDCDC"/>
                </a:solidFill>
                <a:latin typeface="Noto Sans SC"/>
                <a:ea typeface="Noto Sans SC"/>
                <a:cs typeface="Noto Sans SC"/>
                <a:sym typeface="Noto Sans SC"/>
              </a:rPr>
              <a:t>Across different graph algorithm workloads, the speedup of GraphService is up to</a:t>
            </a:r>
            <a:r>
              <a:rPr lang="en-US" sz="1600" b="1" i="0" u="none" strike="noStrike">
                <a:solidFill>
                  <a:srgbClr val="FF9F1C"/>
                </a:solidFill>
                <a:latin typeface="Noto Sans SC"/>
                <a:ea typeface="Noto Sans SC"/>
                <a:cs typeface="Noto Sans SC"/>
                <a:sym typeface="Noto Sans SC"/>
              </a:rPr>
              <a:t>18.9x</a:t>
            </a:r>
            <a:r>
              <a:rPr lang="en-US" sz="1400" b="0" i="0" u="none" strike="noStrike">
                <a:solidFill>
                  <a:srgbClr val="DCDCDC"/>
                </a:solidFill>
                <a:latin typeface="Noto Sans SC"/>
                <a:ea typeface="Noto Sans SC"/>
                <a:cs typeface="Noto Sans SC"/>
                <a:sym typeface="Noto Sans SC"/>
              </a:rPr>
              <a:t>.</a:t>
            </a:r>
          </a:p>
        </p:txBody>
      </p:sp>
      <p:sp>
        <p:nvSpPr>
          <p:cNvPr id="9" name="AutoShape 9"/>
          <p:cNvSpPr/>
          <p:nvPr/>
        </p:nvSpPr>
        <p:spPr>
          <a:xfrm>
            <a:off x="5588000" y="1651000"/>
            <a:ext cx="5334000" cy="3302000"/>
          </a:xfrm>
          <a:prstGeom prst="roundRect">
            <a:avLst>
              <a:gd name="adj" fmla="val 3846"/>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842000" y="1866900"/>
            <a:ext cx="482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FFFFFF"/>
                </a:solidFill>
                <a:latin typeface="Noto Sans SC"/>
                <a:ea typeface="Noto Sans SC"/>
                <a:cs typeface="Noto Sans SC"/>
                <a:sym typeface="Noto Sans SC"/>
              </a:rPr>
              <a:t>Performance Speedup (vs. Best Comparison System)</a:t>
            </a:r>
            <a:endParaRPr lang="en-US" sz="1100"/>
          </a:p>
        </p:txBody>
      </p:sp>
      <p:pic>
        <p:nvPicPr>
          <p:cNvPr id="11" name="Picture 11"/>
          <p:cNvPicPr>
            <a:picLocks noChangeAspect="1"/>
          </p:cNvPicPr>
          <p:nvPr/>
        </p:nvPicPr>
        <p:blipFill>
          <a:blip r:embed="rId6"/>
          <a:stretch>
            <a:fillRect/>
          </a:stretch>
        </p:blipFill>
        <p:spPr>
          <a:xfrm>
            <a:off x="5842000" y="2286000"/>
            <a:ext cx="4826000" cy="2540000"/>
          </a:xfrm>
          <a:prstGeom prst="rect">
            <a:avLst/>
          </a:prstGeom>
          <a:ln w="12700">
            <a:noFill/>
            <a:prstDash val="solid"/>
          </a:ln>
        </p:spPr>
      </p:pic>
      <p:sp>
        <p:nvSpPr>
          <p:cNvPr id="12" name="AutoShape 12"/>
          <p:cNvSpPr/>
          <p:nvPr/>
        </p:nvSpPr>
        <p:spPr>
          <a:xfrm>
            <a:off x="0" y="6807200"/>
            <a:ext cx="12192000" cy="50800"/>
          </a:xfrm>
          <a:prstGeom prst="roundRect">
            <a:avLst>
              <a:gd name="adj" fmla="val 0"/>
            </a:avLst>
          </a:prstGeom>
          <a:gradFill rotWithShape="1">
            <a:gsLst>
              <a:gs pos="0">
                <a:srgbClr val="0D1B2A">
                  <a:alpha val="100000"/>
                </a:srgbClr>
              </a:gs>
              <a:gs pos="50000">
                <a:srgbClr val="41EAD4">
                  <a:alpha val="100000"/>
                </a:srgbClr>
              </a:gs>
              <a:gs pos="100000">
                <a:srgbClr val="0D1B2A">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50292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a:ea typeface="Noto Sans SC"/>
                <a:cs typeface="Noto Sans SC"/>
                <a:sym typeface="Noto Sans SC"/>
              </a:rPr>
              <a:t>Experimental Results 3: Scalability Analysis</a:t>
            </a:r>
            <a:endParaRPr lang="en-US" sz="1100"/>
          </a:p>
        </p:txBody>
      </p:sp>
      <p:sp>
        <p:nvSpPr>
          <p:cNvPr id="5" name="AutoShape 5"/>
          <p:cNvSpPr/>
          <p:nvPr/>
        </p:nvSpPr>
        <p:spPr>
          <a:xfrm>
            <a:off x="762000" y="1206500"/>
            <a:ext cx="762000" cy="50800"/>
          </a:xfrm>
          <a:prstGeom prst="roundRect">
            <a:avLst>
              <a:gd name="adj" fmla="val 0"/>
            </a:avLst>
          </a:prstGeom>
          <a:solidFill>
            <a:srgbClr val="41EAD4">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1651000"/>
            <a:ext cx="304800" cy="304800"/>
          </a:xfrm>
          <a:prstGeom prst="rect">
            <a:avLst/>
          </a:prstGeom>
        </p:spPr>
      </p:pic>
      <p:sp>
        <p:nvSpPr>
          <p:cNvPr id="7" name="AutoShape 7"/>
          <p:cNvSpPr/>
          <p:nvPr/>
        </p:nvSpPr>
        <p:spPr>
          <a:xfrm>
            <a:off x="1193800" y="16002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1EAD4"/>
                </a:solidFill>
                <a:latin typeface="Noto Sans SC"/>
                <a:ea typeface="Noto Sans SC"/>
                <a:cs typeface="Noto Sans SC"/>
                <a:sym typeface="Noto Sans SC"/>
              </a:rPr>
              <a:t>Excellent Linear Scalability</a:t>
            </a:r>
            <a:endParaRPr lang="en-US" sz="1100"/>
          </a:p>
        </p:txBody>
      </p:sp>
      <p:sp>
        <p:nvSpPr>
          <p:cNvPr id="8" name="AutoShape 8"/>
          <p:cNvSpPr/>
          <p:nvPr/>
        </p:nvSpPr>
        <p:spPr>
          <a:xfrm>
            <a:off x="762000" y="2032000"/>
            <a:ext cx="4826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E0E0E0"/>
                </a:solidFill>
                <a:latin typeface="Noto Sans SC"/>
                <a:ea typeface="Noto Sans SC"/>
                <a:cs typeface="Noto Sans SC"/>
                <a:sym typeface="Noto Sans SC"/>
              </a:rPr>
              <a:t>GraphService demonstrates excellent scalability. As the number of compute nodes scales from thousands to tens of thousands, the system's throughput grows nearly linearly.</a:t>
            </a:r>
            <a:endParaRPr lang="en-US" sz="1100"/>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3048000"/>
            <a:ext cx="304800" cy="304800"/>
          </a:xfrm>
          <a:prstGeom prst="rect">
            <a:avLst/>
          </a:prstGeom>
        </p:spPr>
      </p:pic>
      <p:sp>
        <p:nvSpPr>
          <p:cNvPr id="10" name="AutoShape 10"/>
          <p:cNvSpPr/>
          <p:nvPr/>
        </p:nvSpPr>
        <p:spPr>
          <a:xfrm>
            <a:off x="1193800" y="3429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9F1C"/>
                </a:solidFill>
                <a:latin typeface="Noto Sans SC"/>
                <a:ea typeface="Noto Sans SC"/>
                <a:cs typeface="Noto Sans SC"/>
                <a:sym typeface="Noto Sans SC"/>
              </a:rPr>
              <a:t>Significant Improvement in Construction Efficiency</a:t>
            </a:r>
            <a:endParaRPr lang="en-US" sz="1100"/>
          </a:p>
        </p:txBody>
      </p:sp>
      <p:sp>
        <p:nvSpPr>
          <p:cNvPr id="11" name="AutoShape 11"/>
          <p:cNvSpPr/>
          <p:nvPr/>
        </p:nvSpPr>
        <p:spPr>
          <a:xfrm>
            <a:off x="762000" y="3937000"/>
            <a:ext cx="4826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E0E0E0"/>
                </a:solidFill>
                <a:latin typeface="Noto Sans SC"/>
                <a:ea typeface="Noto Sans SC"/>
                <a:cs typeface="Noto Sans SC"/>
                <a:sym typeface="Noto Sans SC"/>
              </a:rPr>
              <a:t>The growth rate of graph construction time is much lower than the growth rate of the number of nodes, proving its efficiency on large-scale clusters.</a:t>
            </a:r>
            <a:endParaRPr lang="en-US" sz="1100"/>
          </a:p>
        </p:txBody>
      </p:sp>
      <p:sp>
        <p:nvSpPr>
          <p:cNvPr id="12" name="AutoShape 12"/>
          <p:cNvSpPr/>
          <p:nvPr/>
        </p:nvSpPr>
        <p:spPr>
          <a:xfrm>
            <a:off x="6096000" y="1524000"/>
            <a:ext cx="5334000" cy="3048000"/>
          </a:xfrm>
          <a:prstGeom prst="roundRect">
            <a:avLst>
              <a:gd name="adj" fmla="val 4166"/>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stretch>
            <a:fillRect/>
          </a:stretch>
        </p:blipFill>
        <p:spPr>
          <a:xfrm>
            <a:off x="6223000" y="1651000"/>
            <a:ext cx="5080000" cy="2794000"/>
          </a:xfrm>
          <a:prstGeom prst="rect">
            <a:avLst/>
          </a:prstGeom>
          <a:ln w="12700">
            <a:noFill/>
            <a:prstDash val="solid"/>
          </a:ln>
        </p:spPr>
      </p:pic>
      <p:sp>
        <p:nvSpPr>
          <p:cNvPr id="14" name="AutoShape 14"/>
          <p:cNvSpPr/>
          <p:nvPr/>
        </p:nvSpPr>
        <p:spPr>
          <a:xfrm>
            <a:off x="762000" y="5461000"/>
            <a:ext cx="10668000" cy="889000"/>
          </a:xfrm>
          <a:prstGeom prst="roundRect">
            <a:avLst>
              <a:gd name="adj" fmla="val 14285"/>
            </a:avLst>
          </a:prstGeom>
          <a:solidFill>
            <a:srgbClr val="41EAD4">
              <a:alpha val="10000"/>
            </a:srgbClr>
          </a:solidFill>
          <a:ln w="12700" cap="flat" cmpd="sng">
            <a:solidFill>
              <a:srgbClr val="41EAD4">
                <a:alpha val="20000"/>
              </a:srgbClr>
            </a:solidFill>
            <a:prstDash val="solid"/>
            <a:round/>
          </a:ln>
        </p:spPr>
        <p:txBody>
          <a:bodyPr vert="horz" wrap="square" lIns="0" tIns="0" rIns="0" bIns="0" rtlCol="0" anchor="ctr" anchorCtr="0"/>
          <a:lstStyle/>
          <a:p>
            <a:pPr algn="ctr">
              <a:defRPr/>
            </a:pPr>
            <a:endParaRPr/>
          </a:p>
        </p:txBody>
      </p:sp>
      <p:sp>
        <p:nvSpPr>
          <p:cNvPr id="15" name="AutoShape 15"/>
          <p:cNvSpPr/>
          <p:nvPr/>
        </p:nvSpPr>
        <p:spPr>
          <a:xfrm>
            <a:off x="889000" y="5588000"/>
            <a:ext cx="10414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FFFF"/>
                </a:solidFill>
                <a:latin typeface="Noto Sans SC"/>
                <a:ea typeface="Noto Sans SC"/>
                <a:cs typeface="Noto Sans SC"/>
                <a:sym typeface="Noto Sans SC"/>
              </a:rPr>
              <a:t>Conclusion: GraphService can continuously improve processing capacity by adding machines, fully meeting future demands for ultra-large-scale graph data.</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62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a:ea typeface="Noto Sans SC"/>
                <a:cs typeface="Noto Sans SC"/>
                <a:sym typeface="Noto Sans SC"/>
              </a:rPr>
              <a:t>Experimental Results 4: Compression Effect Analysis</a:t>
            </a:r>
            <a:endParaRPr lang="en-US" sz="1100"/>
          </a:p>
        </p:txBody>
      </p:sp>
      <p:sp>
        <p:nvSpPr>
          <p:cNvPr id="5" name="AutoShape 5"/>
          <p:cNvSpPr/>
          <p:nvPr/>
        </p:nvSpPr>
        <p:spPr>
          <a:xfrm>
            <a:off x="762000" y="1651000"/>
            <a:ext cx="4826000" cy="3302000"/>
          </a:xfrm>
          <a:prstGeom prst="roundRect">
            <a:avLst>
              <a:gd name="adj" fmla="val 3846"/>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tretch>
            <a:fillRect/>
          </a:stretch>
        </p:blipFill>
        <p:spPr>
          <a:xfrm>
            <a:off x="1016000" y="1905000"/>
            <a:ext cx="4318000" cy="2794000"/>
          </a:xfrm>
          <a:prstGeom prst="rect">
            <a:avLst/>
          </a:prstGeom>
          <a:ln w="12700">
            <a:noFill/>
            <a:prstDash val="solid"/>
          </a:ln>
        </p:spPr>
      </p:pic>
      <p:sp>
        <p:nvSpPr>
          <p:cNvPr id="7" name="AutoShape 7"/>
          <p:cNvSpPr/>
          <p:nvPr/>
        </p:nvSpPr>
        <p:spPr>
          <a:xfrm>
            <a:off x="6096000" y="1651000"/>
            <a:ext cx="4826000" cy="1524000"/>
          </a:xfrm>
          <a:prstGeom prst="roundRect">
            <a:avLst>
              <a:gd name="adj" fmla="val 8333"/>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2108200"/>
            <a:ext cx="609600" cy="609600"/>
          </a:xfrm>
          <a:prstGeom prst="rect">
            <a:avLst/>
          </a:prstGeom>
        </p:spPr>
      </p:pic>
      <p:sp>
        <p:nvSpPr>
          <p:cNvPr id="9" name="AutoShape 9"/>
          <p:cNvSpPr/>
          <p:nvPr/>
        </p:nvSpPr>
        <p:spPr>
          <a:xfrm>
            <a:off x="7112000" y="1841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Memory Usage Significantly Reduced</a:t>
            </a:r>
            <a:endParaRPr lang="en-US" sz="1100"/>
          </a:p>
        </p:txBody>
      </p:sp>
      <p:sp>
        <p:nvSpPr>
          <p:cNvPr id="10" name="AutoShape 10"/>
          <p:cNvSpPr/>
          <p:nvPr/>
        </p:nvSpPr>
        <p:spPr>
          <a:xfrm>
            <a:off x="7112000" y="22225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8C8C8"/>
                </a:solidFill>
                <a:latin typeface="Noto Sans SC"/>
                <a:ea typeface="Noto Sans SC"/>
                <a:cs typeface="Noto Sans SC"/>
                <a:sym typeface="Noto Sans SC"/>
              </a:rPr>
              <a:t>Avg compression rate</a:t>
            </a:r>
            <a:r>
              <a:rPr lang="en-US" sz="2000" b="1" i="0" u="none" strike="noStrike">
                <a:solidFill>
                  <a:srgbClr val="41EAD4"/>
                </a:solidFill>
                <a:latin typeface="Noto Sans SC"/>
                <a:ea typeface="Noto Sans SC"/>
                <a:cs typeface="Noto Sans SC"/>
                <a:sym typeface="Noto Sans SC"/>
              </a:rPr>
              <a:t>&gt;70%</a:t>
            </a:r>
            <a:r>
              <a:rPr lang="en-US" sz="1300" b="0" i="0" u="none" strike="noStrike">
                <a:solidFill>
                  <a:srgbClr val="C8C8C8"/>
                </a:solidFill>
                <a:latin typeface="Noto Sans SC"/>
                <a:ea typeface="Noto Sans SC"/>
                <a:cs typeface="Noto Sans SC"/>
                <a:sym typeface="Noto Sans SC"/>
              </a:rPr>
              <a:t>, releasing system resources.</a:t>
            </a:r>
            <a:endParaRPr lang="en-US" sz="1100"/>
          </a:p>
        </p:txBody>
      </p:sp>
      <p:sp>
        <p:nvSpPr>
          <p:cNvPr id="11" name="AutoShape 11"/>
          <p:cNvSpPr/>
          <p:nvPr/>
        </p:nvSpPr>
        <p:spPr>
          <a:xfrm>
            <a:off x="6096000" y="3429000"/>
            <a:ext cx="4826000" cy="1524000"/>
          </a:xfrm>
          <a:prstGeom prst="roundRect">
            <a:avLst>
              <a:gd name="adj" fmla="val 8333"/>
            </a:avLst>
          </a:prstGeom>
          <a:solidFill>
            <a:srgbClr val="FFFFFF">
              <a:alpha val="5000"/>
            </a:srgbClr>
          </a:solidFill>
          <a:ln w="12700" cap="flat" cmpd="sng">
            <a:solidFill>
              <a:srgbClr val="FF9F1C">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3886200"/>
            <a:ext cx="609600" cy="609600"/>
          </a:xfrm>
          <a:prstGeom prst="rect">
            <a:avLst/>
          </a:prstGeom>
        </p:spPr>
      </p:pic>
      <p:sp>
        <p:nvSpPr>
          <p:cNvPr id="13" name="AutoShape 13"/>
          <p:cNvSpPr/>
          <p:nvPr/>
        </p:nvSpPr>
        <p:spPr>
          <a:xfrm>
            <a:off x="7112000" y="3619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Graph Construction Time Reduced</a:t>
            </a:r>
            <a:endParaRPr lang="en-US" sz="1100"/>
          </a:p>
        </p:txBody>
      </p:sp>
      <p:sp>
        <p:nvSpPr>
          <p:cNvPr id="14" name="AutoShape 14"/>
          <p:cNvSpPr/>
          <p:nvPr/>
        </p:nvSpPr>
        <p:spPr>
          <a:xfrm>
            <a:off x="7112000" y="40005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8C8C8"/>
                </a:solidFill>
                <a:latin typeface="Noto Sans SC"/>
                <a:ea typeface="Noto Sans SC"/>
                <a:cs typeface="Noto Sans SC"/>
                <a:sym typeface="Noto Sans SC"/>
              </a:rPr>
              <a:t>Speed increased by</a:t>
            </a:r>
            <a:r>
              <a:rPr lang="en-US" sz="2000" b="1" i="0" u="none" strike="noStrike">
                <a:solidFill>
                  <a:srgbClr val="FF9F1C"/>
                </a:solidFill>
                <a:latin typeface="Noto Sans SC"/>
                <a:ea typeface="Noto Sans SC"/>
                <a:cs typeface="Noto Sans SC"/>
                <a:sym typeface="Noto Sans SC"/>
              </a:rPr>
              <a:t>30%~50%</a:t>
            </a:r>
            <a:r>
              <a:rPr lang="en-US" sz="1300" b="0" i="0" u="none" strike="noStrike">
                <a:solidFill>
                  <a:srgbClr val="C8C8C8"/>
                </a:solidFill>
                <a:latin typeface="Noto Sans SC"/>
                <a:ea typeface="Noto Sans SC"/>
                <a:cs typeface="Noto Sans SC"/>
                <a:sym typeface="Noto Sans SC"/>
              </a:rPr>
              <a:t>via batch memory access.</a:t>
            </a:r>
            <a:endParaRPr lang="en-US" sz="1100"/>
          </a:p>
        </p:txBody>
      </p:sp>
      <p:sp>
        <p:nvSpPr>
          <p:cNvPr id="15" name="AutoShape 15"/>
          <p:cNvSpPr/>
          <p:nvPr/>
        </p:nvSpPr>
        <p:spPr>
          <a:xfrm>
            <a:off x="762000" y="5334000"/>
            <a:ext cx="10160000" cy="762000"/>
          </a:xfrm>
          <a:prstGeom prst="roundRect">
            <a:avLst>
              <a:gd name="adj" fmla="val 16666"/>
            </a:avLst>
          </a:prstGeom>
          <a:gradFill rotWithShape="1">
            <a:gsLst>
              <a:gs pos="0">
                <a:srgbClr val="41EAD4">
                  <a:alpha val="10000"/>
                </a:srgbClr>
              </a:gs>
              <a:gs pos="100000">
                <a:srgbClr val="FF9F1C">
                  <a:alpha val="1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016000" y="54610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DCDCDC"/>
                </a:solidFill>
                <a:latin typeface="Noto Sans SC"/>
                <a:ea typeface="Noto Sans SC"/>
                <a:cs typeface="Noto Sans SC"/>
                <a:sym typeface="Noto Sans SC"/>
              </a:rPr>
              <a:t>Conclusion: Graph compression solves the memory bottleneck for large-scale graphs and brings significant performance gains through batch access.</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01752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Related Work Comparison</a:t>
            </a:r>
            <a:endParaRPr lang="en-US" sz="1100"/>
          </a:p>
        </p:txBody>
      </p:sp>
      <p:sp>
        <p:nvSpPr>
          <p:cNvPr id="5" name="AutoShape 5"/>
          <p:cNvSpPr/>
          <p:nvPr/>
        </p:nvSpPr>
        <p:spPr>
          <a:xfrm>
            <a:off x="762000" y="1206500"/>
            <a:ext cx="762000" cy="50800"/>
          </a:xfrm>
          <a:prstGeom prst="roundRect">
            <a:avLst>
              <a:gd name="adj" fmla="val 0"/>
            </a:avLst>
          </a:prstGeom>
          <a:solidFill>
            <a:srgbClr val="41EA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4605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90196"/>
                  </a:srgbClr>
                </a:solidFill>
                <a:latin typeface="Noto Sans SC"/>
                <a:ea typeface="Noto Sans SC"/>
                <a:cs typeface="Noto Sans SC"/>
                <a:sym typeface="Noto Sans SC"/>
              </a:rPr>
              <a:t>The comparison shows that GraphService surpasses existing work in comprehensive performance, especially with significant advantages in graph construction efficiency and utilization of communication topology.</a:t>
            </a:r>
            <a:endParaRPr lang="en-US" sz="1100"/>
          </a:p>
        </p:txBody>
      </p:sp>
      <p:graphicFrame>
        <p:nvGraphicFramePr>
          <p:cNvPr id="7" name="Table 7"/>
          <p:cNvGraphicFramePr>
            <a:graphicFrameLocks noGrp="1"/>
          </p:cNvGraphicFramePr>
          <p:nvPr/>
        </p:nvGraphicFramePr>
        <p:xfrm>
          <a:off x="762000" y="2413000"/>
          <a:ext cx="10668000" cy="2438400"/>
        </p:xfrm>
        <a:graphic>
          <a:graphicData uri="http://schemas.openxmlformats.org/drawingml/2006/table">
            <a:tbl>
              <a:tblPr>
                <a:effectLst/>
              </a:tblPr>
              <a:tblGrid>
                <a:gridCol w="2286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159000">
                  <a:extLst>
                    <a:ext uri="{9D8B030D-6E8A-4147-A177-3AD203B41FA5}">
                      <a16:colId xmlns:a16="http://schemas.microsoft.com/office/drawing/2014/main" val="20003"/>
                    </a:ext>
                  </a:extLst>
                </a:gridCol>
                <a:gridCol w="2159000">
                  <a:extLst>
                    <a:ext uri="{9D8B030D-6E8A-4147-A177-3AD203B41FA5}">
                      <a16:colId xmlns:a16="http://schemas.microsoft.com/office/drawing/2014/main" val="20004"/>
                    </a:ext>
                  </a:extLst>
                </a:gridCol>
              </a:tblGrid>
              <a:tr h="558800">
                <a:tc>
                  <a:txBody>
                    <a:bodyPr/>
                    <a:lstStyle/>
                    <a:p>
                      <a:pPr indent="0" algn="ctr">
                        <a:lnSpc>
                          <a:spcPct val="100000"/>
                        </a:lnSpc>
                        <a:defRPr/>
                      </a:pPr>
                      <a:r>
                        <a:rPr lang="en-US" sz="1400" b="1" i="0" u="none" strike="noStrike">
                          <a:solidFill>
                            <a:srgbClr val="41EAD4"/>
                          </a:solidFill>
                          <a:latin typeface="Noto Sans SC"/>
                          <a:ea typeface="Noto Sans SC"/>
                          <a:cs typeface="Noto Sans SC"/>
                          <a:sym typeface="Noto Sans SC"/>
                        </a:rPr>
                        <a:t>System</a:t>
                      </a:r>
                      <a:endParaRPr lang="en-US" sz="1100"/>
                    </a:p>
                  </a:txBody>
                  <a:tcPr marL="101600" marR="101600" marT="101600" marB="101600" anchor="ctr">
                    <a:lnL>
                      <a:noFill/>
                    </a:lnL>
                    <a:lnR>
                      <a:noFill/>
                    </a:lnR>
                    <a:lnT>
                      <a:noFill/>
                    </a:lnT>
                    <a:lnB w="25400" cap="flat" cmpd="sng" algn="ctr">
                      <a:solidFill>
                        <a:srgbClr val="41EAD4"/>
                      </a:solidFill>
                      <a:prstDash val="solid"/>
                      <a:round/>
                      <a:headEnd type="none" w="med" len="med"/>
                      <a:tailEnd type="none" w="med" len="med"/>
                    </a:lnB>
                    <a:solidFill>
                      <a:srgbClr val="41EAD4">
                        <a:alpha val="20000"/>
                      </a:srgbClr>
                    </a:solidFill>
                  </a:tcPr>
                </a:tc>
                <a:tc>
                  <a:txBody>
                    <a:bodyPr/>
                    <a:lstStyle/>
                    <a:p>
                      <a:pPr indent="0" algn="ctr">
                        <a:lnSpc>
                          <a:spcPct val="100000"/>
                        </a:lnSpc>
                        <a:defRPr/>
                      </a:pPr>
                      <a:r>
                        <a:rPr lang="en-US" sz="1300" b="1" i="0" u="none" strike="noStrike">
                          <a:solidFill>
                            <a:srgbClr val="41EAD4"/>
                          </a:solidFill>
                          <a:latin typeface="Noto Sans SC"/>
                          <a:ea typeface="Noto Sans SC"/>
                          <a:cs typeface="Noto Sans SC"/>
                          <a:sym typeface="Noto Sans SC"/>
                        </a:rPr>
                        <a:t>Hierarchy-aware Part.</a:t>
                      </a:r>
                      <a:endParaRPr lang="en-US" sz="1100"/>
                    </a:p>
                  </a:txBody>
                  <a:tcPr marL="101600" marR="101600" marT="101600" marB="101600" anchor="ctr">
                    <a:lnL>
                      <a:noFill/>
                    </a:lnL>
                    <a:lnR>
                      <a:noFill/>
                    </a:lnR>
                    <a:lnT>
                      <a:noFill/>
                    </a:lnT>
                    <a:lnB w="25400" cap="flat" cmpd="sng" algn="ctr">
                      <a:solidFill>
                        <a:srgbClr val="41EAD4"/>
                      </a:solidFill>
                      <a:prstDash val="solid"/>
                      <a:round/>
                      <a:headEnd type="none" w="med" len="med"/>
                      <a:tailEnd type="none" w="med" len="med"/>
                    </a:lnB>
                    <a:solidFill>
                      <a:srgbClr val="41EAD4">
                        <a:alpha val="20000"/>
                      </a:srgbClr>
                    </a:solidFill>
                  </a:tcPr>
                </a:tc>
                <a:tc>
                  <a:txBody>
                    <a:bodyPr/>
                    <a:lstStyle/>
                    <a:p>
                      <a:pPr indent="0" algn="ctr">
                        <a:lnSpc>
                          <a:spcPct val="100000"/>
                        </a:lnSpc>
                        <a:defRPr/>
                      </a:pPr>
                      <a:r>
                        <a:rPr lang="en-US" sz="1400" b="1" i="0" u="none" strike="noStrike">
                          <a:solidFill>
                            <a:srgbClr val="41EAD4"/>
                          </a:solidFill>
                          <a:latin typeface="Noto Sans SC"/>
                          <a:ea typeface="Noto Sans SC"/>
                          <a:cs typeface="Noto Sans SC"/>
                          <a:sym typeface="Noto Sans SC"/>
                        </a:rPr>
                        <a:t>Graph Comp.</a:t>
                      </a:r>
                      <a:endParaRPr lang="en-US" sz="1100"/>
                    </a:p>
                  </a:txBody>
                  <a:tcPr marL="101600" marR="101600" marT="101600" marB="101600" anchor="ctr">
                    <a:lnL>
                      <a:noFill/>
                    </a:lnL>
                    <a:lnR>
                      <a:noFill/>
                    </a:lnR>
                    <a:lnT>
                      <a:noFill/>
                    </a:lnT>
                    <a:lnB w="25400" cap="flat" cmpd="sng" algn="ctr">
                      <a:solidFill>
                        <a:srgbClr val="41EAD4"/>
                      </a:solidFill>
                      <a:prstDash val="solid"/>
                      <a:round/>
                      <a:headEnd type="none" w="med" len="med"/>
                      <a:tailEnd type="none" w="med" len="med"/>
                    </a:lnB>
                    <a:solidFill>
                      <a:srgbClr val="41EAD4">
                        <a:alpha val="20000"/>
                      </a:srgbClr>
                    </a:solidFill>
                  </a:tcPr>
                </a:tc>
                <a:tc>
                  <a:txBody>
                    <a:bodyPr/>
                    <a:lstStyle/>
                    <a:p>
                      <a:pPr indent="0" algn="ctr">
                        <a:lnSpc>
                          <a:spcPct val="100000"/>
                        </a:lnSpc>
                        <a:defRPr/>
                      </a:pPr>
                      <a:r>
                        <a:rPr lang="en-US" sz="1300" b="1" i="0" u="none" strike="noStrike">
                          <a:solidFill>
                            <a:srgbClr val="41EAD4"/>
                          </a:solidFill>
                          <a:latin typeface="Noto Sans SC"/>
                          <a:ea typeface="Noto Sans SC"/>
                          <a:cs typeface="Noto Sans SC"/>
                          <a:sym typeface="Noto Sans SC"/>
                        </a:rPr>
                        <a:t>Graph500 Perf.</a:t>
                      </a:r>
                      <a:endParaRPr lang="en-US" sz="1100"/>
                    </a:p>
                  </a:txBody>
                  <a:tcPr marL="101600" marR="101600" marT="101600" marB="101600" anchor="ctr">
                    <a:lnL>
                      <a:noFill/>
                    </a:lnL>
                    <a:lnR>
                      <a:noFill/>
                    </a:lnR>
                    <a:lnT>
                      <a:noFill/>
                    </a:lnT>
                    <a:lnB w="25400" cap="flat" cmpd="sng" algn="ctr">
                      <a:solidFill>
                        <a:srgbClr val="41EAD4"/>
                      </a:solidFill>
                      <a:prstDash val="solid"/>
                      <a:round/>
                      <a:headEnd type="none" w="med" len="med"/>
                      <a:tailEnd type="none" w="med" len="med"/>
                    </a:lnB>
                    <a:solidFill>
                      <a:srgbClr val="41EAD4">
                        <a:alpha val="20000"/>
                      </a:srgbClr>
                    </a:solidFill>
                  </a:tcPr>
                </a:tc>
                <a:tc>
                  <a:txBody>
                    <a:bodyPr/>
                    <a:lstStyle/>
                    <a:p>
                      <a:pPr indent="0" algn="ctr">
                        <a:lnSpc>
                          <a:spcPct val="100000"/>
                        </a:lnSpc>
                        <a:defRPr/>
                      </a:pPr>
                      <a:r>
                        <a:rPr lang="en-US" sz="1300" b="1" i="0" u="none" strike="noStrike">
                          <a:solidFill>
                            <a:srgbClr val="41EAD4"/>
                          </a:solidFill>
                          <a:latin typeface="Noto Sans SC"/>
                          <a:ea typeface="Noto Sans SC"/>
                          <a:cs typeface="Noto Sans SC"/>
                          <a:sym typeface="Noto Sans SC"/>
                        </a:rPr>
                        <a:t>Real Graph Perf.</a:t>
                      </a:r>
                      <a:endParaRPr lang="en-US" sz="1100"/>
                    </a:p>
                  </a:txBody>
                  <a:tcPr marL="101600" marR="101600" marT="101600" marB="101600" anchor="ctr">
                    <a:lnL>
                      <a:noFill/>
                    </a:lnL>
                    <a:lnR>
                      <a:noFill/>
                    </a:lnR>
                    <a:lnT>
                      <a:noFill/>
                    </a:lnT>
                    <a:lnB w="25400" cap="flat" cmpd="sng" algn="ctr">
                      <a:solidFill>
                        <a:srgbClr val="41EAD4"/>
                      </a:solidFill>
                      <a:prstDash val="solid"/>
                      <a:round/>
                      <a:headEnd type="none" w="med" len="med"/>
                      <a:tailEnd type="none" w="med" len="med"/>
                    </a:lnB>
                    <a:solidFill>
                      <a:srgbClr val="41EAD4">
                        <a:alpha val="20000"/>
                      </a:srgbClr>
                    </a:solidFill>
                  </a:tcPr>
                </a:tc>
                <a:extLst>
                  <a:ext uri="{0D108BD9-81ED-4DB2-BD59-A6C34878D82A}">
                    <a16:rowId xmlns:a16="http://schemas.microsoft.com/office/drawing/2014/main" val="10000"/>
                  </a:ext>
                </a:extLst>
              </a:tr>
              <a:tr h="457200">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Gemini</a:t>
                      </a:r>
                      <a:endParaRPr lang="en-US" sz="1100"/>
                    </a:p>
                  </a:txBody>
                  <a:tcPr marL="101600" marR="101600" marT="101600" marB="101600" anchor="ctr">
                    <a:lnL>
                      <a:noFill/>
                    </a:lnL>
                    <a:lnR>
                      <a:noFill/>
                    </a:lnR>
                    <a:lnT w="25400" cap="flat" cmpd="sng" algn="ctr">
                      <a:solidFill>
                        <a:srgbClr val="41EAD4"/>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a:t>
                      </a:r>
                      <a:endParaRPr lang="en-US" sz="1100"/>
                    </a:p>
                  </a:txBody>
                  <a:tcPr marL="101600" marR="101600" marT="101600" marB="101600" anchor="ctr">
                    <a:lnL>
                      <a:noFill/>
                    </a:lnL>
                    <a:lnR>
                      <a:noFill/>
                    </a:lnR>
                    <a:lnT w="25400" cap="flat" cmpd="sng" algn="ctr">
                      <a:solidFill>
                        <a:srgbClr val="41EAD4"/>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a:t>
                      </a:r>
                      <a:endParaRPr lang="en-US" sz="1100"/>
                    </a:p>
                  </a:txBody>
                  <a:tcPr marL="101600" marR="101600" marT="101600" marB="101600" anchor="ctr">
                    <a:lnL>
                      <a:noFill/>
                    </a:lnL>
                    <a:lnR>
                      <a:noFill/>
                    </a:lnR>
                    <a:lnT w="25400" cap="flat" cmpd="sng" algn="ctr">
                      <a:solidFill>
                        <a:srgbClr val="41EAD4"/>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a:t>
                      </a:r>
                      <a:endParaRPr lang="en-US" sz="1100"/>
                    </a:p>
                  </a:txBody>
                  <a:tcPr marL="101600" marR="101600" marT="101600" marB="101600" anchor="ctr">
                    <a:lnL>
                      <a:noFill/>
                    </a:lnL>
                    <a:lnR>
                      <a:noFill/>
                    </a:lnR>
                    <a:lnT w="25400" cap="flat" cmpd="sng" algn="ctr">
                      <a:solidFill>
                        <a:srgbClr val="41EAD4"/>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Baseline</a:t>
                      </a:r>
                      <a:endParaRPr lang="en-US" sz="1100"/>
                    </a:p>
                  </a:txBody>
                  <a:tcPr marL="101600" marR="101600" marT="101600" marB="101600" anchor="ctr">
                    <a:lnL>
                      <a:noFill/>
                    </a:lnL>
                    <a:lnR>
                      <a:noFill/>
                    </a:lnR>
                    <a:lnT w="25400" cap="flat" cmpd="sng" algn="ctr">
                      <a:solidFill>
                        <a:srgbClr val="41EAD4"/>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1"/>
                  </a:ext>
                </a:extLst>
              </a:tr>
              <a:tr h="457200">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Gluon</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Baseline</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457200">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GraphScope</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9F1C"/>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9F1C"/>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9F1C"/>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9F1C"/>
                      </a:solidFill>
                      <a:prstDash val="solid"/>
                      <a:round/>
                      <a:headEnd type="none" w="med" len="med"/>
                      <a:tailEnd type="none" w="med" len="med"/>
                    </a:lnB>
                    <a:noFill/>
                  </a:tcPr>
                </a:tc>
                <a:tc>
                  <a:txBody>
                    <a:bodyPr/>
                    <a:lstStyle/>
                    <a:p>
                      <a:pPr indent="0" algn="ctr">
                        <a:lnSpc>
                          <a:spcPct val="100000"/>
                        </a:lnSpc>
                        <a:defRPr/>
                      </a:pPr>
                      <a:r>
                        <a:rPr lang="en-US" sz="1300" b="0" i="0" u="none" strike="noStrike">
                          <a:solidFill>
                            <a:srgbClr val="DCDCDC"/>
                          </a:solidFill>
                          <a:latin typeface="Noto Sans SC"/>
                          <a:ea typeface="Noto Sans SC"/>
                          <a:cs typeface="Noto Sans SC"/>
                          <a:sym typeface="Noto Sans SC"/>
                        </a:rPr>
                        <a:t>Baseline</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9F1C"/>
                      </a:solidFill>
                      <a:prstDash val="solid"/>
                      <a:round/>
                      <a:headEnd type="none" w="med" len="med"/>
                      <a:tailEnd type="none" w="med" len="med"/>
                    </a:lnB>
                    <a:noFill/>
                  </a:tcPr>
                </a:tc>
                <a:extLst>
                  <a:ext uri="{0D108BD9-81ED-4DB2-BD59-A6C34878D82A}">
                    <a16:rowId xmlns:a16="http://schemas.microsoft.com/office/drawing/2014/main" val="10003"/>
                  </a:ext>
                </a:extLst>
              </a:tr>
              <a:tr h="508000">
                <a:tc>
                  <a:txBody>
                    <a:bodyPr/>
                    <a:lstStyle/>
                    <a:p>
                      <a:pPr indent="0" algn="ctr">
                        <a:lnSpc>
                          <a:spcPct val="100000"/>
                        </a:lnSpc>
                        <a:defRPr/>
                      </a:pPr>
                      <a:r>
                        <a:rPr lang="en-US" sz="1400" b="1" i="0" u="none" strike="noStrike">
                          <a:solidFill>
                            <a:srgbClr val="FF9F1C"/>
                          </a:solidFill>
                          <a:latin typeface="Noto Sans SC"/>
                          <a:ea typeface="Noto Sans SC"/>
                          <a:cs typeface="Noto Sans SC"/>
                          <a:sym typeface="Noto Sans SC"/>
                        </a:rPr>
                        <a:t>GraphService</a:t>
                      </a:r>
                      <a:endParaRPr lang="en-US" sz="1100"/>
                    </a:p>
                  </a:txBody>
                  <a:tcPr marL="101600" marR="101600" marT="101600" marB="101600" anchor="ctr">
                    <a:lnL w="12700" cap="flat" cmpd="sng" algn="ctr">
                      <a:solidFill>
                        <a:srgbClr val="FF9F1C"/>
                      </a:solidFill>
                      <a:prstDash val="solid"/>
                      <a:round/>
                      <a:headEnd type="none" w="med" len="med"/>
                      <a:tailEnd type="none" w="med" len="med"/>
                    </a:lnL>
                    <a:lnR>
                      <a:noFill/>
                    </a:lnR>
                    <a:lnT w="12700" cap="flat" cmpd="sng" algn="ctr">
                      <a:solidFill>
                        <a:srgbClr val="FF9F1C"/>
                      </a:solidFill>
                      <a:prstDash val="solid"/>
                      <a:round/>
                      <a:headEnd type="none" w="med" len="med"/>
                      <a:tailEnd type="none" w="med" len="med"/>
                    </a:lnT>
                    <a:lnB w="12700" cap="flat" cmpd="sng" algn="ctr">
                      <a:solidFill>
                        <a:srgbClr val="FF9F1C"/>
                      </a:solidFill>
                      <a:prstDash val="solid"/>
                      <a:round/>
                      <a:headEnd type="none" w="med" len="med"/>
                      <a:tailEnd type="none" w="med" len="med"/>
                    </a:lnB>
                    <a:solidFill>
                      <a:srgbClr val="FF9F1C">
                        <a:alpha val="15000"/>
                      </a:srgbClr>
                    </a:solidFill>
                  </a:tcPr>
                </a:tc>
                <a:tc>
                  <a:txBody>
                    <a:bodyPr/>
                    <a:lstStyle/>
                    <a:p>
                      <a:pPr indent="0" algn="ctr">
                        <a:lnSpc>
                          <a:spcPct val="100000"/>
                        </a:lnSpc>
                        <a:defRPr/>
                      </a:pPr>
                      <a:r>
                        <a:rPr lang="en-US" sz="1400" b="1" i="0" u="none" strike="noStrike">
                          <a:solidFill>
                            <a:srgbClr val="FF9F1C"/>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FF9F1C"/>
                      </a:solidFill>
                      <a:prstDash val="solid"/>
                      <a:round/>
                      <a:headEnd type="none" w="med" len="med"/>
                      <a:tailEnd type="none" w="med" len="med"/>
                    </a:lnT>
                    <a:lnB w="12700" cap="flat" cmpd="sng" algn="ctr">
                      <a:solidFill>
                        <a:srgbClr val="FF9F1C"/>
                      </a:solidFill>
                      <a:prstDash val="solid"/>
                      <a:round/>
                      <a:headEnd type="none" w="med" len="med"/>
                      <a:tailEnd type="none" w="med" len="med"/>
                    </a:lnB>
                    <a:solidFill>
                      <a:srgbClr val="FF9F1C">
                        <a:alpha val="15000"/>
                      </a:srgbClr>
                    </a:solidFill>
                  </a:tcPr>
                </a:tc>
                <a:tc>
                  <a:txBody>
                    <a:bodyPr/>
                    <a:lstStyle/>
                    <a:p>
                      <a:pPr indent="0" algn="ctr">
                        <a:lnSpc>
                          <a:spcPct val="100000"/>
                        </a:lnSpc>
                        <a:defRPr/>
                      </a:pPr>
                      <a:r>
                        <a:rPr lang="en-US" sz="1400" b="1" i="0" u="none" strike="noStrike">
                          <a:solidFill>
                            <a:srgbClr val="FF9F1C"/>
                          </a:solidFill>
                          <a:latin typeface="Noto Sans SC"/>
                          <a:ea typeface="Noto Sans SC"/>
                          <a:cs typeface="Noto Sans SC"/>
                          <a:sym typeface="Noto Sans SC"/>
                        </a:rPr>
                        <a:t>✅</a:t>
                      </a:r>
                      <a:endParaRPr lang="en-US" sz="1100"/>
                    </a:p>
                  </a:txBody>
                  <a:tcPr marL="101600" marR="101600" marT="101600" marB="101600" anchor="ctr">
                    <a:lnL>
                      <a:noFill/>
                    </a:lnL>
                    <a:lnR>
                      <a:noFill/>
                    </a:lnR>
                    <a:lnT w="12700" cap="flat" cmpd="sng" algn="ctr">
                      <a:solidFill>
                        <a:srgbClr val="FF9F1C"/>
                      </a:solidFill>
                      <a:prstDash val="solid"/>
                      <a:round/>
                      <a:headEnd type="none" w="med" len="med"/>
                      <a:tailEnd type="none" w="med" len="med"/>
                    </a:lnT>
                    <a:lnB w="12700" cap="flat" cmpd="sng" algn="ctr">
                      <a:solidFill>
                        <a:srgbClr val="FF9F1C"/>
                      </a:solidFill>
                      <a:prstDash val="solid"/>
                      <a:round/>
                      <a:headEnd type="none" w="med" len="med"/>
                      <a:tailEnd type="none" w="med" len="med"/>
                    </a:lnB>
                    <a:solidFill>
                      <a:srgbClr val="FF9F1C">
                        <a:alpha val="15000"/>
                      </a:srgbClr>
                    </a:solidFill>
                  </a:tcPr>
                </a:tc>
                <a:tc>
                  <a:txBody>
                    <a:bodyPr/>
                    <a:lstStyle/>
                    <a:p>
                      <a:pPr indent="0" algn="ctr">
                        <a:lnSpc>
                          <a:spcPct val="100000"/>
                        </a:lnSpc>
                        <a:defRPr/>
                      </a:pPr>
                      <a:r>
                        <a:rPr lang="en-US" sz="1400" b="1" i="0" u="none" strike="noStrike">
                          <a:solidFill>
                            <a:srgbClr val="FF9F1C"/>
                          </a:solidFill>
                          <a:latin typeface="Noto Sans SC"/>
                          <a:ea typeface="Noto Sans SC"/>
                          <a:cs typeface="Noto Sans SC"/>
                          <a:sym typeface="Noto Sans SC"/>
                        </a:rPr>
                        <a:t>1.17x</a:t>
                      </a:r>
                      <a:endParaRPr lang="en-US" sz="1100"/>
                    </a:p>
                  </a:txBody>
                  <a:tcPr marL="101600" marR="101600" marT="101600" marB="101600" anchor="ctr">
                    <a:lnL w="12700" cap="flat" cmpd="sng" algn="ctr">
                      <a:noFill/>
                      <a:prstDash val="solid"/>
                      <a:round/>
                      <a:headEnd type="none" w="med" len="med"/>
                      <a:tailEnd type="none" w="med" len="med"/>
                    </a:lnL>
                    <a:lnR>
                      <a:noFill/>
                    </a:lnR>
                    <a:lnT w="12700" cap="flat" cmpd="sng" algn="ctr">
                      <a:solidFill>
                        <a:srgbClr val="FF9F1C"/>
                      </a:solidFill>
                      <a:prstDash val="solid"/>
                      <a:round/>
                      <a:headEnd type="none" w="med" len="med"/>
                      <a:tailEnd type="none" w="med" len="med"/>
                    </a:lnT>
                    <a:lnB w="12700" cap="flat" cmpd="sng" algn="ctr">
                      <a:solidFill>
                        <a:srgbClr val="FF9F1C"/>
                      </a:solidFill>
                      <a:prstDash val="solid"/>
                      <a:round/>
                      <a:headEnd type="none" w="med" len="med"/>
                      <a:tailEnd type="none" w="med" len="med"/>
                    </a:lnB>
                    <a:solidFill>
                      <a:srgbClr val="FF9F1C">
                        <a:alpha val="15000"/>
                      </a:srgbClr>
                    </a:solidFill>
                  </a:tcPr>
                </a:tc>
                <a:tc>
                  <a:txBody>
                    <a:bodyPr/>
                    <a:lstStyle/>
                    <a:p>
                      <a:pPr indent="0" algn="ctr">
                        <a:lnSpc>
                          <a:spcPct val="100000"/>
                        </a:lnSpc>
                        <a:defRPr/>
                      </a:pPr>
                      <a:r>
                        <a:rPr lang="en-US" sz="1300" b="1" i="0" u="none" strike="noStrike">
                          <a:solidFill>
                            <a:srgbClr val="FF9F1C"/>
                          </a:solidFill>
                          <a:latin typeface="Noto Sans SC"/>
                          <a:ea typeface="Noto Sans SC"/>
                          <a:cs typeface="Noto Sans SC"/>
                          <a:sym typeface="Noto Sans SC"/>
                        </a:rPr>
                        <a:t>Up to 18.9x</a:t>
                      </a:r>
                      <a:endParaRPr lang="en-US" sz="1100"/>
                    </a:p>
                  </a:txBody>
                  <a:tcPr marL="101600" marR="101600" marT="101600" marB="101600" anchor="ctr">
                    <a:lnL>
                      <a:noFill/>
                    </a:lnL>
                    <a:lnR w="12700" cap="flat" cmpd="sng" algn="ctr">
                      <a:solidFill>
                        <a:srgbClr val="FF9F1C"/>
                      </a:solidFill>
                      <a:prstDash val="solid"/>
                      <a:round/>
                      <a:headEnd type="none" w="med" len="med"/>
                      <a:tailEnd type="none" w="med" len="med"/>
                    </a:lnR>
                    <a:lnT w="12700" cap="flat" cmpd="sng" algn="ctr">
                      <a:solidFill>
                        <a:srgbClr val="FF9F1C"/>
                      </a:solidFill>
                      <a:prstDash val="solid"/>
                      <a:round/>
                      <a:headEnd type="none" w="med" len="med"/>
                      <a:tailEnd type="none" w="med" len="med"/>
                    </a:lnT>
                    <a:lnB w="12700" cap="flat" cmpd="sng" algn="ctr">
                      <a:solidFill>
                        <a:srgbClr val="FF9F1C"/>
                      </a:solidFill>
                      <a:prstDash val="solid"/>
                      <a:round/>
                      <a:headEnd type="none" w="med" len="med"/>
                      <a:tailEnd type="none" w="med" len="med"/>
                    </a:lnB>
                    <a:solidFill>
                      <a:srgbClr val="FF9F1C">
                        <a:alpha val="15000"/>
                      </a:srgbClr>
                    </a:solidFill>
                  </a:tcPr>
                </a:tc>
                <a:extLst>
                  <a:ext uri="{0D108BD9-81ED-4DB2-BD59-A6C34878D82A}">
                    <a16:rowId xmlns:a16="http://schemas.microsoft.com/office/drawing/2014/main" val="10004"/>
                  </a:ext>
                </a:extLst>
              </a:tr>
            </a:tbl>
          </a:graphicData>
        </a:graphic>
      </p:graphicFrame>
      <p:sp>
        <p:nvSpPr>
          <p:cNvPr id="8" name="AutoShape 8"/>
          <p:cNvSpPr/>
          <p:nvPr/>
        </p:nvSpPr>
        <p:spPr>
          <a:xfrm>
            <a:off x="762000" y="5461000"/>
            <a:ext cx="10668000" cy="508000"/>
          </a:xfrm>
          <a:prstGeom prst="roundRect">
            <a:avLst>
              <a:gd name="adj" fmla="val 25000"/>
            </a:avLst>
          </a:prstGeom>
          <a:solidFill>
            <a:srgbClr val="41EAD4">
              <a:alpha val="10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588000"/>
            <a:ext cx="254000" cy="254000"/>
          </a:xfrm>
          <a:prstGeom prst="rect">
            <a:avLst/>
          </a:prstGeom>
        </p:spPr>
      </p:pic>
      <p:sp>
        <p:nvSpPr>
          <p:cNvPr id="10" name="AutoShape 10"/>
          <p:cNvSpPr/>
          <p:nvPr/>
        </p:nvSpPr>
        <p:spPr>
          <a:xfrm>
            <a:off x="1333500" y="5562600"/>
            <a:ext cx="990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41EAD4"/>
                </a:solidFill>
                <a:latin typeface="Noto Sans SC"/>
                <a:ea typeface="Noto Sans SC"/>
                <a:cs typeface="Noto Sans SC"/>
                <a:sym typeface="Noto Sans SC"/>
              </a:rPr>
              <a:t>Core Advantages:</a:t>
            </a:r>
            <a:r>
              <a:rPr lang="en-US" sz="1200" b="0" i="0" u="none" strike="noStrike">
                <a:solidFill>
                  <a:srgbClr val="DCDCDC"/>
                </a:solidFill>
                <a:latin typeface="Noto Sans SC"/>
                <a:ea typeface="Noto Sans SC"/>
                <a:cs typeface="Noto Sans SC"/>
                <a:sym typeface="Noto Sans SC"/>
              </a:rPr>
              <a:t>Unique "Hierarchy-aware Partitioning" and "Graph Compression" enable an order-of-magnitude performance breakthrough on real-world graph datasets.</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2540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Conclusion</a:t>
            </a:r>
            <a:endParaRPr lang="en-US" sz="1100"/>
          </a:p>
        </p:txBody>
      </p:sp>
      <p:sp>
        <p:nvSpPr>
          <p:cNvPr id="5" name="AutoShape 5"/>
          <p:cNvSpPr/>
          <p:nvPr/>
        </p:nvSpPr>
        <p:spPr>
          <a:xfrm>
            <a:off x="762000" y="1143000"/>
            <a:ext cx="762000" cy="50800"/>
          </a:xfrm>
          <a:prstGeom prst="roundRect">
            <a:avLst>
              <a:gd name="adj" fmla="val 0"/>
            </a:avLst>
          </a:prstGeom>
          <a:solidFill>
            <a:srgbClr val="41EA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524000"/>
            <a:ext cx="5588000" cy="1270000"/>
          </a:xfrm>
          <a:prstGeom prst="roundRect">
            <a:avLst>
              <a:gd name="adj" fmla="val 10000"/>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14500"/>
            <a:ext cx="406400" cy="406400"/>
          </a:xfrm>
          <a:prstGeom prst="rect">
            <a:avLst/>
          </a:prstGeom>
        </p:spPr>
      </p:pic>
      <p:sp>
        <p:nvSpPr>
          <p:cNvPr id="8" name="AutoShape 8"/>
          <p:cNvSpPr/>
          <p:nvPr/>
        </p:nvSpPr>
        <p:spPr>
          <a:xfrm>
            <a:off x="1524000" y="16764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1EAD4"/>
                </a:solidFill>
                <a:latin typeface="Noto Sans SC"/>
                <a:ea typeface="Noto Sans SC"/>
                <a:cs typeface="Noto Sans SC"/>
                <a:sym typeface="Noto Sans SC"/>
              </a:rPr>
              <a:t>Core Contribution: GraphService Constructor</a:t>
            </a:r>
            <a:endParaRPr lang="en-US" sz="1100"/>
          </a:p>
        </p:txBody>
      </p:sp>
      <p:sp>
        <p:nvSpPr>
          <p:cNvPr id="9" name="AutoShape 9"/>
          <p:cNvSpPr/>
          <p:nvPr/>
        </p:nvSpPr>
        <p:spPr>
          <a:xfrm>
            <a:off x="1524000" y="20574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Proposed a topology-aware graph constructor for large-scale graph applications, addressing traditional construction pain points.</a:t>
            </a:r>
            <a:endParaRPr lang="en-US" sz="1100"/>
          </a:p>
        </p:txBody>
      </p:sp>
      <p:sp>
        <p:nvSpPr>
          <p:cNvPr id="10" name="AutoShape 10"/>
          <p:cNvSpPr/>
          <p:nvPr/>
        </p:nvSpPr>
        <p:spPr>
          <a:xfrm>
            <a:off x="762000" y="2984500"/>
            <a:ext cx="5588000" cy="1270000"/>
          </a:xfrm>
          <a:prstGeom prst="roundRect">
            <a:avLst>
              <a:gd name="adj" fmla="val 10000"/>
            </a:avLst>
          </a:prstGeom>
          <a:solidFill>
            <a:srgbClr val="FFFFFF">
              <a:alpha val="5000"/>
            </a:srgbClr>
          </a:solidFill>
          <a:ln w="12700" cap="flat" cmpd="sng">
            <a:solidFill>
              <a:srgbClr val="FF9F1C">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175000"/>
            <a:ext cx="406400" cy="406400"/>
          </a:xfrm>
          <a:prstGeom prst="rect">
            <a:avLst/>
          </a:prstGeom>
        </p:spPr>
      </p:pic>
      <p:sp>
        <p:nvSpPr>
          <p:cNvPr id="12" name="AutoShape 12"/>
          <p:cNvSpPr/>
          <p:nvPr/>
        </p:nvSpPr>
        <p:spPr>
          <a:xfrm>
            <a:off x="1524000" y="31369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9F1C"/>
                </a:solidFill>
                <a:latin typeface="Noto Sans SC"/>
                <a:ea typeface="Noto Sans SC"/>
                <a:cs typeface="Noto Sans SC"/>
                <a:sym typeface="Noto Sans SC"/>
              </a:rPr>
              <a:t>Key Tech: Hierarchy-aware &amp; Compression</a:t>
            </a:r>
            <a:endParaRPr lang="en-US" sz="1100"/>
          </a:p>
        </p:txBody>
      </p:sp>
      <p:sp>
        <p:nvSpPr>
          <p:cNvPr id="13" name="AutoShape 13"/>
          <p:cNvSpPr/>
          <p:nvPr/>
        </p:nvSpPr>
        <p:spPr>
          <a:xfrm>
            <a:off x="1524000" y="35179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Employed hierarchy-aware partitioning and efficient compression to eliminate communication bottlenecks.</a:t>
            </a:r>
            <a:endParaRPr lang="en-US" sz="1100"/>
          </a:p>
        </p:txBody>
      </p:sp>
      <p:sp>
        <p:nvSpPr>
          <p:cNvPr id="14" name="AutoShape 14"/>
          <p:cNvSpPr/>
          <p:nvPr/>
        </p:nvSpPr>
        <p:spPr>
          <a:xfrm>
            <a:off x="762000" y="4445000"/>
            <a:ext cx="5588000" cy="1270000"/>
          </a:xfrm>
          <a:prstGeom prst="roundRect">
            <a:avLst>
              <a:gd name="adj" fmla="val 10000"/>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635500"/>
            <a:ext cx="406400" cy="406400"/>
          </a:xfrm>
          <a:prstGeom prst="rect">
            <a:avLst/>
          </a:prstGeom>
        </p:spPr>
      </p:pic>
      <p:sp>
        <p:nvSpPr>
          <p:cNvPr id="16" name="AutoShape 16"/>
          <p:cNvSpPr/>
          <p:nvPr/>
        </p:nvSpPr>
        <p:spPr>
          <a:xfrm>
            <a:off x="1524000" y="45974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1EAD4"/>
                </a:solidFill>
                <a:latin typeface="Noto Sans SC"/>
                <a:ea typeface="Noto Sans SC"/>
                <a:cs typeface="Noto Sans SC"/>
                <a:sym typeface="Noto Sans SC"/>
              </a:rPr>
              <a:t>Superior Performance: Order of Magnitude</a:t>
            </a:r>
            <a:endParaRPr lang="en-US" sz="1100"/>
          </a:p>
        </p:txBody>
      </p:sp>
      <p:sp>
        <p:nvSpPr>
          <p:cNvPr id="17" name="AutoShape 17"/>
          <p:cNvSpPr/>
          <p:nvPr/>
        </p:nvSpPr>
        <p:spPr>
          <a:xfrm>
            <a:off x="1524000" y="49784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Surpassed existing systems on Graph500 benchmarks and real-world data, achieving breakthrough performance.</a:t>
            </a:r>
            <a:endParaRPr lang="en-US" sz="1100"/>
          </a:p>
        </p:txBody>
      </p:sp>
      <p:pic>
        <p:nvPicPr>
          <p:cNvPr id="18" name="Picture 18"/>
          <p:cNvPicPr>
            <a:picLocks noChangeAspect="1"/>
          </p:cNvPicPr>
          <p:nvPr/>
        </p:nvPicPr>
        <p:blipFill>
          <a:blip r:embed="rId10"/>
          <a:srcRect/>
          <a:stretch>
            <a:fillRect/>
          </a:stretch>
        </p:blipFill>
        <p:spPr>
          <a:xfrm>
            <a:off x="7874000" y="1905000"/>
            <a:ext cx="3048000" cy="3048000"/>
          </a:xfrm>
          <a:prstGeom prst="roundRect">
            <a:avLst>
              <a:gd name="adj" fmla="val 8333"/>
            </a:avLst>
          </a:prstGeom>
          <a:noFill/>
          <a:ln w="25400" cap="flat" cmpd="sng">
            <a:solidFill>
              <a:srgbClr val="41EAD4">
                <a:alpha val="50000"/>
              </a:srgbClr>
            </a:solidFill>
            <a:prstDash val="solid"/>
            <a:round/>
          </a:ln>
          <a:effectLst>
            <a:outerShdw blurRad="254000" dir="5400000" algn="tl" rotWithShape="0">
              <a:srgbClr val="41EAD4">
                <a:alpha val="40000"/>
              </a:srgbClr>
            </a:outerShdw>
          </a:effectLst>
        </p:spPr>
      </p:pic>
      <p:sp>
        <p:nvSpPr>
          <p:cNvPr id="19" name="AutoShape 19"/>
          <p:cNvSpPr/>
          <p:nvPr/>
        </p:nvSpPr>
        <p:spPr>
          <a:xfrm>
            <a:off x="7874000" y="5080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FFFFFF">
                    <a:alpha val="60000"/>
                  </a:srgbClr>
                </a:solidFill>
                <a:latin typeface="Noto Sans SC"/>
                <a:ea typeface="Noto Sans SC"/>
                <a:cs typeface="Noto Sans SC"/>
                <a:sym typeface="Noto Sans SC"/>
              </a:rPr>
              <a:t>GraphService Core Architecture Diagram</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25400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Future Work</a:t>
            </a:r>
            <a:endParaRPr lang="en-US" sz="1100"/>
          </a:p>
        </p:txBody>
      </p:sp>
      <p:sp>
        <p:nvSpPr>
          <p:cNvPr id="5" name="AutoShape 5"/>
          <p:cNvSpPr/>
          <p:nvPr/>
        </p:nvSpPr>
        <p:spPr>
          <a:xfrm>
            <a:off x="762000" y="1219200"/>
            <a:ext cx="762000" cy="50800"/>
          </a:xfrm>
          <a:prstGeom prst="roundRect">
            <a:avLst>
              <a:gd name="adj" fmla="val 0"/>
            </a:avLst>
          </a:prstGeom>
          <a:solidFill>
            <a:srgbClr val="41EAD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651000"/>
            <a:ext cx="10668000" cy="1270000"/>
          </a:xfrm>
          <a:prstGeom prst="roundRect">
            <a:avLst>
              <a:gd name="adj" fmla="val 10000"/>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2032000"/>
            <a:ext cx="508000" cy="508000"/>
          </a:xfrm>
          <a:prstGeom prst="rect">
            <a:avLst/>
          </a:prstGeom>
        </p:spPr>
      </p:pic>
      <p:sp>
        <p:nvSpPr>
          <p:cNvPr id="8" name="AutoShape 8"/>
          <p:cNvSpPr/>
          <p:nvPr/>
        </p:nvSpPr>
        <p:spPr>
          <a:xfrm>
            <a:off x="1905000" y="1841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Extend Application Scenarios &amp; Algorithm Support</a:t>
            </a:r>
            <a:endParaRPr lang="en-US" sz="1100"/>
          </a:p>
        </p:txBody>
      </p:sp>
      <p:sp>
        <p:nvSpPr>
          <p:cNvPr id="9" name="AutoShape 9"/>
          <p:cNvSpPr/>
          <p:nvPr/>
        </p:nvSpPr>
        <p:spPr>
          <a:xfrm>
            <a:off x="1905000" y="2260600"/>
            <a:ext cx="889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Extend GraphService to more types of graph algorithms and a wider range of application scenarios, breaking the limitations of single applications and releasing the potential of graph computing.</a:t>
            </a:r>
            <a:endParaRPr lang="en-US" sz="1100"/>
          </a:p>
        </p:txBody>
      </p:sp>
      <p:sp>
        <p:nvSpPr>
          <p:cNvPr id="10" name="AutoShape 10"/>
          <p:cNvSpPr/>
          <p:nvPr/>
        </p:nvSpPr>
        <p:spPr>
          <a:xfrm>
            <a:off x="762000" y="3175000"/>
            <a:ext cx="10668000" cy="1270000"/>
          </a:xfrm>
          <a:prstGeom prst="roundRect">
            <a:avLst>
              <a:gd name="adj" fmla="val 10000"/>
            </a:avLst>
          </a:prstGeom>
          <a:solidFill>
            <a:srgbClr val="FFFFFF">
              <a:alpha val="5000"/>
            </a:srgbClr>
          </a:solidFill>
          <a:ln w="12700" cap="flat" cmpd="sng">
            <a:solidFill>
              <a:srgbClr val="FF9F1C">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3556000"/>
            <a:ext cx="508000" cy="508000"/>
          </a:xfrm>
          <a:prstGeom prst="rect">
            <a:avLst/>
          </a:prstGeom>
        </p:spPr>
      </p:pic>
      <p:sp>
        <p:nvSpPr>
          <p:cNvPr id="12" name="AutoShape 12"/>
          <p:cNvSpPr/>
          <p:nvPr/>
        </p:nvSpPr>
        <p:spPr>
          <a:xfrm>
            <a:off x="1905000" y="3365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Optimize Process with GNN Training Frameworks</a:t>
            </a:r>
            <a:endParaRPr lang="en-US" sz="1100"/>
          </a:p>
        </p:txBody>
      </p:sp>
      <p:sp>
        <p:nvSpPr>
          <p:cNvPr id="13" name="AutoShape 13"/>
          <p:cNvSpPr/>
          <p:nvPr/>
        </p:nvSpPr>
        <p:spPr>
          <a:xfrm>
            <a:off x="1905000" y="3784600"/>
            <a:ext cx="889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Explore integration with Graph Neural Network (GNN) training frameworks to optimize the end-to-end process from graph construction to model training, improving overall efficiency.</a:t>
            </a:r>
            <a:endParaRPr lang="en-US" sz="1100"/>
          </a:p>
        </p:txBody>
      </p:sp>
      <p:sp>
        <p:nvSpPr>
          <p:cNvPr id="14" name="AutoShape 14"/>
          <p:cNvSpPr/>
          <p:nvPr/>
        </p:nvSpPr>
        <p:spPr>
          <a:xfrm>
            <a:off x="762000" y="4699000"/>
            <a:ext cx="10668000" cy="1270000"/>
          </a:xfrm>
          <a:prstGeom prst="roundRect">
            <a:avLst>
              <a:gd name="adj" fmla="val 10000"/>
            </a:avLst>
          </a:prstGeom>
          <a:solidFill>
            <a:srgbClr val="FFFFFF">
              <a:alpha val="5000"/>
            </a:srgbClr>
          </a:solidFill>
          <a:ln w="12700" cap="flat" cmpd="sng">
            <a:solidFill>
              <a:srgbClr val="41EAD4">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43000" y="5080000"/>
            <a:ext cx="508000" cy="508000"/>
          </a:xfrm>
          <a:prstGeom prst="rect">
            <a:avLst/>
          </a:prstGeom>
        </p:spPr>
      </p:pic>
      <p:sp>
        <p:nvSpPr>
          <p:cNvPr id="16" name="AutoShape 16"/>
          <p:cNvSpPr/>
          <p:nvPr/>
        </p:nvSpPr>
        <p:spPr>
          <a:xfrm>
            <a:off x="1905000" y="4889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Optimize Compression for Dynamic Structures</a:t>
            </a:r>
            <a:endParaRPr lang="en-US" sz="1100"/>
          </a:p>
        </p:txBody>
      </p:sp>
      <p:sp>
        <p:nvSpPr>
          <p:cNvPr id="17" name="AutoShape 17"/>
          <p:cNvSpPr/>
          <p:nvPr/>
        </p:nvSpPr>
        <p:spPr>
          <a:xfrm>
            <a:off x="1905000" y="5308600"/>
            <a:ext cx="889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Further optimize the graph compression algorithm to adapt to more complex and dynamically changing graph structures, addressing bottlenecks in large-scale graph storage and transmission.</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4191000" y="1524000"/>
            <a:ext cx="3810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800" b="1" i="0" u="none" strike="noStrike">
                <a:solidFill>
                  <a:srgbClr val="FFFFFF"/>
                </a:solidFill>
                <a:latin typeface="Noto Sans SC"/>
                <a:ea typeface="Noto Sans SC"/>
                <a:cs typeface="Noto Sans SC"/>
                <a:sym typeface="Noto Sans SC"/>
              </a:rPr>
              <a:t>Acknowledgements</a:t>
            </a:r>
            <a:endParaRPr lang="en-US" sz="1100"/>
          </a:p>
        </p:txBody>
      </p:sp>
      <p:sp>
        <p:nvSpPr>
          <p:cNvPr id="5" name="AutoShape 5"/>
          <p:cNvSpPr/>
          <p:nvPr/>
        </p:nvSpPr>
        <p:spPr>
          <a:xfrm>
            <a:off x="5842000" y="2286000"/>
            <a:ext cx="508000" cy="50800"/>
          </a:xfrm>
          <a:prstGeom prst="roundRect">
            <a:avLst>
              <a:gd name="adj" fmla="val 0"/>
            </a:avLst>
          </a:prstGeom>
          <a:gradFill rotWithShape="1">
            <a:gsLst>
              <a:gs pos="0">
                <a:srgbClr val="41EAD4">
                  <a:alpha val="100000"/>
                </a:srgbClr>
              </a:gs>
              <a:gs pos="100000">
                <a:srgbClr val="FF9F1C">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70000" y="2921000"/>
            <a:ext cx="965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DCDCDC"/>
                </a:solidFill>
                <a:latin typeface="Noto Sans SC"/>
                <a:ea typeface="Noto Sans SC"/>
                <a:cs typeface="Noto Sans SC"/>
                <a:sym typeface="Noto Sans SC"/>
              </a:rPr>
              <a:t>This work is supported by the National Natural Science Foundation of China and the PDL Innovation Research Fund.</a:t>
            </a:r>
            <a:endParaRPr lang="en-US" sz="1100"/>
          </a:p>
          <a:p>
            <a:pPr indent="0" algn="ctr">
              <a:lnSpc>
                <a:spcPct val="125000"/>
              </a:lnSpc>
            </a:pPr>
            <a:r>
              <a:rPr lang="en-US" sz="1600" b="0" i="0" u="none" strike="noStrike">
                <a:solidFill>
                  <a:srgbClr val="DCDCDC"/>
                </a:solidFill>
                <a:latin typeface="Noto Sans SC"/>
                <a:ea typeface="Noto Sans SC"/>
                <a:cs typeface="Noto Sans SC"/>
                <a:sym typeface="Noto Sans SC"/>
              </a:rPr>
              <a:t>Thanks to the contributions and collaboration of all team members.</a:t>
            </a: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800" y="4826000"/>
            <a:ext cx="406400" cy="406400"/>
          </a:xfrm>
          <a:prstGeom prst="rect">
            <a:avLst/>
          </a:prstGeom>
        </p:spPr>
      </p:pic>
      <p:sp>
        <p:nvSpPr>
          <p:cNvPr id="8" name="AutoShape 8"/>
          <p:cNvSpPr/>
          <p:nvPr/>
        </p:nvSpPr>
        <p:spPr>
          <a:xfrm>
            <a:off x="0" y="609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40000"/>
                  </a:srgbClr>
                </a:solidFill>
                <a:latin typeface="Noto Sans SC"/>
                <a:ea typeface="Noto Sans SC"/>
                <a:cs typeface="Noto Sans SC"/>
                <a:sym typeface="Noto Sans SC"/>
              </a:rPr>
              <a:t>2026 · Research Project Closing</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1524000"/>
            <a:ext cx="609600" cy="609600"/>
          </a:xfrm>
          <a:prstGeom prst="rect">
            <a:avLst/>
          </a:prstGeom>
        </p:spPr>
      </p:pic>
      <p:sp>
        <p:nvSpPr>
          <p:cNvPr id="5" name="AutoShape 5"/>
          <p:cNvSpPr/>
          <p:nvPr/>
        </p:nvSpPr>
        <p:spPr>
          <a:xfrm>
            <a:off x="4749800" y="2222500"/>
            <a:ext cx="2692400" cy="1016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6400" b="1" i="0" u="none" strike="noStrike">
                <a:solidFill>
                  <a:srgbClr val="41EAD4"/>
                </a:solidFill>
                <a:latin typeface="Noto Sans SC"/>
                <a:ea typeface="Noto Sans SC"/>
                <a:cs typeface="Noto Sans SC"/>
                <a:sym typeface="Noto Sans SC"/>
              </a:rPr>
              <a:t>Q&amp;A</a:t>
            </a:r>
            <a:endParaRPr lang="en-US" sz="1100"/>
          </a:p>
        </p:txBody>
      </p:sp>
      <p:sp>
        <p:nvSpPr>
          <p:cNvPr id="6" name="AutoShape 6"/>
          <p:cNvSpPr/>
          <p:nvPr/>
        </p:nvSpPr>
        <p:spPr>
          <a:xfrm>
            <a:off x="5588000" y="3365500"/>
            <a:ext cx="1016000" cy="50800"/>
          </a:xfrm>
          <a:prstGeom prst="roundRect">
            <a:avLst>
              <a:gd name="adj" fmla="val 0"/>
            </a:avLst>
          </a:prstGeom>
          <a:solidFill>
            <a:srgbClr val="FF9F1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4076700" y="3619500"/>
            <a:ext cx="40259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FFFFFF"/>
                </a:solidFill>
                <a:latin typeface="Noto Sans SC"/>
                <a:ea typeface="Noto Sans SC"/>
                <a:cs typeface="Noto Sans SC"/>
                <a:sym typeface="Noto Sans SC"/>
              </a:rPr>
              <a:t>Thank You</a:t>
            </a:r>
            <a:endParaRPr lang="en-US" sz="1100"/>
          </a:p>
        </p:txBody>
      </p:sp>
      <p:sp>
        <p:nvSpPr>
          <p:cNvPr id="8" name="AutoShape 8"/>
          <p:cNvSpPr/>
          <p:nvPr/>
        </p:nvSpPr>
        <p:spPr>
          <a:xfrm>
            <a:off x="0" y="42545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FFFFFF">
                    <a:alpha val="70196"/>
                  </a:srgbClr>
                </a:solidFill>
                <a:latin typeface="Noto Sans SC"/>
                <a:ea typeface="Noto Sans SC"/>
                <a:cs typeface="Noto Sans SC"/>
                <a:sym typeface="Noto Sans SC"/>
              </a:rPr>
              <a:t>感谢聆听 · 欢迎提问</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2652</Words>
  <Application>Microsoft Office PowerPoint</Application>
  <PresentationFormat>宽屏</PresentationFormat>
  <Paragraphs>243</Paragraphs>
  <Slides>20</Slides>
  <Notes>20</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20</vt:i4>
      </vt:variant>
    </vt:vector>
  </HeadingPairs>
  <TitlesOfParts>
    <vt:vector size="25" baseType="lpstr">
      <vt:lpstr>Noto Sans SC</vt:lpstr>
      <vt:lpstr>Arial</vt:lpstr>
      <vt:lpstr>Poppins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猫猫 /</cp:lastModifiedBy>
  <cp:revision>1</cp:revision>
  <dcterms:modified xsi:type="dcterms:W3CDTF">2026-05-18T09:56:30Z</dcterms:modified>
</cp:coreProperties>
</file>