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3" r:id="rId1"/>
    <p:sldMasterId id="2147484108" r:id="rId2"/>
    <p:sldMasterId id="2147483935" r:id="rId3"/>
  </p:sldMasterIdLst>
  <p:notesMasterIdLst>
    <p:notesMasterId r:id="rId47"/>
  </p:notesMasterIdLst>
  <p:sldIdLst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335" r:id="rId17"/>
    <p:sldId id="290" r:id="rId18"/>
    <p:sldId id="326" r:id="rId19"/>
    <p:sldId id="325" r:id="rId20"/>
    <p:sldId id="327" r:id="rId21"/>
    <p:sldId id="328" r:id="rId22"/>
    <p:sldId id="329" r:id="rId23"/>
    <p:sldId id="330" r:id="rId24"/>
    <p:sldId id="331" r:id="rId25"/>
    <p:sldId id="332" r:id="rId26"/>
    <p:sldId id="291" r:id="rId27"/>
    <p:sldId id="292" r:id="rId28"/>
    <p:sldId id="293" r:id="rId29"/>
    <p:sldId id="294" r:id="rId30"/>
    <p:sldId id="295" r:id="rId31"/>
    <p:sldId id="296" r:id="rId32"/>
    <p:sldId id="336" r:id="rId33"/>
    <p:sldId id="337" r:id="rId34"/>
    <p:sldId id="338" r:id="rId35"/>
    <p:sldId id="339" r:id="rId36"/>
    <p:sldId id="340" r:id="rId37"/>
    <p:sldId id="341" r:id="rId38"/>
    <p:sldId id="342" r:id="rId39"/>
    <p:sldId id="343" r:id="rId40"/>
    <p:sldId id="301" r:id="rId41"/>
    <p:sldId id="302" r:id="rId42"/>
    <p:sldId id="303" r:id="rId43"/>
    <p:sldId id="304" r:id="rId44"/>
    <p:sldId id="344" r:id="rId45"/>
    <p:sldId id="300" r:id="rId4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宝安" initials="LL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008000"/>
    <a:srgbClr val="FF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21" autoAdjust="0"/>
    <p:restoredTop sz="86937" autoAdjust="0"/>
  </p:normalViewPr>
  <p:slideViewPr>
    <p:cSldViewPr>
      <p:cViewPr varScale="1">
        <p:scale>
          <a:sx n="95" d="100"/>
          <a:sy n="95" d="100"/>
        </p:scale>
        <p:origin x="1146" y="66"/>
      </p:cViewPr>
      <p:guideLst>
        <p:guide orient="horz" pos="2160"/>
        <p:guide pos="2877"/>
      </p:guideLst>
    </p:cSldViewPr>
  </p:slideViewPr>
  <p:outlineViewPr>
    <p:cViewPr>
      <p:scale>
        <a:sx n="33" d="100"/>
        <a:sy n="33" d="100"/>
      </p:scale>
      <p:origin x="0" y="327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commentAuthors" Target="commentAuthors.xml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B3771FB1-3F4C-425E-BD96-6AB3592DFAED}" type="datetimeFigureOut">
              <a:rPr lang="zh-CN" altLang="en-US"/>
              <a:pPr>
                <a:defRPr/>
              </a:pPr>
              <a:t>2024-09-22</a:t>
            </a:fld>
            <a:endParaRPr lang="zh-CN" altLang="en-US"/>
          </a:p>
        </p:txBody>
      </p:sp>
      <p:sp>
        <p:nvSpPr>
          <p:cNvPr id="5939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sp>
      <p:sp>
        <p:nvSpPr>
          <p:cNvPr id="3077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12700" cmpd="sng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9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CDE88BB0-7D8B-4EE0-B0F7-358B00858D3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2106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开场白：</a:t>
            </a:r>
          </a:p>
        </p:txBody>
      </p:sp>
      <p:sp>
        <p:nvSpPr>
          <p:cNvPr id="6042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510CD81-6A4E-4D56-9E38-FBEBAFBCE54A}" type="slidenum">
              <a:rPr lang="zh-CN" altLang="en-US" sz="1200"/>
              <a:pPr algn="r"/>
              <a:t>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807525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 anchor="t"/>
          <a:lstStyle/>
          <a:p>
            <a:r>
              <a:rPr lang="zh-CN" altLang="en-US"/>
              <a:t>在本页讲述演示内容，先进行简单介绍</a:t>
            </a:r>
          </a:p>
        </p:txBody>
      </p:sp>
      <p:sp>
        <p:nvSpPr>
          <p:cNvPr id="61444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E1745A5-C5D1-4E76-B77C-EF7C0A72FF80}" type="slidenum">
              <a:rPr lang="zh-CN" altLang="en-US" sz="1200"/>
              <a:pPr algn="r"/>
              <a:t>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124319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5DEEEA-4E24-4E07-A7CC-457D99C9B7A9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C3BA7-7BCD-4FB6-91FA-488D83A0FFC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0325" y="304800"/>
            <a:ext cx="7967413" cy="819150"/>
          </a:xfrm>
        </p:spPr>
        <p:txBody>
          <a:bodyPr/>
          <a:lstStyle>
            <a:lvl1pPr algn="ctr">
              <a:defRPr sz="4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414934"/>
            <a:ext cx="8001000" cy="4678362"/>
          </a:xfrm>
        </p:spPr>
        <p:txBody>
          <a:bodyPr/>
          <a:lstStyle>
            <a:lvl1pPr>
              <a:lnSpc>
                <a:spcPct val="110000"/>
              </a:lnSpc>
              <a:defRPr sz="3600" b="1">
                <a:latin typeface="仿宋_GB2312" pitchFamily="49" charset="-122"/>
                <a:ea typeface="仿宋_GB2312" pitchFamily="49" charset="-122"/>
              </a:defRPr>
            </a:lvl1pPr>
            <a:lvl2pPr>
              <a:lnSpc>
                <a:spcPct val="110000"/>
              </a:lnSpc>
              <a:defRPr sz="3600" b="1">
                <a:latin typeface="仿宋_GB2312" pitchFamily="49" charset="-122"/>
                <a:ea typeface="仿宋_GB2312" pitchFamily="49" charset="-122"/>
              </a:defRPr>
            </a:lvl2pPr>
            <a:lvl3pPr>
              <a:lnSpc>
                <a:spcPct val="110000"/>
              </a:lnSpc>
              <a:defRPr sz="3400" b="1">
                <a:latin typeface="仿宋_GB2312" pitchFamily="49" charset="-122"/>
                <a:ea typeface="仿宋_GB2312" pitchFamily="49" charset="-122"/>
              </a:defRPr>
            </a:lvl3pPr>
            <a:lvl4pPr>
              <a:lnSpc>
                <a:spcPct val="110000"/>
              </a:lnSpc>
              <a:defRPr sz="3200" b="1">
                <a:latin typeface="仿宋_GB2312" pitchFamily="49" charset="-122"/>
                <a:ea typeface="仿宋_GB2312" pitchFamily="49" charset="-122"/>
              </a:defRPr>
            </a:lvl4pPr>
            <a:lvl5pPr>
              <a:lnSpc>
                <a:spcPct val="110000"/>
              </a:lnSpc>
              <a:defRPr sz="2800" b="1">
                <a:latin typeface="仿宋_GB2312" pitchFamily="49" charset="-122"/>
                <a:ea typeface="仿宋_GB2312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017713" cy="476250"/>
          </a:xfrm>
        </p:spPr>
        <p:txBody>
          <a:bodyPr/>
          <a:lstStyle>
            <a:lvl1pPr>
              <a:defRPr>
                <a:solidFill>
                  <a:srgbClr val="0000FF"/>
                </a:solidFill>
              </a:defRPr>
            </a:lvl1pPr>
          </a:lstStyle>
          <a:p>
            <a:pPr>
              <a:defRPr/>
            </a:pPr>
            <a:fld id="{B665E4FF-756F-46F8-89A7-3E62B221F7C9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FF"/>
                </a:solidFill>
              </a:defRPr>
            </a:lvl1pPr>
          </a:lstStyle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‹#›</a:t>
            </a:fld>
            <a:r>
              <a:rPr lang="en-US" altLang="zh-CN" dirty="0"/>
              <a:t>/37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3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3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3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3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96CDD2-CD2B-48C3-AEAC-ED9B52A34521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A29998-F042-4915-918F-E357CB8E6C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23A375-4064-49D4-A9A6-185D657D996C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297C66-AD64-4FB2-AEFA-FA6E792C042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0741E1-3B6C-46D6-AD3D-421342E11B3E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6049F7-E9E9-4BF1-B3C1-52C9037D3B1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996AEB-4AAB-4C6B-A036-F8BED9A2DC79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F86E0C-19CD-47C2-84F4-CF27ED6A11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5D2AF5-6393-4CBD-AAE4-1FF2A0D326C1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E573C-27B4-490D-9278-0FC0F92EC886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21898E-BD32-449F-9B98-4CA55A0C419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1C72AB-E70F-4FEE-A3CF-C3B486255726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6AE2B-EB6C-48B6-BFB7-511EC896007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DFCDF-2561-478C-B034-509AEBDED71F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1C99E4-F12E-4A4A-B557-866B0D4CA4B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393887-2688-4565-AE95-92EFBDD9E553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8DC01-70FE-46B3-B47B-5AD51869B4F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478742-BC1B-4A32-A907-79E67BC1B113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C7EB8-8B6B-4E2B-B225-BB2A5A28A7F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CDE26-94B3-4E10-8B12-6736114201D0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AF04F9-0169-424E-B69C-4CAF738DE6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5557DF-3734-4F2E-9E15-11E1DF4DF96C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D71A95-44AD-4954-BE7F-42D7FA3FB35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F67A9E-29DC-4742-A79B-DE074C5E0259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60D8DC-11F3-4D5E-81C5-732B1C8966C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C28208-9C51-4586-A201-D8AAFB39FFE4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1B3B1-4DE7-4F73-A4DA-EA118528EBD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479C1-310B-43F0-B566-D01761A3C3E2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ECAACE-5864-45BE-B551-96D9FB9906F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F714BE-ED66-4F35-881B-73119AF9F840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30AB4-3E55-4179-AE07-0D8AF134E04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1FDA5D-9607-4006-8EAA-AAE3818F85D0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BF95B-894D-4422-9D0F-521C270E0F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06CDF-2AA0-46D5-A2A5-29FC92272EA4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063E5-3C42-442D-A01B-34C3D8C5A57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D9B1D4-7220-450F-A1E0-73A5F4AFD3F4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4F27-8E71-4346-B46F-B7F1DBEF43A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D02D8-FE34-4154-B5B0-0A274B3C8D3C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FFA75A-9CD3-4210-ACDA-CD80BCE32B4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D9E9B1-7D68-4498-B696-F8E39C248580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86B02-7ED5-4D2E-92B3-51DD707F87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1C8FF5-0FCB-4BF0-A2EB-7E62927E28A6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D42096-260C-44F2-A656-125442929E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07D8AF-0150-40C8-ABF1-B7B486358540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4D1105-F3D9-46BB-A993-7D61074FCD5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69942E-7703-4A25-AAA5-0C851797F2AD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49D756-8184-44C4-AC9F-F1120727D1B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24B248-7216-4D4D-8C3B-B973AB2130DA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D07694-7A35-4059-861F-1EB81CE80B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1D42EB-4E70-43A5-A237-5642E8B3AB30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3FE90-8988-4DF5-8387-A5F5FE822D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42180B-1D23-44C9-A831-A3D392C9B27C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D6A6CB-B22D-48A8-8F65-1738700AEA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F524F3-1F9A-4523-96F1-915B5B71FC7B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27713A-6030-441A-B8BB-EAA84B90BD0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593ABA-F30E-4EE1-8B1C-853C6AF435A3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AC98AA-0021-44F0-AB80-FA03EBCE7B2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3BDC3B-D398-4723-A86C-49699CA72CC2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BEBE57-4C8F-48D1-81D6-13DCC504CD1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944D15-3015-4B9F-9EC3-A99F9AE03970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4BB54-1E93-449B-B45B-1353836FB2D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CCBABB-A86A-4317-87D8-5CB5AE41A10F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BAA9E0-CF9E-4E9E-9B2A-9A3C5D8BF8C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341438"/>
            <a:ext cx="8001000" cy="467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028" name="AutoShape 4"/>
          <p:cNvSpPr>
            <a:spLocks/>
          </p:cNvSpPr>
          <p:nvPr/>
        </p:nvSpPr>
        <p:spPr bwMode="auto">
          <a:xfrm>
            <a:off x="609600" y="1158875"/>
            <a:ext cx="7958138" cy="109538"/>
          </a:xfrm>
          <a:custGeom>
            <a:avLst/>
            <a:gdLst>
              <a:gd name="T0" fmla="*/ 3163 w 1000"/>
              <a:gd name="T1" fmla="*/ 3163 h 1000"/>
              <a:gd name="T2" fmla="*/ 18437 w 1000"/>
              <a:gd name="T3" fmla="*/ 18437 h 100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T0" t="T1" r="T2" b="T3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mpd="sng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 cmpd="sng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8A18D52A-2A02-43CA-A1E7-1C1E0EB2B273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42A9A5AF-B538-4E5E-AAC0-49B2352D775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7177" name="Picture 9" descr="bistu-mark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77800" y="38100"/>
            <a:ext cx="1644650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94" r:id="rId1"/>
    <p:sldLayoutId id="2147484226" r:id="rId2"/>
    <p:sldLayoutId id="2147484195" r:id="rId3"/>
    <p:sldLayoutId id="2147484196" r:id="rId4"/>
    <p:sldLayoutId id="2147484197" r:id="rId5"/>
    <p:sldLayoutId id="2147484198" r:id="rId6"/>
    <p:sldLayoutId id="2147484227" r:id="rId7"/>
    <p:sldLayoutId id="2147484199" r:id="rId8"/>
    <p:sldLayoutId id="2147484200" r:id="rId9"/>
    <p:sldLayoutId id="2147484201" r:id="rId10"/>
    <p:sldLayoutId id="2147484202" r:id="rId11"/>
    <p:sldLayoutId id="2147484203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819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DA60B0-E119-4585-BFBA-99F1FD39905D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A0D96D9-DC79-4F31-B366-B72B2B4787A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04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>
            <a:spLocks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3163 w 1000"/>
              <a:gd name="T1" fmla="*/ 3163 h 1000"/>
              <a:gd name="T2" fmla="*/ 18437 w 1000"/>
              <a:gd name="T3" fmla="*/ 18437 h 100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T0" t="T1" r="T2" b="T3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mpd="sng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1026" name="Object 8"/>
          <p:cNvGraphicFramePr>
            <a:graphicFrameLocks noChangeAspect="1"/>
          </p:cNvGraphicFramePr>
          <p:nvPr/>
        </p:nvGraphicFramePr>
        <p:xfrm>
          <a:off x="8304213" y="6100763"/>
          <a:ext cx="48101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r:id="rId15" imgW="2780952" imgH="3288889" progId="">
                  <p:embed/>
                </p:oleObj>
              </mc:Choice>
              <mc:Fallback>
                <p:oleObj r:id="rId15" imgW="2780952" imgH="3288889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4213" y="6100763"/>
                        <a:ext cx="481012" cy="5683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A3B2C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720A9034-51C4-418E-9566-C680C48A59E1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/>
          </a:p>
        </p:txBody>
      </p:sp>
      <p:sp>
        <p:nvSpPr>
          <p:cNvPr id="205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AD493B5A-B0D1-49E1-BEA3-B34C9872382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16" r:id="rId2"/>
    <p:sldLayoutId id="2147484217" r:id="rId3"/>
    <p:sldLayoutId id="2147484218" r:id="rId4"/>
    <p:sldLayoutId id="2147484219" r:id="rId5"/>
    <p:sldLayoutId id="2147484220" r:id="rId6"/>
    <p:sldLayoutId id="2147484221" r:id="rId7"/>
    <p:sldLayoutId id="2147484222" r:id="rId8"/>
    <p:sldLayoutId id="2147484223" r:id="rId9"/>
    <p:sldLayoutId id="2147484224" r:id="rId10"/>
    <p:sldLayoutId id="2147484225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5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990600"/>
            <a:ext cx="7772400" cy="1371600"/>
          </a:xfrm>
        </p:spPr>
        <p:txBody>
          <a:bodyPr/>
          <a:lstStyle/>
          <a:p>
            <a:pPr algn="ctr" eaLnBrk="1" hangingPunct="1"/>
            <a:r>
              <a:rPr lang="zh-CN" altLang="en-US" sz="4800">
                <a:latin typeface="华文行楷" pitchFamily="2" charset="-122"/>
                <a:ea typeface="华文行楷" pitchFamily="2" charset="-122"/>
              </a:rPr>
              <a:t>数据库原理与应用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547813" y="2852738"/>
            <a:ext cx="6192539" cy="2448470"/>
          </a:xfrm>
        </p:spPr>
        <p:txBody>
          <a:bodyPr/>
          <a:lstStyle/>
          <a:p>
            <a:pPr marL="0" indent="0" algn="ctr" eaLnBrk="1" hangingPunct="1">
              <a:buFont typeface="Wingdings" pitchFamily="2" charset="2"/>
              <a:buNone/>
            </a:pPr>
            <a:endParaRPr lang="en-US" altLang="zh-CN" sz="2000" dirty="0">
              <a:solidFill>
                <a:srgbClr val="FF0000"/>
              </a:solidFill>
              <a:latin typeface="华文隶书" pitchFamily="2" charset="-122"/>
              <a:ea typeface="华文隶书" pitchFamily="2" charset="-122"/>
            </a:endParaRPr>
          </a:p>
          <a:p>
            <a:pPr marL="0" indent="0" algn="ctr" eaLnBrk="1" hangingPunct="1">
              <a:buNone/>
            </a:pPr>
            <a:r>
              <a:rPr lang="zh-CN" altLang="en-US" sz="4000" dirty="0">
                <a:solidFill>
                  <a:srgbClr val="FF0000"/>
                </a:solidFill>
                <a:latin typeface="华文隶书" pitchFamily="2" charset="-122"/>
                <a:ea typeface="华文隶书" pitchFamily="2" charset="-122"/>
              </a:rPr>
              <a:t>第</a:t>
            </a:r>
            <a:r>
              <a:rPr lang="en-US" altLang="zh-CN" sz="4000" dirty="0">
                <a:solidFill>
                  <a:srgbClr val="FF0000"/>
                </a:solidFill>
                <a:latin typeface="华文隶书" pitchFamily="2" charset="-122"/>
                <a:ea typeface="华文隶书" pitchFamily="2" charset="-122"/>
              </a:rPr>
              <a:t>4</a:t>
            </a:r>
            <a:r>
              <a:rPr lang="zh-CN" altLang="en-US" sz="4000" dirty="0">
                <a:solidFill>
                  <a:srgbClr val="FF0000"/>
                </a:solidFill>
                <a:latin typeface="华文隶书" pitchFamily="2" charset="-122"/>
                <a:ea typeface="华文隶书" pitchFamily="2" charset="-122"/>
              </a:rPr>
              <a:t>章  </a:t>
            </a:r>
            <a:r>
              <a:rPr lang="en-US" altLang="zh-CN" sz="4000" dirty="0">
                <a:solidFill>
                  <a:srgbClr val="FF0000"/>
                </a:solidFill>
                <a:latin typeface="华文隶书" pitchFamily="2" charset="-122"/>
                <a:ea typeface="华文隶书" pitchFamily="2" charset="-122"/>
              </a:rPr>
              <a:t>SQL</a:t>
            </a:r>
            <a:r>
              <a:rPr lang="zh-CN" altLang="zh-CN" sz="4000" dirty="0">
                <a:solidFill>
                  <a:srgbClr val="FF0000"/>
                </a:solidFill>
                <a:latin typeface="华文隶书" pitchFamily="2" charset="-122"/>
                <a:ea typeface="华文隶书" pitchFamily="2" charset="-122"/>
              </a:rPr>
              <a:t>语言基础及</a:t>
            </a:r>
            <a:endParaRPr lang="en-US" altLang="zh-CN" sz="4000" dirty="0">
              <a:solidFill>
                <a:srgbClr val="FF0000"/>
              </a:solidFill>
              <a:latin typeface="华文隶书" pitchFamily="2" charset="-122"/>
              <a:ea typeface="华文隶书" pitchFamily="2" charset="-122"/>
            </a:endParaRPr>
          </a:p>
          <a:p>
            <a:pPr marL="0" indent="0" algn="ctr" eaLnBrk="1" hangingPunct="1">
              <a:buNone/>
            </a:pPr>
            <a:r>
              <a:rPr lang="zh-CN" altLang="zh-CN" sz="4000" dirty="0">
                <a:solidFill>
                  <a:srgbClr val="FF0000"/>
                </a:solidFill>
                <a:latin typeface="华文隶书" pitchFamily="2" charset="-122"/>
                <a:ea typeface="华文隶书" pitchFamily="2" charset="-122"/>
              </a:rPr>
              <a:t>数据定义功能</a:t>
            </a:r>
            <a:endParaRPr lang="en-US" altLang="zh-CN" sz="4000" dirty="0">
              <a:solidFill>
                <a:srgbClr val="FF0000"/>
              </a:solidFill>
              <a:latin typeface="华文隶书" pitchFamily="2" charset="-122"/>
              <a:ea typeface="华文隶书" pitchFamily="2" charset="-122"/>
            </a:endParaRPr>
          </a:p>
          <a:p>
            <a:pPr marL="0" indent="0" algn="ctr" eaLnBrk="1" hangingPunct="1">
              <a:buFont typeface="Wingdings" pitchFamily="2" charset="2"/>
              <a:buNone/>
            </a:pPr>
            <a:endParaRPr lang="en-US" sz="4000" dirty="0">
              <a:solidFill>
                <a:srgbClr val="FF0000"/>
              </a:solidFill>
              <a:latin typeface="华文隶书" pitchFamily="2" charset="-122"/>
              <a:ea typeface="华文隶书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2013992" cy="457200"/>
          </a:xfrm>
        </p:spPr>
        <p:txBody>
          <a:bodyPr/>
          <a:lstStyle/>
          <a:p>
            <a:pPr>
              <a:defRPr/>
            </a:pPr>
            <a:fld id="{770A99AA-3F27-497C-AE23-06E73969D9A4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27713A-6030-441A-B8BB-EAA84B90BD0A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74674" y="304800"/>
            <a:ext cx="8173789" cy="819150"/>
          </a:xfrm>
        </p:spPr>
        <p:txBody>
          <a:bodyPr/>
          <a:lstStyle/>
          <a:p>
            <a:pPr algn="ctr" eaLnBrk="1" hangingPunct="1"/>
            <a:r>
              <a:rPr lang="zh-CN" altLang="en-US" sz="4000" b="1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</a:rPr>
              <a:t>第</a:t>
            </a:r>
            <a:r>
              <a:rPr lang="en-US" altLang="zh-CN" sz="4000" b="1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</a:rPr>
              <a:t>4</a:t>
            </a:r>
            <a:r>
              <a:rPr lang="zh-CN" altLang="en-US" sz="4000" b="1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</a:rPr>
              <a:t>章</a:t>
            </a:r>
            <a:r>
              <a:rPr lang="zh-CN" altLang="en-US" sz="4400" b="1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</a:rPr>
              <a:t> </a:t>
            </a:r>
            <a:r>
              <a:rPr lang="en-US" altLang="zh-CN" sz="4000" b="1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</a:rPr>
              <a:t>SQL</a:t>
            </a:r>
            <a:r>
              <a:rPr lang="zh-CN" altLang="zh-CN" sz="4000" b="1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</a:rPr>
              <a:t>语言基础及数据定义功能</a:t>
            </a:r>
            <a:endParaRPr lang="zh-CN" altLang="en-US" sz="4000" b="1" dirty="0">
              <a:solidFill>
                <a:srgbClr val="0000FF"/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47813" y="1613371"/>
            <a:ext cx="6408737" cy="3455988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None/>
            </a:pPr>
            <a:r>
              <a:rPr lang="en-US" altLang="zh-CN" sz="3600" b="1" dirty="0">
                <a:latin typeface="仿宋_GB2312" pitchFamily="49" charset="-122"/>
                <a:ea typeface="仿宋_GB2312" pitchFamily="49" charset="-122"/>
              </a:rPr>
              <a:t>4.1 SQL</a:t>
            </a:r>
            <a:r>
              <a:rPr lang="zh-CN" altLang="zh-CN" sz="3600" b="1" dirty="0">
                <a:latin typeface="仿宋_GB2312" pitchFamily="49" charset="-122"/>
                <a:ea typeface="仿宋_GB2312" pitchFamily="49" charset="-122"/>
              </a:rPr>
              <a:t>语言概述</a:t>
            </a:r>
            <a:endParaRPr lang="en-US" altLang="zh-CN" sz="3600" b="1" dirty="0">
              <a:latin typeface="仿宋_GB2312" pitchFamily="49" charset="-122"/>
              <a:ea typeface="仿宋_GB2312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3600" b="1" dirty="0">
                <a:latin typeface="仿宋_GB2312" pitchFamily="49" charset="-122"/>
                <a:ea typeface="仿宋_GB2312" pitchFamily="49" charset="-122"/>
              </a:rPr>
              <a:t>4.2 SQL</a:t>
            </a:r>
            <a:r>
              <a:rPr lang="zh-CN" altLang="zh-CN" sz="3600" b="1" dirty="0">
                <a:latin typeface="仿宋_GB2312" pitchFamily="49" charset="-122"/>
                <a:ea typeface="仿宋_GB2312" pitchFamily="49" charset="-122"/>
              </a:rPr>
              <a:t>支持的数据类型</a:t>
            </a:r>
            <a:endParaRPr lang="en-US" altLang="zh-CN" sz="3600" b="1" dirty="0">
              <a:latin typeface="仿宋_GB2312" pitchFamily="49" charset="-122"/>
              <a:ea typeface="仿宋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3600" b="1" dirty="0">
                <a:latin typeface="仿宋_GB2312" pitchFamily="49" charset="-122"/>
                <a:ea typeface="仿宋_GB2312" pitchFamily="49" charset="-122"/>
              </a:rPr>
              <a:t>4.3 </a:t>
            </a:r>
            <a:r>
              <a:rPr lang="zh-CN" altLang="zh-CN" sz="3600" b="1" dirty="0">
                <a:latin typeface="仿宋_GB2312" pitchFamily="49" charset="-122"/>
                <a:ea typeface="仿宋_GB2312" pitchFamily="49" charset="-122"/>
              </a:rPr>
              <a:t>数据定义功能</a:t>
            </a:r>
            <a:endParaRPr lang="en-US" altLang="zh-CN" sz="3600" b="1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12292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245225"/>
            <a:ext cx="2090738" cy="476250"/>
          </a:xfrm>
          <a:noFill/>
        </p:spPr>
        <p:txBody>
          <a:bodyPr/>
          <a:lstStyle/>
          <a:p>
            <a:fld id="{76FB8EFF-B586-4232-9504-10D44D3244BC}" type="datetime8">
              <a:rPr lang="zh-CN" altLang="en-US" smtClean="0">
                <a:solidFill>
                  <a:srgbClr val="0000FF"/>
                </a:solidFill>
              </a:rPr>
              <a:pPr/>
              <a:t>2024年9月22日11时8分</a:t>
            </a:fld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12293" name="灯片编号占位符 4"/>
          <p:cNvSpPr txBox="1">
            <a:spLocks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78F10C3F-163C-42F5-81B0-6795A24CEDF3}" type="slidenum">
              <a:rPr lang="zh-CN" altLang="en-US" sz="1200">
                <a:solidFill>
                  <a:srgbClr val="0000FF"/>
                </a:solidFill>
              </a:rPr>
              <a:pPr algn="r"/>
              <a:t>2</a:t>
            </a:fld>
            <a:endParaRPr lang="zh-CN" altLang="en-US" sz="1200">
              <a:solidFill>
                <a:srgbClr val="0000FF"/>
              </a:solidFill>
            </a:endParaRPr>
          </a:p>
        </p:txBody>
      </p:sp>
      <p:sp>
        <p:nvSpPr>
          <p:cNvPr id="6" name="动作按钮: 前进或下一项 5">
            <a:hlinkClick r:id="rId3" action="ppaction://hlinksldjump" highlightClick="1"/>
          </p:cNvPr>
          <p:cNvSpPr/>
          <p:nvPr/>
        </p:nvSpPr>
        <p:spPr>
          <a:xfrm>
            <a:off x="827584" y="1756271"/>
            <a:ext cx="648072" cy="360040"/>
          </a:xfrm>
          <a:prstGeom prst="actionButtonForwardNext">
            <a:avLst/>
          </a:prstGeom>
          <a:solidFill>
            <a:srgbClr val="FFC0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动作按钮: 前进或下一项 6">
            <a:hlinkClick r:id="rId4" action="ppaction://hlinksldjump" highlightClick="1"/>
          </p:cNvPr>
          <p:cNvSpPr/>
          <p:nvPr/>
        </p:nvSpPr>
        <p:spPr>
          <a:xfrm>
            <a:off x="827584" y="2476351"/>
            <a:ext cx="648072" cy="360040"/>
          </a:xfrm>
          <a:prstGeom prst="actionButtonForwardNext">
            <a:avLst/>
          </a:prstGeom>
          <a:solidFill>
            <a:srgbClr val="FFC0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动作按钮: 前进或下一项 7">
            <a:hlinkClick r:id="rId5" action="ppaction://hlinksldjump" highlightClick="1"/>
          </p:cNvPr>
          <p:cNvSpPr/>
          <p:nvPr/>
        </p:nvSpPr>
        <p:spPr>
          <a:xfrm>
            <a:off x="827584" y="3196431"/>
            <a:ext cx="648072" cy="360040"/>
          </a:xfrm>
          <a:prstGeom prst="actionButtonForwardNext">
            <a:avLst/>
          </a:prstGeom>
          <a:solidFill>
            <a:srgbClr val="FFC0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4.1 SQL</a:t>
            </a:r>
            <a:r>
              <a:rPr lang="zh-CN" altLang="en-US" sz="4400" dirty="0"/>
              <a:t>语言概述</a:t>
            </a:r>
          </a:p>
        </p:txBody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6624736" cy="2735262"/>
          </a:xfrm>
        </p:spPr>
        <p:txBody>
          <a:bodyPr/>
          <a:lstStyle/>
          <a:p>
            <a:pPr indent="-57150" algn="just"/>
            <a:r>
              <a:rPr lang="en-US" altLang="zh-CN" sz="3700" dirty="0"/>
              <a:t>4.1.1 SQL</a:t>
            </a:r>
            <a:r>
              <a:rPr lang="zh-CN" altLang="en-US" sz="3700" dirty="0"/>
              <a:t>语言的发展 </a:t>
            </a:r>
          </a:p>
          <a:p>
            <a:pPr indent="-57150" algn="just"/>
            <a:r>
              <a:rPr lang="en-US" altLang="zh-CN" sz="3700" dirty="0"/>
              <a:t>4.1.2 SQL</a:t>
            </a:r>
            <a:r>
              <a:rPr lang="zh-CN" altLang="en-US" sz="3700" dirty="0"/>
              <a:t>语言的特点</a:t>
            </a:r>
          </a:p>
          <a:p>
            <a:pPr indent="-57150" algn="just"/>
            <a:r>
              <a:rPr lang="en-US" altLang="zh-CN" sz="3700" dirty="0"/>
              <a:t>4.1.3 SQL</a:t>
            </a:r>
            <a:r>
              <a:rPr lang="zh-CN" altLang="en-US" sz="3700" dirty="0"/>
              <a:t>语言功能概述</a:t>
            </a:r>
            <a:r>
              <a:rPr lang="zh-CN" altLang="en-US" dirty="0"/>
              <a:t> 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B47CECD-2AA2-44C8-A810-0C78FE14442D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3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200" dirty="0"/>
              <a:t>4.1.1 SQL</a:t>
            </a:r>
            <a:r>
              <a:rPr lang="zh-CN" altLang="en-US" sz="4200" dirty="0"/>
              <a:t>语言的发展</a:t>
            </a:r>
            <a:endParaRPr lang="en-US" altLang="zh-CN" sz="4200" dirty="0"/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556792"/>
            <a:ext cx="8071048" cy="4493096"/>
          </a:xfrm>
        </p:spPr>
        <p:txBody>
          <a:bodyPr/>
          <a:lstStyle/>
          <a:p>
            <a:r>
              <a:rPr lang="en-US" altLang="zh-CN" sz="3200" dirty="0"/>
              <a:t>1986</a:t>
            </a:r>
            <a:r>
              <a:rPr lang="zh-CN" altLang="en-US" sz="3200" dirty="0"/>
              <a:t>年</a:t>
            </a:r>
            <a:r>
              <a:rPr lang="en-US" altLang="zh-CN" sz="3200" dirty="0"/>
              <a:t>10</a:t>
            </a:r>
            <a:r>
              <a:rPr lang="zh-CN" altLang="en-US" sz="3200" dirty="0"/>
              <a:t>月由美国</a:t>
            </a:r>
            <a:r>
              <a:rPr lang="en-US" altLang="zh-CN" sz="3200" dirty="0"/>
              <a:t>ANSI </a:t>
            </a:r>
            <a:r>
              <a:rPr lang="zh-CN" altLang="en-US" sz="3200" dirty="0"/>
              <a:t>公布最早的</a:t>
            </a:r>
            <a:r>
              <a:rPr lang="en-US" altLang="zh-CN" sz="3200" dirty="0"/>
              <a:t>SQL</a:t>
            </a:r>
            <a:r>
              <a:rPr lang="zh-CN" altLang="en-US" sz="3200" dirty="0"/>
              <a:t>标准。 </a:t>
            </a:r>
          </a:p>
          <a:p>
            <a:r>
              <a:rPr lang="en-US" altLang="zh-CN" sz="3200" dirty="0"/>
              <a:t>1989</a:t>
            </a:r>
            <a:r>
              <a:rPr lang="zh-CN" altLang="en-US" sz="3200" dirty="0"/>
              <a:t>年</a:t>
            </a:r>
            <a:r>
              <a:rPr lang="en-US" altLang="zh-CN" sz="3200" dirty="0"/>
              <a:t>4</a:t>
            </a:r>
            <a:r>
              <a:rPr lang="zh-CN" altLang="en-US" sz="3200" dirty="0"/>
              <a:t>月，</a:t>
            </a:r>
            <a:r>
              <a:rPr lang="en-US" altLang="zh-CN" sz="3200" dirty="0"/>
              <a:t>ISO</a:t>
            </a:r>
            <a:r>
              <a:rPr lang="zh-CN" altLang="en-US" sz="3200" dirty="0"/>
              <a:t>提出了具备完整性特征的</a:t>
            </a:r>
            <a:r>
              <a:rPr lang="en-US" altLang="zh-CN" sz="3200" dirty="0"/>
              <a:t>SQL</a:t>
            </a:r>
            <a:r>
              <a:rPr lang="zh-CN" altLang="en-US" sz="3200" dirty="0"/>
              <a:t>，称为</a:t>
            </a:r>
            <a:r>
              <a:rPr lang="en-US" altLang="zh-CN" sz="3200" dirty="0"/>
              <a:t>SQL-89 </a:t>
            </a:r>
            <a:r>
              <a:rPr lang="zh-CN" altLang="en-US" sz="3200" dirty="0"/>
              <a:t>。</a:t>
            </a:r>
          </a:p>
          <a:p>
            <a:r>
              <a:rPr lang="en-US" altLang="zh-CN" sz="3200" dirty="0"/>
              <a:t>1992</a:t>
            </a:r>
            <a:r>
              <a:rPr lang="zh-CN" altLang="en-US" sz="3200" dirty="0"/>
              <a:t>年</a:t>
            </a:r>
            <a:r>
              <a:rPr lang="en-US" altLang="zh-CN" sz="3200" dirty="0"/>
              <a:t>11</a:t>
            </a:r>
            <a:r>
              <a:rPr lang="zh-CN" altLang="en-US" sz="3200" dirty="0"/>
              <a:t>月，</a:t>
            </a:r>
            <a:r>
              <a:rPr lang="en-US" altLang="zh-CN" sz="3200" dirty="0"/>
              <a:t>ISO</a:t>
            </a:r>
            <a:r>
              <a:rPr lang="zh-CN" altLang="en-US" sz="3200" dirty="0"/>
              <a:t>又公布了新的</a:t>
            </a:r>
            <a:r>
              <a:rPr lang="en-US" altLang="zh-CN" sz="3200" dirty="0"/>
              <a:t>SQL</a:t>
            </a:r>
            <a:r>
              <a:rPr lang="zh-CN" altLang="en-US" sz="3200" dirty="0"/>
              <a:t>标准，称为</a:t>
            </a:r>
            <a:r>
              <a:rPr lang="en-US" altLang="zh-CN" sz="3200" dirty="0"/>
              <a:t>SQL-92</a:t>
            </a:r>
            <a:r>
              <a:rPr lang="zh-CN" altLang="en-US" sz="3200" dirty="0"/>
              <a:t>（以上均为关系形式）。</a:t>
            </a:r>
          </a:p>
          <a:p>
            <a:r>
              <a:rPr lang="zh-CN" altLang="en-US" sz="3200" dirty="0"/>
              <a:t> </a:t>
            </a:r>
            <a:r>
              <a:rPr lang="en-US" altLang="zh-CN" sz="3200" dirty="0"/>
              <a:t>1999</a:t>
            </a:r>
            <a:r>
              <a:rPr lang="zh-CN" altLang="en-US" sz="3200" dirty="0"/>
              <a:t>年颁布</a:t>
            </a:r>
            <a:r>
              <a:rPr lang="en-US" altLang="zh-CN" sz="3200" dirty="0"/>
              <a:t>SQL-99</a:t>
            </a:r>
            <a:r>
              <a:rPr lang="zh-CN" altLang="en-US" sz="3200" dirty="0"/>
              <a:t>，是</a:t>
            </a:r>
            <a:r>
              <a:rPr lang="en-US" altLang="zh-CN" sz="3200" dirty="0"/>
              <a:t>SQL92</a:t>
            </a:r>
            <a:r>
              <a:rPr lang="zh-CN" altLang="en-US" sz="3200" dirty="0"/>
              <a:t>的扩展。</a:t>
            </a:r>
            <a:endParaRPr lang="zh-CN" altLang="en-US" sz="3200" b="1" dirty="0">
              <a:effectLst>
                <a:outerShdw blurRad="38100" dist="38100" dir="2700000" algn="tl">
                  <a:srgbClr val="C0C0C0"/>
                </a:outerShdw>
              </a:effectLst>
              <a:latin typeface="宋体" charset="-122"/>
              <a:ea typeface="宋体" charset="-122"/>
            </a:endParaRPr>
          </a:p>
          <a:p>
            <a:pPr>
              <a:buFontTx/>
              <a:buNone/>
            </a:pPr>
            <a:endParaRPr lang="zh-CN" altLang="en-US" sz="3200" b="1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charset="-122"/>
              <a:ea typeface="宋体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6BA1A8-E0FB-490E-8A6B-659070A5989D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4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200" dirty="0"/>
              <a:t>4.1.2 SQL</a:t>
            </a:r>
            <a:r>
              <a:rPr lang="zh-CN" altLang="en-US" sz="4200" dirty="0"/>
              <a:t>语言的特点</a:t>
            </a:r>
          </a:p>
        </p:txBody>
      </p:sp>
      <p:sp>
        <p:nvSpPr>
          <p:cNvPr id="400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773238"/>
            <a:ext cx="7637463" cy="4140200"/>
          </a:xfrm>
        </p:spPr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一体化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高度非过程化</a:t>
            </a:r>
          </a:p>
          <a:p>
            <a:r>
              <a:rPr lang="en-US" altLang="zh-CN" dirty="0"/>
              <a:t>3. </a:t>
            </a:r>
            <a:r>
              <a:rPr lang="zh-CN" altLang="en-US" dirty="0"/>
              <a:t>简洁</a:t>
            </a:r>
          </a:p>
          <a:p>
            <a:r>
              <a:rPr lang="en-US" altLang="zh-CN" dirty="0"/>
              <a:t>4. </a:t>
            </a:r>
            <a:r>
              <a:rPr lang="zh-CN" altLang="en-US" dirty="0"/>
              <a:t>使用方式多样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E35786-9756-4880-82BD-0114BCCE271F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5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200" dirty="0"/>
              <a:t>4.1.3 SQL</a:t>
            </a:r>
            <a:r>
              <a:rPr lang="zh-CN" altLang="en-US" sz="4200" dirty="0"/>
              <a:t>语言功能概述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042988" y="2420889"/>
            <a:ext cx="7200900" cy="3528392"/>
            <a:chOff x="-3" y="-3"/>
            <a:chExt cx="1719" cy="1876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0" y="0"/>
              <a:ext cx="1713" cy="1870"/>
              <a:chOff x="0" y="0"/>
              <a:chExt cx="1713" cy="1870"/>
            </a:xfrm>
          </p:grpSpPr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0" y="0"/>
                <a:ext cx="539" cy="374"/>
                <a:chOff x="0" y="0"/>
                <a:chExt cx="539" cy="374"/>
              </a:xfrm>
            </p:grpSpPr>
            <p:sp>
              <p:nvSpPr>
                <p:cNvPr id="285704" name="Rectangle 8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53" cy="37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 latinLnBrk="0"/>
                  <a:r>
                    <a:rPr lang="en-US" altLang="zh-CN" sz="3200" b="1" dirty="0">
                      <a:solidFill>
                        <a:srgbClr val="0000FF"/>
                      </a:solidFill>
                      <a:latin typeface="Times New Roman" pitchFamily="18" charset="0"/>
                      <a:ea typeface="华文行楷" pitchFamily="2" charset="-122"/>
                    </a:rPr>
                    <a:t>SQL</a:t>
                  </a:r>
                  <a:r>
                    <a:rPr lang="zh-CN" altLang="en-US" sz="3200" b="1" dirty="0">
                      <a:solidFill>
                        <a:srgbClr val="0000FF"/>
                      </a:solidFill>
                      <a:latin typeface="Times New Roman" pitchFamily="18" charset="0"/>
                      <a:ea typeface="华文行楷" pitchFamily="2" charset="-122"/>
                    </a:rPr>
                    <a:t>功能</a:t>
                  </a:r>
                </a:p>
                <a:p>
                  <a:pPr algn="ctr" eaLnBrk="0" latinLnBrk="0" hangingPunct="0"/>
                  <a:endParaRPr lang="zh-CN" altLang="en-US" b="1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285705" name="Rectangle 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39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  <p:grpSp>
            <p:nvGrpSpPr>
              <p:cNvPr id="5" name="Group 10"/>
              <p:cNvGrpSpPr>
                <a:grpSpLocks/>
              </p:cNvGrpSpPr>
              <p:nvPr/>
            </p:nvGrpSpPr>
            <p:grpSpPr bwMode="auto">
              <a:xfrm>
                <a:off x="539" y="0"/>
                <a:ext cx="1174" cy="374"/>
                <a:chOff x="539" y="0"/>
                <a:chExt cx="1174" cy="374"/>
              </a:xfrm>
            </p:grpSpPr>
            <p:sp>
              <p:nvSpPr>
                <p:cNvPr id="285707" name="Rectangle 11"/>
                <p:cNvSpPr>
                  <a:spLocks noChangeArrowheads="1"/>
                </p:cNvSpPr>
                <p:nvPr/>
              </p:nvSpPr>
              <p:spPr bwMode="auto">
                <a:xfrm>
                  <a:off x="582" y="0"/>
                  <a:ext cx="1088" cy="37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 latinLnBrk="0"/>
                  <a:r>
                    <a:rPr lang="zh-CN" altLang="en-US" sz="3200" b="1" dirty="0">
                      <a:solidFill>
                        <a:srgbClr val="0000FF"/>
                      </a:solidFill>
                      <a:latin typeface="Times New Roman" pitchFamily="18" charset="0"/>
                      <a:ea typeface="华文行楷" pitchFamily="2" charset="-122"/>
                    </a:rPr>
                    <a:t>命令动词</a:t>
                  </a:r>
                </a:p>
                <a:p>
                  <a:pPr algn="ctr" eaLnBrk="0" latinLnBrk="0" hangingPunct="0"/>
                  <a:endParaRPr lang="zh-CN" altLang="en-US" b="1" dirty="0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285708" name="Rectangle 12"/>
                <p:cNvSpPr>
                  <a:spLocks noChangeArrowheads="1"/>
                </p:cNvSpPr>
                <p:nvPr/>
              </p:nvSpPr>
              <p:spPr bwMode="auto">
                <a:xfrm>
                  <a:off x="539" y="0"/>
                  <a:ext cx="1174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  <p:grpSp>
            <p:nvGrpSpPr>
              <p:cNvPr id="6" name="Group 13"/>
              <p:cNvGrpSpPr>
                <a:grpSpLocks/>
              </p:cNvGrpSpPr>
              <p:nvPr/>
            </p:nvGrpSpPr>
            <p:grpSpPr bwMode="auto">
              <a:xfrm>
                <a:off x="0" y="374"/>
                <a:ext cx="539" cy="374"/>
                <a:chOff x="0" y="374"/>
                <a:chExt cx="539" cy="374"/>
              </a:xfrm>
            </p:grpSpPr>
            <p:sp>
              <p:nvSpPr>
                <p:cNvPr id="285710" name="Rectangle 14"/>
                <p:cNvSpPr>
                  <a:spLocks noChangeArrowheads="1"/>
                </p:cNvSpPr>
                <p:nvPr/>
              </p:nvSpPr>
              <p:spPr bwMode="auto">
                <a:xfrm>
                  <a:off x="43" y="374"/>
                  <a:ext cx="453" cy="37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 latinLnBrk="0"/>
                  <a:r>
                    <a:rPr lang="zh-CN" altLang="en-US" sz="2400" b="1" dirty="0">
                      <a:latin typeface="Times New Roman" pitchFamily="18" charset="0"/>
                      <a:ea typeface="宋体" charset="-122"/>
                    </a:rPr>
                    <a:t>数据查询</a:t>
                  </a:r>
                </a:p>
                <a:p>
                  <a:pPr algn="ctr" eaLnBrk="0" latinLnBrk="0" hangingPunct="0"/>
                  <a:endParaRPr lang="zh-CN" altLang="en-US" sz="2400" b="1" dirty="0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285711" name="Rectangle 15"/>
                <p:cNvSpPr>
                  <a:spLocks noChangeArrowheads="1"/>
                </p:cNvSpPr>
                <p:nvPr/>
              </p:nvSpPr>
              <p:spPr bwMode="auto">
                <a:xfrm>
                  <a:off x="0" y="374"/>
                  <a:ext cx="539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  <p:grpSp>
            <p:nvGrpSpPr>
              <p:cNvPr id="7" name="Group 16"/>
              <p:cNvGrpSpPr>
                <a:grpSpLocks/>
              </p:cNvGrpSpPr>
              <p:nvPr/>
            </p:nvGrpSpPr>
            <p:grpSpPr bwMode="auto">
              <a:xfrm>
                <a:off x="539" y="374"/>
                <a:ext cx="1174" cy="374"/>
                <a:chOff x="539" y="374"/>
                <a:chExt cx="1174" cy="374"/>
              </a:xfrm>
            </p:grpSpPr>
            <p:sp>
              <p:nvSpPr>
                <p:cNvPr id="285713" name="Rectangle 17"/>
                <p:cNvSpPr>
                  <a:spLocks noChangeArrowheads="1"/>
                </p:cNvSpPr>
                <p:nvPr/>
              </p:nvSpPr>
              <p:spPr bwMode="auto">
                <a:xfrm>
                  <a:off x="582" y="374"/>
                  <a:ext cx="1088" cy="37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just" latinLnBrk="0"/>
                  <a:r>
                    <a:rPr lang="en-US" altLang="zh-CN" sz="2400" b="1">
                      <a:latin typeface="Times New Roman" pitchFamily="18" charset="0"/>
                      <a:ea typeface="宋体" charset="-122"/>
                    </a:rPr>
                    <a:t>SELECT</a:t>
                  </a:r>
                </a:p>
                <a:p>
                  <a:pPr algn="just" eaLnBrk="0" latinLnBrk="0" hangingPunct="0"/>
                  <a:endParaRPr lang="zh-CN" altLang="en-US" sz="2400" b="1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285714" name="Rectangle 18"/>
                <p:cNvSpPr>
                  <a:spLocks noChangeArrowheads="1"/>
                </p:cNvSpPr>
                <p:nvPr/>
              </p:nvSpPr>
              <p:spPr bwMode="auto">
                <a:xfrm>
                  <a:off x="539" y="374"/>
                  <a:ext cx="1174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  <p:grpSp>
            <p:nvGrpSpPr>
              <p:cNvPr id="8" name="Group 19"/>
              <p:cNvGrpSpPr>
                <a:grpSpLocks/>
              </p:cNvGrpSpPr>
              <p:nvPr/>
            </p:nvGrpSpPr>
            <p:grpSpPr bwMode="auto">
              <a:xfrm>
                <a:off x="0" y="748"/>
                <a:ext cx="539" cy="374"/>
                <a:chOff x="0" y="748"/>
                <a:chExt cx="539" cy="374"/>
              </a:xfrm>
            </p:grpSpPr>
            <p:sp>
              <p:nvSpPr>
                <p:cNvPr id="285716" name="Rectangle 20"/>
                <p:cNvSpPr>
                  <a:spLocks noChangeArrowheads="1"/>
                </p:cNvSpPr>
                <p:nvPr/>
              </p:nvSpPr>
              <p:spPr bwMode="auto">
                <a:xfrm>
                  <a:off x="43" y="748"/>
                  <a:ext cx="453" cy="37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 latinLnBrk="0"/>
                  <a:r>
                    <a:rPr lang="zh-CN" altLang="en-US" sz="2400" b="1">
                      <a:latin typeface="Times New Roman" pitchFamily="18" charset="0"/>
                      <a:ea typeface="宋体" charset="-122"/>
                    </a:rPr>
                    <a:t>数据定义</a:t>
                  </a:r>
                </a:p>
                <a:p>
                  <a:pPr algn="ctr" eaLnBrk="0" latinLnBrk="0" hangingPunct="0"/>
                  <a:endParaRPr lang="zh-CN" altLang="en-US" sz="2400" b="1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285717" name="Rectangle 21"/>
                <p:cNvSpPr>
                  <a:spLocks noChangeArrowheads="1"/>
                </p:cNvSpPr>
                <p:nvPr/>
              </p:nvSpPr>
              <p:spPr bwMode="auto">
                <a:xfrm>
                  <a:off x="0" y="748"/>
                  <a:ext cx="539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  <p:grpSp>
            <p:nvGrpSpPr>
              <p:cNvPr id="9" name="Group 22"/>
              <p:cNvGrpSpPr>
                <a:grpSpLocks/>
              </p:cNvGrpSpPr>
              <p:nvPr/>
            </p:nvGrpSpPr>
            <p:grpSpPr bwMode="auto">
              <a:xfrm>
                <a:off x="539" y="748"/>
                <a:ext cx="1174" cy="374"/>
                <a:chOff x="539" y="748"/>
                <a:chExt cx="1174" cy="374"/>
              </a:xfrm>
            </p:grpSpPr>
            <p:sp>
              <p:nvSpPr>
                <p:cNvPr id="285719" name="Rectangle 23"/>
                <p:cNvSpPr>
                  <a:spLocks noChangeArrowheads="1"/>
                </p:cNvSpPr>
                <p:nvPr/>
              </p:nvSpPr>
              <p:spPr bwMode="auto">
                <a:xfrm>
                  <a:off x="582" y="748"/>
                  <a:ext cx="1088" cy="37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just" latinLnBrk="0"/>
                  <a:r>
                    <a:rPr lang="en-US" altLang="zh-CN" sz="2400" b="1">
                      <a:latin typeface="Times New Roman" pitchFamily="18" charset="0"/>
                      <a:ea typeface="宋体" charset="-122"/>
                    </a:rPr>
                    <a:t>CREATE</a:t>
                  </a:r>
                  <a:r>
                    <a:rPr lang="zh-CN" altLang="en-US" sz="2400" b="1">
                      <a:latin typeface="Times New Roman" pitchFamily="18" charset="0"/>
                      <a:ea typeface="宋体" charset="-122"/>
                    </a:rPr>
                    <a:t>、</a:t>
                  </a:r>
                  <a:r>
                    <a:rPr lang="en-US" altLang="zh-CN" sz="2400" b="1">
                      <a:latin typeface="Times New Roman" pitchFamily="18" charset="0"/>
                      <a:ea typeface="宋体" charset="-122"/>
                    </a:rPr>
                    <a:t>DROP</a:t>
                  </a:r>
                  <a:r>
                    <a:rPr lang="zh-CN" altLang="en-US" sz="2400" b="1">
                      <a:latin typeface="Times New Roman" pitchFamily="18" charset="0"/>
                      <a:ea typeface="宋体" charset="-122"/>
                    </a:rPr>
                    <a:t>、</a:t>
                  </a:r>
                  <a:r>
                    <a:rPr lang="en-US" altLang="zh-CN" sz="2400" b="1">
                      <a:latin typeface="Times New Roman" pitchFamily="18" charset="0"/>
                      <a:ea typeface="宋体" charset="-122"/>
                    </a:rPr>
                    <a:t>ALTER</a:t>
                  </a:r>
                </a:p>
                <a:p>
                  <a:pPr algn="just" eaLnBrk="0" latinLnBrk="0" hangingPunct="0"/>
                  <a:endParaRPr lang="zh-CN" altLang="en-US" sz="2400" b="1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285720" name="Rectangle 24"/>
                <p:cNvSpPr>
                  <a:spLocks noChangeArrowheads="1"/>
                </p:cNvSpPr>
                <p:nvPr/>
              </p:nvSpPr>
              <p:spPr bwMode="auto">
                <a:xfrm>
                  <a:off x="539" y="748"/>
                  <a:ext cx="1174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  <p:grpSp>
            <p:nvGrpSpPr>
              <p:cNvPr id="10" name="Group 25"/>
              <p:cNvGrpSpPr>
                <a:grpSpLocks/>
              </p:cNvGrpSpPr>
              <p:nvPr/>
            </p:nvGrpSpPr>
            <p:grpSpPr bwMode="auto">
              <a:xfrm>
                <a:off x="0" y="1122"/>
                <a:ext cx="539" cy="374"/>
                <a:chOff x="0" y="1122"/>
                <a:chExt cx="539" cy="374"/>
              </a:xfrm>
            </p:grpSpPr>
            <p:sp>
              <p:nvSpPr>
                <p:cNvPr id="285722" name="Rectangle 26"/>
                <p:cNvSpPr>
                  <a:spLocks noChangeArrowheads="1"/>
                </p:cNvSpPr>
                <p:nvPr/>
              </p:nvSpPr>
              <p:spPr bwMode="auto">
                <a:xfrm>
                  <a:off x="43" y="1122"/>
                  <a:ext cx="453" cy="37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 latinLnBrk="0"/>
                  <a:r>
                    <a:rPr lang="zh-CN" altLang="en-US" sz="2400" b="1">
                      <a:latin typeface="Times New Roman" pitchFamily="18" charset="0"/>
                      <a:ea typeface="宋体" charset="-122"/>
                    </a:rPr>
                    <a:t>数据操纵</a:t>
                  </a:r>
                </a:p>
                <a:p>
                  <a:pPr algn="ctr" eaLnBrk="0" latinLnBrk="0" hangingPunct="0"/>
                  <a:endParaRPr lang="zh-CN" altLang="en-US" sz="2400" b="1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285723" name="Rectangle 27"/>
                <p:cNvSpPr>
                  <a:spLocks noChangeArrowheads="1"/>
                </p:cNvSpPr>
                <p:nvPr/>
              </p:nvSpPr>
              <p:spPr bwMode="auto">
                <a:xfrm>
                  <a:off x="0" y="1122"/>
                  <a:ext cx="539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  <p:grpSp>
            <p:nvGrpSpPr>
              <p:cNvPr id="11" name="Group 28"/>
              <p:cNvGrpSpPr>
                <a:grpSpLocks/>
              </p:cNvGrpSpPr>
              <p:nvPr/>
            </p:nvGrpSpPr>
            <p:grpSpPr bwMode="auto">
              <a:xfrm>
                <a:off x="539" y="1122"/>
                <a:ext cx="1174" cy="374"/>
                <a:chOff x="539" y="1122"/>
                <a:chExt cx="1174" cy="374"/>
              </a:xfrm>
            </p:grpSpPr>
            <p:sp>
              <p:nvSpPr>
                <p:cNvPr id="285725" name="Rectangle 29"/>
                <p:cNvSpPr>
                  <a:spLocks noChangeArrowheads="1"/>
                </p:cNvSpPr>
                <p:nvPr/>
              </p:nvSpPr>
              <p:spPr bwMode="auto">
                <a:xfrm>
                  <a:off x="582" y="1122"/>
                  <a:ext cx="1088" cy="37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just" latinLnBrk="0"/>
                  <a:r>
                    <a:rPr lang="en-US" altLang="zh-CN" sz="2400" b="1" dirty="0">
                      <a:latin typeface="Times New Roman" pitchFamily="18" charset="0"/>
                      <a:ea typeface="宋体" charset="-122"/>
                    </a:rPr>
                    <a:t>INSERT</a:t>
                  </a:r>
                  <a:r>
                    <a:rPr lang="zh-CN" altLang="en-US" sz="2400" b="1" dirty="0">
                      <a:latin typeface="Times New Roman" pitchFamily="18" charset="0"/>
                      <a:ea typeface="宋体" charset="-122"/>
                    </a:rPr>
                    <a:t>、</a:t>
                  </a:r>
                  <a:r>
                    <a:rPr lang="en-US" altLang="zh-CN" sz="2400" b="1" dirty="0">
                      <a:latin typeface="Times New Roman" pitchFamily="18" charset="0"/>
                      <a:ea typeface="宋体" charset="-122"/>
                    </a:rPr>
                    <a:t>UPDATE</a:t>
                  </a:r>
                  <a:r>
                    <a:rPr lang="zh-CN" altLang="en-US" sz="2400" b="1" dirty="0">
                      <a:latin typeface="Times New Roman" pitchFamily="18" charset="0"/>
                      <a:ea typeface="宋体" charset="-122"/>
                    </a:rPr>
                    <a:t>、</a:t>
                  </a:r>
                  <a:r>
                    <a:rPr lang="en-US" altLang="zh-CN" sz="2400" b="1" dirty="0">
                      <a:latin typeface="Times New Roman" pitchFamily="18" charset="0"/>
                      <a:ea typeface="宋体" charset="-122"/>
                    </a:rPr>
                    <a:t>DELETE</a:t>
                  </a:r>
                </a:p>
                <a:p>
                  <a:pPr algn="just" eaLnBrk="0" latinLnBrk="0" hangingPunct="0"/>
                  <a:endParaRPr lang="zh-CN" altLang="en-US" sz="2400" b="1" dirty="0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285726" name="Rectangle 30"/>
                <p:cNvSpPr>
                  <a:spLocks noChangeArrowheads="1"/>
                </p:cNvSpPr>
                <p:nvPr/>
              </p:nvSpPr>
              <p:spPr bwMode="auto">
                <a:xfrm>
                  <a:off x="539" y="1122"/>
                  <a:ext cx="1174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  <p:grpSp>
            <p:nvGrpSpPr>
              <p:cNvPr id="12" name="Group 31"/>
              <p:cNvGrpSpPr>
                <a:grpSpLocks/>
              </p:cNvGrpSpPr>
              <p:nvPr/>
            </p:nvGrpSpPr>
            <p:grpSpPr bwMode="auto">
              <a:xfrm>
                <a:off x="0" y="1496"/>
                <a:ext cx="539" cy="374"/>
                <a:chOff x="0" y="1496"/>
                <a:chExt cx="539" cy="374"/>
              </a:xfrm>
            </p:grpSpPr>
            <p:sp>
              <p:nvSpPr>
                <p:cNvPr id="285728" name="Rectangle 32"/>
                <p:cNvSpPr>
                  <a:spLocks noChangeArrowheads="1"/>
                </p:cNvSpPr>
                <p:nvPr/>
              </p:nvSpPr>
              <p:spPr bwMode="auto">
                <a:xfrm>
                  <a:off x="43" y="1496"/>
                  <a:ext cx="453" cy="37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 latinLnBrk="0"/>
                  <a:r>
                    <a:rPr lang="zh-CN" altLang="en-US" sz="2400" b="1" dirty="0">
                      <a:latin typeface="Times New Roman" pitchFamily="18" charset="0"/>
                      <a:ea typeface="宋体" charset="-122"/>
                    </a:rPr>
                    <a:t>数据控制</a:t>
                  </a:r>
                </a:p>
                <a:p>
                  <a:pPr algn="ctr" eaLnBrk="0" latinLnBrk="0" hangingPunct="0"/>
                  <a:endParaRPr lang="zh-CN" altLang="en-US" sz="2400" b="1" dirty="0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285729" name="Rectangle 33"/>
                <p:cNvSpPr>
                  <a:spLocks noChangeArrowheads="1"/>
                </p:cNvSpPr>
                <p:nvPr/>
              </p:nvSpPr>
              <p:spPr bwMode="auto">
                <a:xfrm>
                  <a:off x="0" y="1496"/>
                  <a:ext cx="539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  <p:grpSp>
            <p:nvGrpSpPr>
              <p:cNvPr id="13" name="Group 34"/>
              <p:cNvGrpSpPr>
                <a:grpSpLocks/>
              </p:cNvGrpSpPr>
              <p:nvPr/>
            </p:nvGrpSpPr>
            <p:grpSpPr bwMode="auto">
              <a:xfrm>
                <a:off x="539" y="1496"/>
                <a:ext cx="1174" cy="374"/>
                <a:chOff x="539" y="1496"/>
                <a:chExt cx="1174" cy="374"/>
              </a:xfrm>
            </p:grpSpPr>
            <p:sp>
              <p:nvSpPr>
                <p:cNvPr id="285731" name="Rectangle 35"/>
                <p:cNvSpPr>
                  <a:spLocks noChangeArrowheads="1"/>
                </p:cNvSpPr>
                <p:nvPr/>
              </p:nvSpPr>
              <p:spPr bwMode="auto">
                <a:xfrm>
                  <a:off x="582" y="1496"/>
                  <a:ext cx="1088" cy="37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just" latinLnBrk="0"/>
                  <a:r>
                    <a:rPr lang="en-US" altLang="zh-CN" sz="2400" b="1" dirty="0">
                      <a:latin typeface="Times New Roman" pitchFamily="18" charset="0"/>
                      <a:ea typeface="宋体" charset="-122"/>
                    </a:rPr>
                    <a:t>GRANT</a:t>
                  </a:r>
                  <a:r>
                    <a:rPr lang="zh-CN" altLang="en-US" sz="2400" b="1" dirty="0">
                      <a:latin typeface="Times New Roman" pitchFamily="18" charset="0"/>
                      <a:ea typeface="宋体" charset="-122"/>
                    </a:rPr>
                    <a:t>、</a:t>
                  </a:r>
                  <a:r>
                    <a:rPr lang="en-US" altLang="zh-CN" sz="2400" b="1" dirty="0">
                      <a:latin typeface="Times New Roman" pitchFamily="18" charset="0"/>
                      <a:ea typeface="宋体" charset="-122"/>
                    </a:rPr>
                    <a:t>REVOKE</a:t>
                  </a:r>
                  <a:r>
                    <a:rPr lang="zh-CN" altLang="en-US" sz="2400" b="1" dirty="0">
                      <a:latin typeface="Times New Roman" pitchFamily="18" charset="0"/>
                      <a:ea typeface="宋体" charset="-122"/>
                    </a:rPr>
                    <a:t>、</a:t>
                  </a:r>
                  <a:r>
                    <a:rPr lang="en-US" altLang="zh-CN" sz="2400" b="1">
                      <a:latin typeface="Times New Roman" pitchFamily="18" charset="0"/>
                      <a:ea typeface="宋体" charset="-122"/>
                    </a:rPr>
                    <a:t>DENY</a:t>
                  </a:r>
                </a:p>
                <a:p>
                  <a:pPr algn="just" eaLnBrk="0" latinLnBrk="0" hangingPunct="0"/>
                  <a:endParaRPr lang="zh-CN" altLang="en-US" sz="2400" b="1" dirty="0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285732" name="Rectangle 36"/>
                <p:cNvSpPr>
                  <a:spLocks noChangeArrowheads="1"/>
                </p:cNvSpPr>
                <p:nvPr/>
              </p:nvSpPr>
              <p:spPr bwMode="auto">
                <a:xfrm>
                  <a:off x="539" y="1496"/>
                  <a:ext cx="1174" cy="37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</p:grpSp>
        <p:sp>
          <p:nvSpPr>
            <p:cNvPr id="285733" name="Rectangle 37"/>
            <p:cNvSpPr>
              <a:spLocks noChangeArrowheads="1"/>
            </p:cNvSpPr>
            <p:nvPr/>
          </p:nvSpPr>
          <p:spPr bwMode="auto">
            <a:xfrm>
              <a:off x="-3" y="-3"/>
              <a:ext cx="1719" cy="1876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85734" name="Text Box 38"/>
          <p:cNvSpPr txBox="1">
            <a:spLocks noChangeArrowheads="1"/>
          </p:cNvSpPr>
          <p:nvPr/>
        </p:nvSpPr>
        <p:spPr bwMode="auto">
          <a:xfrm>
            <a:off x="395288" y="1282080"/>
            <a:ext cx="8532812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四部分：数据定义功能、数据控制功能、数据查询功能和数据操纵功能。</a:t>
            </a:r>
            <a:r>
              <a:rPr lang="en-US" altLang="zh-CN" b="1" dirty="0"/>
              <a:t> </a:t>
            </a:r>
          </a:p>
        </p:txBody>
      </p:sp>
      <p:sp>
        <p:nvSpPr>
          <p:cNvPr id="37" name="日期占位符 3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F7C352C-1AAE-4982-99E2-09F731479BC1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39" name="动作按钮: 后退或前一项 38">
            <a:hlinkClick r:id="rId2" action="ppaction://hlinksldjump" highlightClick="1"/>
          </p:cNvPr>
          <p:cNvSpPr/>
          <p:nvPr/>
        </p:nvSpPr>
        <p:spPr>
          <a:xfrm>
            <a:off x="6948264" y="6309320"/>
            <a:ext cx="648072" cy="288032"/>
          </a:xfrm>
          <a:prstGeom prst="actionButtonBackPrevious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灯片编号占位符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6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5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5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85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SQL</a:t>
            </a:r>
            <a:r>
              <a:rPr lang="zh-CN" altLang="en-US" dirty="0"/>
              <a:t>支持的数据类型</a:t>
            </a:r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700213"/>
            <a:ext cx="3313113" cy="3457575"/>
          </a:xfrm>
        </p:spPr>
        <p:txBody>
          <a:bodyPr/>
          <a:lstStyle/>
          <a:p>
            <a:r>
              <a:rPr lang="zh-CN" altLang="en-US" sz="3700" dirty="0"/>
              <a:t>数值型 </a:t>
            </a:r>
          </a:p>
          <a:p>
            <a:r>
              <a:rPr lang="zh-CN" altLang="en-US" sz="3700" dirty="0"/>
              <a:t>字符串型</a:t>
            </a:r>
          </a:p>
          <a:p>
            <a:r>
              <a:rPr lang="zh-CN" altLang="en-US" sz="3700" dirty="0"/>
              <a:t>日期时间型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BBFADC-B3DD-49CC-BD52-A50AC0CA3ADC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7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数值型</a:t>
            </a:r>
          </a:p>
        </p:txBody>
      </p:sp>
      <p:sp>
        <p:nvSpPr>
          <p:cNvPr id="5263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95536" y="1268760"/>
            <a:ext cx="8424936" cy="4824536"/>
          </a:xfrm>
          <a:noFill/>
          <a:ln/>
        </p:spPr>
        <p:txBody>
          <a:bodyPr/>
          <a:lstStyle/>
          <a:p>
            <a:pPr marL="457200" indent="-457200">
              <a:lnSpc>
                <a:spcPct val="90000"/>
              </a:lnSpc>
            </a:pPr>
            <a:r>
              <a:rPr lang="zh-CN" altLang="en-US" sz="2900" dirty="0">
                <a:solidFill>
                  <a:srgbClr val="FF00FF"/>
                </a:solidFill>
                <a:ea typeface="宋体" charset="-122"/>
              </a:rPr>
              <a:t>准确型 </a:t>
            </a:r>
          </a:p>
          <a:p>
            <a:pPr marL="1027113" lvl="1" indent="-455613">
              <a:lnSpc>
                <a:spcPct val="90000"/>
              </a:lnSpc>
            </a:pPr>
            <a:r>
              <a:rPr lang="zh-CN" altLang="en-US" sz="2600" dirty="0">
                <a:solidFill>
                  <a:srgbClr val="FF0000"/>
                </a:solidFill>
                <a:ea typeface="宋体" charset="-122"/>
              </a:rPr>
              <a:t>整数</a:t>
            </a:r>
          </a:p>
          <a:p>
            <a:pPr marL="1370013" lvl="2">
              <a:lnSpc>
                <a:spcPct val="90000"/>
              </a:lnSpc>
              <a:buFontTx/>
              <a:buNone/>
            </a:pPr>
            <a:r>
              <a:rPr lang="en-US" altLang="zh-CN" sz="2600" dirty="0" err="1">
                <a:ea typeface="宋体" charset="-122"/>
              </a:rPr>
              <a:t>Bigint</a:t>
            </a:r>
            <a:r>
              <a:rPr lang="en-US" altLang="zh-CN" sz="2600" dirty="0">
                <a:ea typeface="宋体" charset="-122"/>
              </a:rPr>
              <a:t>: 8</a:t>
            </a:r>
            <a:r>
              <a:rPr lang="zh-CN" altLang="en-US" sz="2600" dirty="0">
                <a:ea typeface="宋体" charset="-122"/>
              </a:rPr>
              <a:t>字节，     </a:t>
            </a:r>
            <a:r>
              <a:rPr lang="en-US" altLang="zh-CN" sz="2600" dirty="0" err="1">
                <a:ea typeface="宋体" charset="-122"/>
              </a:rPr>
              <a:t>Int</a:t>
            </a:r>
            <a:r>
              <a:rPr lang="zh-CN" altLang="en-US" sz="2600" dirty="0">
                <a:ea typeface="宋体" charset="-122"/>
              </a:rPr>
              <a:t>：</a:t>
            </a:r>
            <a:r>
              <a:rPr lang="en-US" altLang="zh-CN" sz="2600" dirty="0">
                <a:ea typeface="宋体" charset="-122"/>
              </a:rPr>
              <a:t>4</a:t>
            </a:r>
            <a:r>
              <a:rPr lang="zh-CN" altLang="en-US" sz="2600" dirty="0">
                <a:ea typeface="宋体" charset="-122"/>
              </a:rPr>
              <a:t>字节</a:t>
            </a:r>
          </a:p>
          <a:p>
            <a:pPr marL="1370013" lvl="2">
              <a:lnSpc>
                <a:spcPct val="90000"/>
              </a:lnSpc>
              <a:buFontTx/>
              <a:buNone/>
            </a:pPr>
            <a:r>
              <a:rPr lang="en-US" altLang="zh-CN" sz="2600" dirty="0" err="1">
                <a:ea typeface="宋体" charset="-122"/>
              </a:rPr>
              <a:t>Smallint</a:t>
            </a:r>
            <a:r>
              <a:rPr lang="zh-CN" altLang="en-US" sz="2600" dirty="0">
                <a:ea typeface="宋体" charset="-122"/>
              </a:rPr>
              <a:t>：</a:t>
            </a:r>
            <a:r>
              <a:rPr lang="en-US" altLang="zh-CN" sz="2600" dirty="0">
                <a:ea typeface="宋体" charset="-122"/>
              </a:rPr>
              <a:t>2</a:t>
            </a:r>
            <a:r>
              <a:rPr lang="zh-CN" altLang="en-US" sz="2600" dirty="0">
                <a:ea typeface="宋体" charset="-122"/>
              </a:rPr>
              <a:t>字节，   </a:t>
            </a:r>
            <a:r>
              <a:rPr lang="en-US" altLang="zh-CN" sz="2600" dirty="0" err="1">
                <a:ea typeface="宋体" charset="-122"/>
              </a:rPr>
              <a:t>Tinyint</a:t>
            </a:r>
            <a:r>
              <a:rPr lang="zh-CN" altLang="en-US" sz="2600" dirty="0">
                <a:ea typeface="宋体" charset="-122"/>
              </a:rPr>
              <a:t>：</a:t>
            </a:r>
            <a:r>
              <a:rPr lang="en-US" altLang="zh-CN" sz="2600" dirty="0">
                <a:ea typeface="宋体" charset="-122"/>
              </a:rPr>
              <a:t>1</a:t>
            </a:r>
            <a:r>
              <a:rPr lang="zh-CN" altLang="en-US" sz="2600" dirty="0">
                <a:ea typeface="宋体" charset="-122"/>
              </a:rPr>
              <a:t>字节</a:t>
            </a:r>
            <a:r>
              <a:rPr lang="en-US" altLang="zh-CN" sz="2600" dirty="0">
                <a:ea typeface="宋体" charset="-122"/>
              </a:rPr>
              <a:t>(0</a:t>
            </a:r>
            <a:r>
              <a:rPr lang="en-US" altLang="zh-CN" sz="2600" dirty="0">
                <a:latin typeface="+mn-ea"/>
                <a:ea typeface="+mn-ea"/>
              </a:rPr>
              <a:t>~</a:t>
            </a:r>
            <a:r>
              <a:rPr lang="en-US" altLang="zh-CN" sz="2600" dirty="0">
                <a:ea typeface="宋体" charset="-122"/>
              </a:rPr>
              <a:t>255)</a:t>
            </a:r>
            <a:r>
              <a:rPr lang="zh-CN" altLang="en-US" sz="2600" dirty="0">
                <a:ea typeface="宋体" charset="-122"/>
              </a:rPr>
              <a:t> </a:t>
            </a:r>
          </a:p>
          <a:p>
            <a:pPr marL="1370013" lvl="2">
              <a:lnSpc>
                <a:spcPct val="90000"/>
              </a:lnSpc>
              <a:buFontTx/>
              <a:buNone/>
            </a:pPr>
            <a:r>
              <a:rPr lang="en-US" altLang="zh-CN" sz="2600" dirty="0">
                <a:ea typeface="宋体" charset="-122"/>
              </a:rPr>
              <a:t>Bit</a:t>
            </a:r>
            <a:r>
              <a:rPr lang="zh-CN" altLang="en-US" sz="2600" dirty="0">
                <a:ea typeface="宋体" charset="-122"/>
              </a:rPr>
              <a:t>：</a:t>
            </a:r>
            <a:r>
              <a:rPr lang="en-US" altLang="zh-CN" sz="2600" dirty="0">
                <a:ea typeface="宋体" charset="-122"/>
              </a:rPr>
              <a:t>1</a:t>
            </a:r>
            <a:r>
              <a:rPr lang="zh-CN" altLang="en-US" sz="2600" dirty="0">
                <a:ea typeface="宋体" charset="-122"/>
              </a:rPr>
              <a:t>位，存储</a:t>
            </a:r>
            <a:r>
              <a:rPr lang="en-US" altLang="zh-CN" sz="2600" dirty="0">
                <a:ea typeface="宋体" charset="-122"/>
              </a:rPr>
              <a:t>1</a:t>
            </a:r>
            <a:r>
              <a:rPr lang="zh-CN" altLang="en-US" sz="2600" dirty="0">
                <a:ea typeface="宋体" charset="-122"/>
              </a:rPr>
              <a:t>或</a:t>
            </a:r>
            <a:r>
              <a:rPr lang="en-US" altLang="zh-CN" sz="2600" dirty="0">
                <a:ea typeface="宋体" charset="-122"/>
              </a:rPr>
              <a:t>0</a:t>
            </a:r>
          </a:p>
          <a:p>
            <a:pPr marL="1027113" lvl="1" indent="-455613">
              <a:lnSpc>
                <a:spcPct val="90000"/>
              </a:lnSpc>
            </a:pPr>
            <a:r>
              <a:rPr lang="zh-CN" altLang="en-US" sz="2600" dirty="0">
                <a:solidFill>
                  <a:srgbClr val="FF0000"/>
                </a:solidFill>
                <a:ea typeface="宋体" charset="-122"/>
              </a:rPr>
              <a:t>小数</a:t>
            </a:r>
          </a:p>
          <a:p>
            <a:pPr marL="1370013" lvl="2">
              <a:lnSpc>
                <a:spcPct val="90000"/>
              </a:lnSpc>
              <a:buFontTx/>
              <a:buNone/>
            </a:pPr>
            <a:r>
              <a:rPr lang="en-US" altLang="zh-CN" sz="2600" dirty="0">
                <a:ea typeface="宋体" charset="-122"/>
              </a:rPr>
              <a:t>Numeric</a:t>
            </a:r>
            <a:r>
              <a:rPr lang="zh-CN" altLang="en-US" sz="2600" dirty="0">
                <a:ea typeface="宋体" charset="-122"/>
              </a:rPr>
              <a:t>（</a:t>
            </a:r>
            <a:r>
              <a:rPr lang="en-US" altLang="zh-CN" sz="2600" dirty="0" err="1">
                <a:ea typeface="宋体" charset="-122"/>
              </a:rPr>
              <a:t>p,q</a:t>
            </a:r>
            <a:r>
              <a:rPr lang="zh-CN" altLang="en-US" sz="2600" dirty="0">
                <a:ea typeface="宋体" charset="-122"/>
              </a:rPr>
              <a:t>）或</a:t>
            </a:r>
            <a:r>
              <a:rPr lang="en-US" altLang="zh-CN" sz="2600" dirty="0">
                <a:ea typeface="宋体" charset="-122"/>
              </a:rPr>
              <a:t>Decimal</a:t>
            </a:r>
            <a:r>
              <a:rPr lang="zh-CN" altLang="en-US" sz="2600" dirty="0">
                <a:ea typeface="宋体" charset="-122"/>
              </a:rPr>
              <a:t>（</a:t>
            </a:r>
            <a:r>
              <a:rPr lang="en-US" altLang="zh-CN" sz="2600" dirty="0" err="1">
                <a:ea typeface="宋体" charset="-122"/>
              </a:rPr>
              <a:t>p,q</a:t>
            </a:r>
            <a:r>
              <a:rPr lang="zh-CN" altLang="en-US" sz="2600" dirty="0">
                <a:ea typeface="宋体" charset="-122"/>
              </a:rPr>
              <a:t>）， </a:t>
            </a:r>
          </a:p>
          <a:p>
            <a:pPr marL="1370013" lvl="2">
              <a:lnSpc>
                <a:spcPct val="90000"/>
              </a:lnSpc>
              <a:buFontTx/>
              <a:buNone/>
            </a:pPr>
            <a:r>
              <a:rPr lang="zh-CN" altLang="en-US" sz="2600" dirty="0">
                <a:ea typeface="宋体" charset="-122"/>
              </a:rPr>
              <a:t>其中：</a:t>
            </a:r>
            <a:r>
              <a:rPr lang="en-US" altLang="zh-CN" sz="2600" dirty="0">
                <a:ea typeface="宋体" charset="-122"/>
              </a:rPr>
              <a:t>p</a:t>
            </a:r>
            <a:r>
              <a:rPr lang="zh-CN" altLang="en-US" sz="2600" dirty="0">
                <a:ea typeface="宋体" charset="-122"/>
              </a:rPr>
              <a:t>为数字位长度，</a:t>
            </a:r>
            <a:r>
              <a:rPr lang="en-US" altLang="zh-CN" sz="2600" dirty="0">
                <a:ea typeface="宋体" charset="-122"/>
              </a:rPr>
              <a:t>q</a:t>
            </a:r>
            <a:r>
              <a:rPr lang="zh-CN" altLang="en-US" sz="2600" dirty="0">
                <a:ea typeface="宋体" charset="-122"/>
              </a:rPr>
              <a:t>：小数位长度。</a:t>
            </a:r>
          </a:p>
          <a:p>
            <a:pPr marL="457200" indent="-457200">
              <a:lnSpc>
                <a:spcPct val="90000"/>
              </a:lnSpc>
            </a:pPr>
            <a:r>
              <a:rPr lang="zh-CN" altLang="en-US" sz="2900" dirty="0">
                <a:solidFill>
                  <a:srgbClr val="FF00FF"/>
                </a:solidFill>
                <a:ea typeface="宋体" charset="-122"/>
              </a:rPr>
              <a:t>近似型</a:t>
            </a:r>
          </a:p>
          <a:p>
            <a:pPr marL="1027113" lvl="1" indent="-455613">
              <a:lnSpc>
                <a:spcPct val="90000"/>
              </a:lnSpc>
              <a:buFontTx/>
              <a:buNone/>
            </a:pPr>
            <a:r>
              <a:rPr lang="zh-CN" altLang="en-US" sz="2600" dirty="0">
                <a:ea typeface="宋体" charset="-122"/>
              </a:rPr>
              <a:t>	</a:t>
            </a:r>
            <a:r>
              <a:rPr lang="en-US" altLang="zh-CN" sz="2600" dirty="0">
                <a:ea typeface="宋体" charset="-122"/>
              </a:rPr>
              <a:t>Float</a:t>
            </a:r>
            <a:r>
              <a:rPr lang="zh-CN" altLang="en-US" sz="2600" dirty="0">
                <a:ea typeface="宋体" charset="-122"/>
              </a:rPr>
              <a:t>：</a:t>
            </a:r>
            <a:r>
              <a:rPr lang="en-US" altLang="zh-CN" sz="2600" dirty="0">
                <a:ea typeface="宋体" charset="-122"/>
              </a:rPr>
              <a:t>8</a:t>
            </a:r>
            <a:r>
              <a:rPr lang="zh-CN" altLang="en-US" sz="2600" dirty="0">
                <a:ea typeface="宋体" charset="-122"/>
              </a:rPr>
              <a:t>字节</a:t>
            </a:r>
          </a:p>
          <a:p>
            <a:pPr marL="1027113" lvl="1" indent="-455613">
              <a:lnSpc>
                <a:spcPct val="90000"/>
              </a:lnSpc>
              <a:buFontTx/>
              <a:buNone/>
            </a:pPr>
            <a:r>
              <a:rPr lang="zh-CN" altLang="en-US" sz="2600" dirty="0">
                <a:ea typeface="宋体" charset="-122"/>
              </a:rPr>
              <a:t>   </a:t>
            </a:r>
            <a:r>
              <a:rPr lang="en-US" altLang="zh-CN" sz="2600" dirty="0">
                <a:ea typeface="宋体" charset="-122"/>
              </a:rPr>
              <a:t>Real</a:t>
            </a:r>
            <a:r>
              <a:rPr lang="zh-CN" altLang="en-US" sz="2600" dirty="0">
                <a:ea typeface="宋体" charset="-122"/>
              </a:rPr>
              <a:t>：</a:t>
            </a:r>
            <a:r>
              <a:rPr lang="en-US" altLang="zh-CN" sz="2600" dirty="0">
                <a:ea typeface="宋体" charset="-122"/>
              </a:rPr>
              <a:t>4</a:t>
            </a:r>
            <a:r>
              <a:rPr lang="zh-CN" altLang="en-US" sz="2600" dirty="0">
                <a:ea typeface="宋体" charset="-122"/>
              </a:rPr>
              <a:t>字节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F78E90-958D-4DDD-95E0-2AEB73FE6CF5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8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526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"/>
                                        <p:tgtEl>
                                          <p:spTgt spid="526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5"/>
                                        <p:tgtEl>
                                          <p:spTgt spid="526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75"/>
                                        <p:tgtEl>
                                          <p:spTgt spid="526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"/>
                                        <p:tgtEl>
                                          <p:spTgt spid="526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526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"/>
                                        <p:tgtEl>
                                          <p:spTgt spid="526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"/>
                                        <p:tgtEl>
                                          <p:spTgt spid="526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"/>
                                        <p:tgtEl>
                                          <p:spTgt spid="5263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75"/>
                                        <p:tgtEl>
                                          <p:spTgt spid="5263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75"/>
                                        <p:tgtEl>
                                          <p:spTgt spid="5263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340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200"/>
              <a:t>字符串型</a:t>
            </a:r>
          </a:p>
        </p:txBody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5" y="1557338"/>
            <a:ext cx="6120681" cy="4463950"/>
          </a:xfrm>
        </p:spPr>
        <p:txBody>
          <a:bodyPr/>
          <a:lstStyle/>
          <a:p>
            <a:r>
              <a:rPr lang="zh-CN" altLang="en-US" sz="3700" dirty="0"/>
              <a:t>普通编码字符串类型</a:t>
            </a:r>
          </a:p>
          <a:p>
            <a:r>
              <a:rPr lang="zh-CN" altLang="en-US" sz="3700" dirty="0"/>
              <a:t>统一字符编码字符串类型</a:t>
            </a:r>
          </a:p>
          <a:p>
            <a:r>
              <a:rPr lang="zh-CN" altLang="en-US" sz="3700" dirty="0"/>
              <a:t>二进制字符串类型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0958AA-B867-4DB7-9EA8-61FADAC10A09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9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7" y="304800"/>
            <a:ext cx="8496944" cy="819150"/>
          </a:xfrm>
        </p:spPr>
        <p:txBody>
          <a:bodyPr/>
          <a:lstStyle/>
          <a:p>
            <a:r>
              <a:rPr lang="zh-CN" altLang="en-US" sz="3600" dirty="0"/>
              <a:t>普通编码字符串类型（</a:t>
            </a:r>
            <a:r>
              <a:rPr lang="en-US" altLang="zh-CN" sz="3600" dirty="0">
                <a:solidFill>
                  <a:srgbClr val="FF3399"/>
                </a:solidFill>
              </a:rPr>
              <a:t>ASCII</a:t>
            </a:r>
            <a:r>
              <a:rPr lang="zh-CN" altLang="en-US" sz="3600" dirty="0">
                <a:solidFill>
                  <a:srgbClr val="FF3399"/>
                </a:solidFill>
              </a:rPr>
              <a:t>代码体系</a:t>
            </a:r>
            <a:r>
              <a:rPr lang="zh-CN" altLang="en-US" sz="3600" dirty="0"/>
              <a:t>）</a:t>
            </a:r>
            <a:endParaRPr lang="en-US" altLang="zh-CN" sz="3600" dirty="0"/>
          </a:p>
        </p:txBody>
      </p:sp>
      <p:sp>
        <p:nvSpPr>
          <p:cNvPr id="528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340768"/>
            <a:ext cx="8443912" cy="5517232"/>
          </a:xfrm>
        </p:spPr>
        <p:txBody>
          <a:bodyPr/>
          <a:lstStyle/>
          <a:p>
            <a:r>
              <a:rPr lang="en-US" altLang="zh-CN" sz="3300" dirty="0"/>
              <a:t>Char(n):</a:t>
            </a:r>
            <a:r>
              <a:rPr lang="zh-CN" altLang="en-US" sz="3300" dirty="0"/>
              <a:t>定长存储，</a:t>
            </a:r>
            <a:r>
              <a:rPr lang="en-US" altLang="zh-CN" sz="3300" dirty="0"/>
              <a:t>n&lt;=8000 </a:t>
            </a:r>
          </a:p>
          <a:p>
            <a:r>
              <a:rPr lang="en-US" altLang="zh-CN" sz="3300" dirty="0" err="1"/>
              <a:t>Varchar</a:t>
            </a:r>
            <a:r>
              <a:rPr lang="en-US" altLang="zh-CN" sz="3300" dirty="0"/>
              <a:t>(n)</a:t>
            </a:r>
            <a:r>
              <a:rPr lang="zh-CN" altLang="en-US" sz="3300" dirty="0"/>
              <a:t>：不定长存储（按实际长度存储），长度最大不超过</a:t>
            </a:r>
            <a:r>
              <a:rPr lang="en-US" altLang="zh-CN" sz="3300" dirty="0"/>
              <a:t>n , n&lt;=8000 </a:t>
            </a:r>
          </a:p>
          <a:p>
            <a:pPr lvl="1">
              <a:buFontTx/>
              <a:buNone/>
            </a:pPr>
            <a:r>
              <a:rPr lang="zh-CN" altLang="en-US" sz="3500" dirty="0">
                <a:solidFill>
                  <a:srgbClr val="FF0000"/>
                </a:solidFill>
              </a:rPr>
              <a:t>注：</a:t>
            </a:r>
            <a:r>
              <a:rPr lang="en-US" altLang="zh-CN" sz="3500" dirty="0">
                <a:solidFill>
                  <a:srgbClr val="FF0000"/>
                </a:solidFill>
              </a:rPr>
              <a:t>n </a:t>
            </a:r>
            <a:r>
              <a:rPr lang="zh-CN" altLang="en-US" sz="3500" dirty="0">
                <a:solidFill>
                  <a:srgbClr val="FF0000"/>
                </a:solidFill>
              </a:rPr>
              <a:t>为</a:t>
            </a:r>
            <a:r>
              <a:rPr lang="zh-CN" altLang="en-US" sz="3500" dirty="0">
                <a:solidFill>
                  <a:srgbClr val="C00000"/>
                </a:solidFill>
              </a:rPr>
              <a:t>字节</a:t>
            </a:r>
            <a:r>
              <a:rPr lang="zh-CN" altLang="en-US" sz="3500" dirty="0">
                <a:solidFill>
                  <a:srgbClr val="FF0000"/>
                </a:solidFill>
              </a:rPr>
              <a:t>个数，，一个英文字符占一个字节，但是</a:t>
            </a:r>
            <a:r>
              <a:rPr lang="en-US" altLang="zh-CN" sz="3500" dirty="0">
                <a:solidFill>
                  <a:srgbClr val="FF0000"/>
                </a:solidFill>
              </a:rPr>
              <a:t>1</a:t>
            </a:r>
            <a:r>
              <a:rPr lang="zh-CN" altLang="en-US" sz="3500" dirty="0">
                <a:solidFill>
                  <a:srgbClr val="FF0000"/>
                </a:solidFill>
              </a:rPr>
              <a:t>个汉字字符占</a:t>
            </a:r>
            <a:r>
              <a:rPr lang="en-US" altLang="zh-CN" sz="3500" dirty="0">
                <a:solidFill>
                  <a:srgbClr val="FF0000"/>
                </a:solidFill>
              </a:rPr>
              <a:t>2</a:t>
            </a:r>
            <a:r>
              <a:rPr lang="zh-CN" altLang="en-US" sz="3500" dirty="0">
                <a:solidFill>
                  <a:srgbClr val="FF0000"/>
                </a:solidFill>
              </a:rPr>
              <a:t>个字节！！！</a:t>
            </a:r>
          </a:p>
          <a:p>
            <a:r>
              <a:rPr lang="en-US" altLang="zh-CN" sz="3300" dirty="0"/>
              <a:t>Text</a:t>
            </a:r>
            <a:r>
              <a:rPr lang="zh-CN" altLang="en-US" sz="3300" dirty="0"/>
              <a:t>：可以存储大于</a:t>
            </a:r>
            <a:r>
              <a:rPr lang="en-US" altLang="zh-CN" sz="3300" dirty="0"/>
              <a:t>8000</a:t>
            </a:r>
            <a:r>
              <a:rPr lang="zh-CN" altLang="en-US" sz="3300" dirty="0"/>
              <a:t>字节的文本</a:t>
            </a:r>
            <a:endParaRPr lang="en-US" altLang="zh-CN" sz="3300" dirty="0"/>
          </a:p>
          <a:p>
            <a:r>
              <a:rPr lang="en-US" altLang="zh-CN" sz="3300" dirty="0" err="1"/>
              <a:t>Varchar</a:t>
            </a:r>
            <a:r>
              <a:rPr lang="en-US" altLang="zh-CN" sz="3300" dirty="0"/>
              <a:t>(max)</a:t>
            </a:r>
            <a:r>
              <a:rPr lang="zh-CN" altLang="en-US" sz="3300" dirty="0"/>
              <a:t>：存储大于</a:t>
            </a:r>
            <a:r>
              <a:rPr lang="en-US" altLang="zh-CN" sz="3300" dirty="0"/>
              <a:t>8000</a:t>
            </a:r>
            <a:r>
              <a:rPr lang="zh-CN" altLang="en-US" sz="3300" dirty="0"/>
              <a:t>字节的文本</a:t>
            </a:r>
            <a:endParaRPr lang="en-US" altLang="zh-CN" sz="33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50F952-3353-4842-A409-7BC381B373B2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10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819150"/>
          </a:xfrm>
        </p:spPr>
        <p:txBody>
          <a:bodyPr/>
          <a:lstStyle/>
          <a:p>
            <a:r>
              <a:rPr lang="zh-CN" altLang="en-US" sz="3400" dirty="0"/>
              <a:t>统一字符编码字符串类型（</a:t>
            </a:r>
            <a:r>
              <a:rPr lang="en-US" altLang="zh-CN" sz="3400" dirty="0">
                <a:solidFill>
                  <a:srgbClr val="FF0000"/>
                </a:solidFill>
              </a:rPr>
              <a:t>Unicode</a:t>
            </a:r>
            <a:r>
              <a:rPr lang="zh-CN" altLang="en-US" sz="3400" dirty="0">
                <a:solidFill>
                  <a:srgbClr val="FF0000"/>
                </a:solidFill>
              </a:rPr>
              <a:t>代码体系</a:t>
            </a:r>
            <a:r>
              <a:rPr lang="zh-CN" altLang="en-US" sz="3400" dirty="0"/>
              <a:t>）</a:t>
            </a:r>
          </a:p>
        </p:txBody>
      </p:sp>
      <p:sp>
        <p:nvSpPr>
          <p:cNvPr id="529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484313"/>
            <a:ext cx="8496943" cy="5373687"/>
          </a:xfrm>
        </p:spPr>
        <p:txBody>
          <a:bodyPr/>
          <a:lstStyle/>
          <a:p>
            <a:r>
              <a:rPr lang="en-US" altLang="zh-CN" sz="3300" dirty="0" err="1"/>
              <a:t>nchar</a:t>
            </a:r>
            <a:r>
              <a:rPr lang="zh-CN" altLang="en-US" sz="3300" dirty="0"/>
              <a:t>（</a:t>
            </a:r>
            <a:r>
              <a:rPr lang="en-US" altLang="zh-CN" sz="3300" dirty="0"/>
              <a:t>n</a:t>
            </a:r>
            <a:r>
              <a:rPr lang="zh-CN" altLang="en-US" sz="3300" dirty="0"/>
              <a:t>）</a:t>
            </a:r>
            <a:r>
              <a:rPr lang="en-US" altLang="zh-CN" sz="3300" dirty="0"/>
              <a:t>:</a:t>
            </a:r>
            <a:r>
              <a:rPr lang="zh-CN" altLang="en-US" sz="3300" dirty="0"/>
              <a:t>定长存储，</a:t>
            </a:r>
            <a:r>
              <a:rPr lang="en-US" altLang="zh-CN" sz="3300" dirty="0"/>
              <a:t>n&lt;=4000 </a:t>
            </a:r>
          </a:p>
          <a:p>
            <a:r>
              <a:rPr lang="en-US" altLang="zh-CN" sz="3300" dirty="0" err="1"/>
              <a:t>nvarchar</a:t>
            </a:r>
            <a:r>
              <a:rPr lang="zh-CN" altLang="en-US" sz="3300" dirty="0"/>
              <a:t>（</a:t>
            </a:r>
            <a:r>
              <a:rPr lang="en-US" altLang="zh-CN" sz="3300" dirty="0"/>
              <a:t>n</a:t>
            </a:r>
            <a:r>
              <a:rPr lang="zh-CN" altLang="en-US" sz="3300" dirty="0"/>
              <a:t>）：不定长存储，长度最大不超过</a:t>
            </a:r>
            <a:r>
              <a:rPr lang="en-US" altLang="zh-CN" sz="3300" dirty="0"/>
              <a:t>n , n&lt;=4000 </a:t>
            </a:r>
          </a:p>
          <a:p>
            <a:r>
              <a:rPr lang="en-US" altLang="zh-CN" sz="3300" dirty="0" err="1"/>
              <a:t>ntext</a:t>
            </a:r>
            <a:r>
              <a:rPr lang="zh-CN" altLang="en-US" sz="3300" dirty="0"/>
              <a:t>：存储大于</a:t>
            </a:r>
            <a:r>
              <a:rPr lang="en-US" altLang="zh-CN" sz="3300" dirty="0"/>
              <a:t>8000</a:t>
            </a:r>
            <a:r>
              <a:rPr lang="zh-CN" altLang="en-US" sz="3300" dirty="0"/>
              <a:t>字节的文本</a:t>
            </a:r>
            <a:endParaRPr lang="en-US" altLang="zh-CN" sz="3300" dirty="0"/>
          </a:p>
          <a:p>
            <a:r>
              <a:rPr lang="en-US" altLang="zh-CN" sz="3300" dirty="0" err="1"/>
              <a:t>Nvarchar</a:t>
            </a:r>
            <a:r>
              <a:rPr lang="en-US" altLang="zh-CN" sz="3300" dirty="0"/>
              <a:t>(max)</a:t>
            </a:r>
            <a:r>
              <a:rPr lang="zh-CN" altLang="en-US" sz="3300" dirty="0"/>
              <a:t>：存储大于</a:t>
            </a:r>
            <a:r>
              <a:rPr lang="en-US" altLang="zh-CN" sz="3300" dirty="0"/>
              <a:t>8000</a:t>
            </a:r>
            <a:r>
              <a:rPr lang="zh-CN" altLang="en-US" sz="3300" dirty="0"/>
              <a:t>字节的文本</a:t>
            </a:r>
          </a:p>
          <a:p>
            <a:r>
              <a:rPr lang="zh-CN" altLang="en-US" sz="3300" dirty="0">
                <a:solidFill>
                  <a:srgbClr val="FF0000"/>
                </a:solidFill>
              </a:rPr>
              <a:t>以上均为</a:t>
            </a:r>
            <a:r>
              <a:rPr lang="en-US" altLang="zh-CN" sz="3300" dirty="0">
                <a:solidFill>
                  <a:srgbClr val="FF0000"/>
                </a:solidFill>
              </a:rPr>
              <a:t>Unicode</a:t>
            </a:r>
            <a:r>
              <a:rPr lang="zh-CN" altLang="en-US" sz="3300" dirty="0">
                <a:solidFill>
                  <a:srgbClr val="FF0000"/>
                </a:solidFill>
              </a:rPr>
              <a:t>代码：其中的</a:t>
            </a:r>
            <a:r>
              <a:rPr lang="en-US" altLang="zh-CN" sz="3300" dirty="0">
                <a:solidFill>
                  <a:srgbClr val="FF0000"/>
                </a:solidFill>
              </a:rPr>
              <a:t>n</a:t>
            </a:r>
            <a:r>
              <a:rPr lang="zh-CN" altLang="en-US" sz="3300" dirty="0">
                <a:solidFill>
                  <a:srgbClr val="FF0000"/>
                </a:solidFill>
              </a:rPr>
              <a:t>为字符数，每个字符（无论什么字符）均为两个字节长度。 </a:t>
            </a:r>
            <a:endParaRPr lang="en-US" altLang="zh-CN" sz="33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3300" dirty="0">
                <a:solidFill>
                  <a:srgbClr val="FF0000"/>
                </a:solidFill>
              </a:rPr>
              <a:t>         </a:t>
            </a:r>
            <a:endParaRPr lang="zh-CN" altLang="en-US" sz="3300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F42F087-6C71-4142-83F1-00C13097807B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11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200"/>
              <a:t>二进制字符串类型</a:t>
            </a:r>
          </a:p>
        </p:txBody>
      </p:sp>
      <p:sp>
        <p:nvSpPr>
          <p:cNvPr id="530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340768"/>
            <a:ext cx="8371656" cy="4752528"/>
          </a:xfrm>
        </p:spPr>
        <p:txBody>
          <a:bodyPr/>
          <a:lstStyle/>
          <a:p>
            <a:r>
              <a:rPr lang="en-US" altLang="zh-CN" dirty="0"/>
              <a:t>Binary(n)</a:t>
            </a:r>
            <a:r>
              <a:rPr lang="zh-CN" altLang="en-US" dirty="0"/>
              <a:t>：固定长度，</a:t>
            </a:r>
            <a:r>
              <a:rPr lang="en-US" altLang="zh-CN" dirty="0"/>
              <a:t>n&lt;=8000</a:t>
            </a:r>
            <a:endParaRPr lang="zh-CN" altLang="en-US" dirty="0"/>
          </a:p>
          <a:p>
            <a:r>
              <a:rPr lang="en-US" altLang="zh-CN" dirty="0" err="1"/>
              <a:t>Varbinary</a:t>
            </a:r>
            <a:r>
              <a:rPr lang="en-US" altLang="zh-CN" dirty="0"/>
              <a:t>(n)</a:t>
            </a:r>
            <a:r>
              <a:rPr lang="zh-CN" altLang="en-US" dirty="0"/>
              <a:t>：可变长度，</a:t>
            </a:r>
            <a:r>
              <a:rPr lang="en-US" altLang="zh-CN" dirty="0"/>
              <a:t>n&lt;</a:t>
            </a:r>
            <a:r>
              <a:rPr lang="zh-CN" altLang="en-US" dirty="0"/>
              <a:t>＝</a:t>
            </a:r>
            <a:r>
              <a:rPr lang="en-US" altLang="zh-CN" dirty="0"/>
              <a:t>8000</a:t>
            </a:r>
            <a:endParaRPr lang="zh-CN" altLang="en-US" dirty="0"/>
          </a:p>
          <a:p>
            <a:pPr lvl="1"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注：</a:t>
            </a:r>
            <a:r>
              <a:rPr lang="en-US" altLang="zh-CN" dirty="0">
                <a:solidFill>
                  <a:srgbClr val="FF0000"/>
                </a:solidFill>
              </a:rPr>
              <a:t>n</a:t>
            </a:r>
            <a:r>
              <a:rPr lang="zh-CN" altLang="en-US" dirty="0">
                <a:solidFill>
                  <a:srgbClr val="FF0000"/>
                </a:solidFill>
              </a:rPr>
              <a:t>为二进制数据的字节数</a:t>
            </a:r>
          </a:p>
          <a:p>
            <a:r>
              <a:rPr lang="en-US" altLang="zh-CN" dirty="0"/>
              <a:t>image</a:t>
            </a:r>
            <a:r>
              <a:rPr lang="zh-CN" altLang="en-US" dirty="0"/>
              <a:t>：用于存储超过</a:t>
            </a:r>
            <a:r>
              <a:rPr lang="en-US" altLang="zh-CN" dirty="0"/>
              <a:t>8000</a:t>
            </a:r>
            <a:r>
              <a:rPr lang="zh-CN" altLang="en-US" dirty="0"/>
              <a:t>字节的大二进制文件（将被淘汰的类型）</a:t>
            </a:r>
            <a:endParaRPr lang="en-US" altLang="zh-CN" dirty="0"/>
          </a:p>
          <a:p>
            <a:r>
              <a:rPr lang="en-US" altLang="zh-CN" dirty="0" err="1"/>
              <a:t>Varbinary</a:t>
            </a:r>
            <a:r>
              <a:rPr lang="en-US" altLang="zh-CN" dirty="0"/>
              <a:t>(max)</a:t>
            </a:r>
            <a:r>
              <a:rPr lang="zh-CN" altLang="en-US" dirty="0"/>
              <a:t>：用于存储超过</a:t>
            </a:r>
            <a:r>
              <a:rPr lang="en-US" altLang="zh-CN" dirty="0"/>
              <a:t>8000</a:t>
            </a:r>
            <a:r>
              <a:rPr lang="zh-CN" altLang="en-US" dirty="0"/>
              <a:t>字节的大二进制文件。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975A89-CD16-4EA9-8557-184C6A999794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12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200" b="1" dirty="0">
                <a:ea typeface="楷体_GB2312" pitchFamily="49" charset="-122"/>
              </a:rPr>
              <a:t>日期时间类型</a:t>
            </a:r>
          </a:p>
        </p:txBody>
      </p:sp>
      <p:sp>
        <p:nvSpPr>
          <p:cNvPr id="531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268760"/>
            <a:ext cx="8371656" cy="4824536"/>
          </a:xfrm>
        </p:spPr>
        <p:txBody>
          <a:bodyPr/>
          <a:lstStyle/>
          <a:p>
            <a:r>
              <a:rPr lang="en-US" altLang="zh-CN" sz="3300" dirty="0" err="1"/>
              <a:t>Datetime</a:t>
            </a:r>
            <a:r>
              <a:rPr lang="zh-CN" altLang="en-US" sz="3300" dirty="0"/>
              <a:t>：</a:t>
            </a:r>
            <a:r>
              <a:rPr lang="en-US" altLang="zh-CN" sz="3300" dirty="0"/>
              <a:t>8</a:t>
            </a:r>
            <a:r>
              <a:rPr lang="zh-CN" altLang="en-US" sz="3300" dirty="0"/>
              <a:t>字节，年月日时分秒毫秒</a:t>
            </a:r>
          </a:p>
          <a:p>
            <a:pPr>
              <a:buFontTx/>
              <a:buNone/>
            </a:pPr>
            <a:r>
              <a:rPr lang="zh-CN" altLang="en-US" sz="3300" dirty="0"/>
              <a:t>	（例：</a:t>
            </a:r>
            <a:r>
              <a:rPr lang="zh-CN" altLang="en-US" sz="3300" dirty="0">
                <a:latin typeface="Times New Roman"/>
              </a:rPr>
              <a:t>‘</a:t>
            </a:r>
            <a:r>
              <a:rPr lang="en-US" altLang="zh-CN" sz="3300" dirty="0"/>
              <a:t>2001/08/03 10:30:00.000</a:t>
            </a:r>
            <a:r>
              <a:rPr lang="en-US" altLang="zh-CN" sz="3300" dirty="0">
                <a:latin typeface="Times New Roman"/>
              </a:rPr>
              <a:t>’</a:t>
            </a:r>
            <a:r>
              <a:rPr lang="en-US" altLang="zh-CN" sz="3300" dirty="0"/>
              <a:t> </a:t>
            </a:r>
            <a:r>
              <a:rPr lang="zh-CN" altLang="en-US" sz="3300" dirty="0"/>
              <a:t>）</a:t>
            </a:r>
            <a:endParaRPr lang="en-US" altLang="zh-CN" sz="3300" dirty="0"/>
          </a:p>
          <a:p>
            <a:pPr>
              <a:buFontTx/>
              <a:buNone/>
            </a:pPr>
            <a:r>
              <a:rPr lang="en-US" altLang="zh-CN" sz="3200" dirty="0"/>
              <a:t>   </a:t>
            </a:r>
            <a:r>
              <a:rPr lang="zh-CN" altLang="zh-CN" sz="3200" dirty="0"/>
              <a:t>存储从</a:t>
            </a:r>
            <a:r>
              <a:rPr lang="en-US" altLang="zh-CN" sz="3200" dirty="0">
                <a:solidFill>
                  <a:srgbClr val="FF0000"/>
                </a:solidFill>
              </a:rPr>
              <a:t>1753</a:t>
            </a:r>
            <a:r>
              <a:rPr lang="zh-CN" altLang="zh-CN" sz="3200" dirty="0">
                <a:solidFill>
                  <a:srgbClr val="FF0000"/>
                </a:solidFill>
              </a:rPr>
              <a:t>年</a:t>
            </a:r>
            <a:r>
              <a:rPr lang="en-US" altLang="zh-CN" sz="3200" dirty="0">
                <a:solidFill>
                  <a:srgbClr val="FF0000"/>
                </a:solidFill>
              </a:rPr>
              <a:t>1</a:t>
            </a:r>
            <a:r>
              <a:rPr lang="zh-CN" altLang="zh-CN" sz="3200" dirty="0">
                <a:solidFill>
                  <a:srgbClr val="FF0000"/>
                </a:solidFill>
              </a:rPr>
              <a:t>月</a:t>
            </a:r>
            <a:r>
              <a:rPr lang="en-US" altLang="zh-CN" sz="3200" dirty="0">
                <a:solidFill>
                  <a:srgbClr val="FF0000"/>
                </a:solidFill>
              </a:rPr>
              <a:t>1</a:t>
            </a:r>
            <a:r>
              <a:rPr lang="zh-CN" altLang="zh-CN" sz="3200" dirty="0">
                <a:solidFill>
                  <a:srgbClr val="FF0000"/>
                </a:solidFill>
              </a:rPr>
              <a:t>日到</a:t>
            </a:r>
            <a:r>
              <a:rPr lang="en-US" altLang="zh-CN" sz="3200" dirty="0">
                <a:solidFill>
                  <a:srgbClr val="FF0000"/>
                </a:solidFill>
              </a:rPr>
              <a:t>9999</a:t>
            </a:r>
            <a:r>
              <a:rPr lang="zh-CN" altLang="zh-CN" sz="3200" dirty="0">
                <a:solidFill>
                  <a:srgbClr val="FF0000"/>
                </a:solidFill>
              </a:rPr>
              <a:t>年</a:t>
            </a:r>
            <a:r>
              <a:rPr lang="en-US" altLang="zh-CN" sz="3200" dirty="0">
                <a:solidFill>
                  <a:srgbClr val="FF0000"/>
                </a:solidFill>
              </a:rPr>
              <a:t>12</a:t>
            </a:r>
            <a:r>
              <a:rPr lang="zh-CN" altLang="zh-CN" sz="3200" dirty="0">
                <a:solidFill>
                  <a:srgbClr val="FF0000"/>
                </a:solidFill>
              </a:rPr>
              <a:t>月</a:t>
            </a:r>
            <a:r>
              <a:rPr lang="en-US" altLang="zh-CN" sz="3200" dirty="0">
                <a:solidFill>
                  <a:srgbClr val="FF0000"/>
                </a:solidFill>
              </a:rPr>
              <a:t>31</a:t>
            </a:r>
            <a:r>
              <a:rPr lang="zh-CN" altLang="zh-CN" sz="3200" dirty="0">
                <a:solidFill>
                  <a:srgbClr val="FF0000"/>
                </a:solidFill>
              </a:rPr>
              <a:t>日</a:t>
            </a:r>
            <a:r>
              <a:rPr lang="zh-CN" altLang="zh-CN" sz="3200" dirty="0"/>
              <a:t>的日期和时间数据</a:t>
            </a:r>
            <a:endParaRPr lang="zh-CN" altLang="en-US" sz="3300" dirty="0"/>
          </a:p>
          <a:p>
            <a:r>
              <a:rPr lang="en-US" altLang="zh-CN" sz="3300" dirty="0" err="1"/>
              <a:t>SmallDateTime</a:t>
            </a:r>
            <a:r>
              <a:rPr lang="zh-CN" altLang="en-US" sz="3300" dirty="0"/>
              <a:t>：</a:t>
            </a:r>
            <a:r>
              <a:rPr lang="en-US" altLang="zh-CN" sz="3300" dirty="0"/>
              <a:t>4</a:t>
            </a:r>
            <a:r>
              <a:rPr lang="zh-CN" altLang="en-US" sz="3300" dirty="0"/>
              <a:t>字节，年月日时分</a:t>
            </a:r>
          </a:p>
          <a:p>
            <a:pPr>
              <a:buFontTx/>
              <a:buNone/>
            </a:pPr>
            <a:r>
              <a:rPr lang="zh-CN" altLang="en-US" sz="3300" dirty="0"/>
              <a:t>  （例：</a:t>
            </a:r>
            <a:r>
              <a:rPr lang="zh-CN" altLang="en-US" sz="3300" dirty="0">
                <a:latin typeface="Times New Roman"/>
              </a:rPr>
              <a:t>‘</a:t>
            </a:r>
            <a:r>
              <a:rPr lang="en-US" altLang="zh-CN" sz="3300" dirty="0"/>
              <a:t>2001/08/03 10:30:00</a:t>
            </a:r>
            <a:r>
              <a:rPr lang="en-US" altLang="zh-CN" sz="3300" dirty="0">
                <a:latin typeface="Times New Roman"/>
              </a:rPr>
              <a:t>’</a:t>
            </a:r>
            <a:r>
              <a:rPr lang="en-US" altLang="zh-CN" sz="3300" dirty="0"/>
              <a:t> </a:t>
            </a:r>
            <a:r>
              <a:rPr lang="zh-CN" altLang="en-US" sz="3300" dirty="0"/>
              <a:t>）</a:t>
            </a:r>
            <a:endParaRPr lang="en-US" altLang="zh-CN" sz="3300" dirty="0"/>
          </a:p>
          <a:p>
            <a:pPr>
              <a:buFontTx/>
              <a:buNone/>
            </a:pPr>
            <a:r>
              <a:rPr lang="en-US" altLang="zh-CN" sz="3200" dirty="0"/>
              <a:t>  </a:t>
            </a:r>
            <a:r>
              <a:rPr lang="zh-CN" altLang="zh-CN" sz="3200" dirty="0"/>
              <a:t>存储从</a:t>
            </a:r>
            <a:r>
              <a:rPr lang="en-US" altLang="zh-CN" sz="3200" dirty="0">
                <a:solidFill>
                  <a:srgbClr val="FF0000"/>
                </a:solidFill>
              </a:rPr>
              <a:t>1900</a:t>
            </a:r>
            <a:r>
              <a:rPr lang="zh-CN" altLang="zh-CN" sz="3200" dirty="0">
                <a:solidFill>
                  <a:srgbClr val="FF0000"/>
                </a:solidFill>
              </a:rPr>
              <a:t>年</a:t>
            </a:r>
            <a:r>
              <a:rPr lang="en-US" altLang="zh-CN" sz="3200" dirty="0">
                <a:solidFill>
                  <a:srgbClr val="FF0000"/>
                </a:solidFill>
              </a:rPr>
              <a:t>1</a:t>
            </a:r>
            <a:r>
              <a:rPr lang="zh-CN" altLang="zh-CN" sz="3200" dirty="0">
                <a:solidFill>
                  <a:srgbClr val="FF0000"/>
                </a:solidFill>
              </a:rPr>
              <a:t>月</a:t>
            </a:r>
            <a:r>
              <a:rPr lang="en-US" altLang="zh-CN" sz="3200" dirty="0">
                <a:solidFill>
                  <a:srgbClr val="FF0000"/>
                </a:solidFill>
              </a:rPr>
              <a:t>1</a:t>
            </a:r>
            <a:r>
              <a:rPr lang="zh-CN" altLang="zh-CN" sz="3200" dirty="0">
                <a:solidFill>
                  <a:srgbClr val="FF0000"/>
                </a:solidFill>
              </a:rPr>
              <a:t>日到</a:t>
            </a:r>
            <a:r>
              <a:rPr lang="en-US" altLang="zh-CN" sz="3200" dirty="0">
                <a:solidFill>
                  <a:srgbClr val="FF0000"/>
                </a:solidFill>
              </a:rPr>
              <a:t>2079</a:t>
            </a:r>
            <a:r>
              <a:rPr lang="zh-CN" altLang="zh-CN" sz="3200" dirty="0">
                <a:solidFill>
                  <a:srgbClr val="FF0000"/>
                </a:solidFill>
              </a:rPr>
              <a:t>年</a:t>
            </a:r>
            <a:r>
              <a:rPr lang="en-US" altLang="zh-CN" sz="3200" dirty="0">
                <a:solidFill>
                  <a:srgbClr val="FF0000"/>
                </a:solidFill>
              </a:rPr>
              <a:t>6</a:t>
            </a:r>
            <a:r>
              <a:rPr lang="zh-CN" altLang="zh-CN" sz="3200" dirty="0">
                <a:solidFill>
                  <a:srgbClr val="FF0000"/>
                </a:solidFill>
              </a:rPr>
              <a:t>月</a:t>
            </a:r>
            <a:r>
              <a:rPr lang="en-US" altLang="zh-CN" sz="3200" dirty="0">
                <a:solidFill>
                  <a:srgbClr val="FF0000"/>
                </a:solidFill>
              </a:rPr>
              <a:t>6</a:t>
            </a:r>
            <a:r>
              <a:rPr lang="zh-CN" altLang="zh-CN" sz="3200" dirty="0">
                <a:solidFill>
                  <a:srgbClr val="FF0000"/>
                </a:solidFill>
              </a:rPr>
              <a:t>日</a:t>
            </a:r>
            <a:r>
              <a:rPr lang="zh-CN" altLang="zh-CN" sz="3200" dirty="0"/>
              <a:t>的日期和时间数据</a:t>
            </a:r>
            <a:endParaRPr lang="zh-CN" altLang="en-US" sz="33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E17851-58DF-423D-961E-AD775058C244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13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日期时间类型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Date:</a:t>
            </a:r>
          </a:p>
          <a:p>
            <a:r>
              <a:rPr lang="en-US" altLang="zh-CN"/>
              <a:t>Time: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65E4FF-756F-46F8-89A7-3E62B221F7C9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14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372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0648"/>
            <a:ext cx="5832648" cy="792088"/>
          </a:xfrm>
        </p:spPr>
        <p:txBody>
          <a:bodyPr/>
          <a:lstStyle/>
          <a:p>
            <a:r>
              <a:rPr lang="en-US" altLang="zh-CN" sz="4200" dirty="0"/>
              <a:t>4.3 </a:t>
            </a:r>
            <a:r>
              <a:rPr lang="zh-CN" altLang="en-US" sz="4200" dirty="0"/>
              <a:t>数据定义功能</a:t>
            </a:r>
            <a:r>
              <a:rPr lang="zh-CN" altLang="en-US" dirty="0"/>
              <a:t> </a:t>
            </a:r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1700808"/>
            <a:ext cx="6697092" cy="4320034"/>
          </a:xfrm>
        </p:spPr>
        <p:txBody>
          <a:bodyPr/>
          <a:lstStyle/>
          <a:p>
            <a:r>
              <a:rPr lang="en-US" altLang="zh-CN" sz="3700" dirty="0"/>
              <a:t>4.3.1 </a:t>
            </a:r>
            <a:r>
              <a:rPr lang="zh-CN" altLang="en-US" sz="3700" dirty="0"/>
              <a:t>架构定义与删除 </a:t>
            </a:r>
          </a:p>
          <a:p>
            <a:r>
              <a:rPr lang="en-US" altLang="zh-CN" sz="3700" dirty="0"/>
              <a:t>4.3.2 </a:t>
            </a:r>
            <a:r>
              <a:rPr lang="zh-CN" altLang="en-US" sz="3700" dirty="0"/>
              <a:t>基本表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62B43A-1B2C-4C0D-8E1B-F0E6C776AEA1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15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</a:t>
            </a:r>
            <a:r>
              <a:rPr lang="zh-CN" altLang="zh-CN" dirty="0"/>
              <a:t>数据定义功能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E98A5ED-487A-4E05-BCCF-94680F8F6E4E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67543" y="1700809"/>
          <a:ext cx="8208913" cy="3744415"/>
        </p:xfrm>
        <a:graphic>
          <a:graphicData uri="http://schemas.openxmlformats.org/drawingml/2006/table">
            <a:tbl>
              <a:tblPr/>
              <a:tblGrid>
                <a:gridCol w="1080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2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287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b="1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对</a:t>
                      </a:r>
                      <a:r>
                        <a:rPr lang="en-US" sz="2000" b="1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  </a:t>
                      </a:r>
                      <a:r>
                        <a:rPr lang="zh-CN" sz="2000" b="1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象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b="1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创</a:t>
                      </a:r>
                      <a:r>
                        <a:rPr lang="en-US" sz="2000" b="1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    </a:t>
                      </a:r>
                      <a:r>
                        <a:rPr lang="zh-CN" sz="2000" b="1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建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b="1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修</a:t>
                      </a:r>
                      <a:r>
                        <a:rPr lang="en-US" sz="2000" b="1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    </a:t>
                      </a:r>
                      <a:r>
                        <a:rPr lang="zh-CN" sz="2000" b="1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b="1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删</a:t>
                      </a:r>
                      <a:r>
                        <a:rPr lang="en-US" sz="2000" b="1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    </a:t>
                      </a:r>
                      <a:r>
                        <a:rPr lang="zh-CN" sz="2000" b="1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除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7782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b="1" kern="1000" dirty="0">
                          <a:latin typeface="Times New Roman"/>
                          <a:ea typeface="方正书宋简体"/>
                          <a:cs typeface="Times New Roman"/>
                        </a:rPr>
                        <a:t>架构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b="1" kern="1000" dirty="0">
                          <a:latin typeface="Times New Roman"/>
                          <a:ea typeface="方正书宋简体"/>
                          <a:cs typeface="Times New Roman"/>
                        </a:rPr>
                        <a:t>CREATE SCHEMA</a:t>
                      </a:r>
                      <a:endParaRPr lang="zh-CN" sz="2000" b="1" kern="1000" dirty="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endParaRPr lang="en-US" sz="2000" b="1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b="1" kern="1000">
                          <a:latin typeface="Times New Roman"/>
                          <a:ea typeface="方正书宋简体"/>
                          <a:cs typeface="Times New Roman"/>
                        </a:rPr>
                        <a:t>DROP SCHEMA</a:t>
                      </a:r>
                      <a:endParaRPr lang="zh-CN" sz="2000" b="1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7782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b="1" kern="1000">
                          <a:latin typeface="Times New Roman"/>
                          <a:ea typeface="方正书宋简体"/>
                          <a:cs typeface="Times New Roman"/>
                        </a:rPr>
                        <a:t>表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b="1" kern="1000" dirty="0">
                          <a:latin typeface="Times New Roman"/>
                          <a:ea typeface="方正书宋简体"/>
                          <a:cs typeface="Times New Roman"/>
                        </a:rPr>
                        <a:t>CREATE TABLE</a:t>
                      </a:r>
                      <a:endParaRPr lang="zh-CN" sz="2000" b="1" kern="1000" dirty="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b="1" kern="1000" dirty="0">
                          <a:latin typeface="Times New Roman"/>
                          <a:ea typeface="方正书宋简体"/>
                          <a:cs typeface="Times New Roman"/>
                        </a:rPr>
                        <a:t>ALTER TABLE</a:t>
                      </a:r>
                      <a:endParaRPr lang="zh-CN" sz="2000" b="1" kern="1000" dirty="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b="1" kern="1000">
                          <a:latin typeface="Times New Roman"/>
                          <a:ea typeface="方正书宋简体"/>
                          <a:cs typeface="Times New Roman"/>
                        </a:rPr>
                        <a:t>DROP TABLE</a:t>
                      </a:r>
                      <a:endParaRPr lang="zh-CN" sz="2000" b="1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7782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b="1" kern="1000">
                          <a:latin typeface="Times New Roman"/>
                          <a:ea typeface="方正书宋简体"/>
                          <a:cs typeface="Times New Roman"/>
                        </a:rPr>
                        <a:t>视图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b="1" kern="1000">
                          <a:latin typeface="Times New Roman"/>
                          <a:ea typeface="方正书宋简体"/>
                          <a:cs typeface="Times New Roman"/>
                        </a:rPr>
                        <a:t>CREATE VIEW</a:t>
                      </a:r>
                      <a:endParaRPr lang="zh-CN" sz="2000" b="1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b="1" kern="1000" dirty="0">
                          <a:latin typeface="Times New Roman"/>
                          <a:ea typeface="方正书宋简体"/>
                          <a:cs typeface="Times New Roman"/>
                        </a:rPr>
                        <a:t>ALTER VIEW</a:t>
                      </a:r>
                      <a:endParaRPr lang="zh-CN" sz="2000" b="1" kern="1000" dirty="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b="1" kern="1000" dirty="0">
                          <a:latin typeface="Times New Roman"/>
                          <a:ea typeface="方正书宋简体"/>
                          <a:cs typeface="Times New Roman"/>
                        </a:rPr>
                        <a:t>DROP VIEW</a:t>
                      </a:r>
                      <a:endParaRPr lang="zh-CN" sz="2000" b="1" kern="1000" dirty="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7782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b="1" kern="1000">
                          <a:latin typeface="Times New Roman"/>
                          <a:ea typeface="方正书宋简体"/>
                          <a:cs typeface="Times New Roman"/>
                        </a:rPr>
                        <a:t>索引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b="1" kern="1000">
                          <a:latin typeface="Times New Roman"/>
                          <a:ea typeface="方正书宋简体"/>
                          <a:cs typeface="Times New Roman"/>
                        </a:rPr>
                        <a:t>CREATE INDEX</a:t>
                      </a:r>
                      <a:endParaRPr lang="zh-CN" sz="2000" b="1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b="1" kern="1000">
                          <a:latin typeface="Times New Roman"/>
                          <a:ea typeface="方正书宋简体"/>
                          <a:cs typeface="Times New Roman"/>
                        </a:rPr>
                        <a:t>ALTER INDEX</a:t>
                      </a:r>
                      <a:endParaRPr lang="zh-CN" sz="2000" b="1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b="1" kern="1000" dirty="0">
                          <a:latin typeface="Times New Roman"/>
                          <a:ea typeface="方正书宋简体"/>
                          <a:cs typeface="Times New Roman"/>
                        </a:rPr>
                        <a:t>DROP INDEX</a:t>
                      </a:r>
                      <a:endParaRPr lang="zh-CN" sz="2000" b="1" kern="1000" dirty="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16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架构基本概念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solidFill>
                  <a:srgbClr val="FF0000"/>
                </a:solidFill>
              </a:rPr>
              <a:t>架构</a:t>
            </a:r>
            <a:r>
              <a:rPr lang="zh-CN" altLang="zh-CN" dirty="0"/>
              <a:t>（</a:t>
            </a:r>
            <a:r>
              <a:rPr lang="en-US" altLang="zh-CN" dirty="0"/>
              <a:t>schema</a:t>
            </a:r>
            <a:r>
              <a:rPr lang="zh-CN" altLang="zh-CN" dirty="0"/>
              <a:t>，也称为</a:t>
            </a:r>
            <a:r>
              <a:rPr lang="zh-CN" altLang="zh-CN" dirty="0">
                <a:solidFill>
                  <a:srgbClr val="FF0000"/>
                </a:solidFill>
              </a:rPr>
              <a:t>模式</a:t>
            </a:r>
            <a:r>
              <a:rPr lang="zh-CN" altLang="zh-CN" dirty="0"/>
              <a:t>）是数据库下的一个逻辑命名空间，</a:t>
            </a:r>
            <a:endParaRPr lang="en-US" altLang="zh-CN" dirty="0"/>
          </a:p>
          <a:p>
            <a:r>
              <a:rPr lang="zh-CN" altLang="zh-CN" dirty="0"/>
              <a:t>可以存放表、视图等数据库对象，</a:t>
            </a:r>
            <a:endParaRPr lang="en-US" altLang="zh-CN" dirty="0"/>
          </a:p>
          <a:p>
            <a:r>
              <a:rPr lang="zh-CN" altLang="zh-CN" dirty="0"/>
              <a:t>是一个数据库对象的容器。</a:t>
            </a:r>
            <a:endParaRPr lang="en-US" altLang="zh-CN" dirty="0"/>
          </a:p>
          <a:p>
            <a:r>
              <a:rPr lang="zh-CN" altLang="zh-CN" dirty="0"/>
              <a:t>如果将数据库比喻为操作系统，</a:t>
            </a:r>
            <a:r>
              <a:rPr lang="zh-CN" altLang="en-US" dirty="0"/>
              <a:t>则</a:t>
            </a:r>
            <a:r>
              <a:rPr lang="zh-CN" altLang="zh-CN" dirty="0"/>
              <a:t>架构就相当于操作系统中的目录，架构中的对象就相当于目录下的文件。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D7E690-33B3-479D-A130-0F218BC840D4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17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架构基本概念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一个数据库可以包含一个或多个架构，由特定的授权用户名所拥有。</a:t>
            </a:r>
            <a:endParaRPr lang="en-US" altLang="zh-CN" dirty="0"/>
          </a:p>
          <a:p>
            <a:r>
              <a:rPr lang="zh-CN" altLang="zh-CN" dirty="0"/>
              <a:t>在同一个数据库中，架构的名字必须是唯一的。</a:t>
            </a:r>
            <a:endParaRPr lang="en-US" altLang="zh-CN" dirty="0"/>
          </a:p>
          <a:p>
            <a:r>
              <a:rPr lang="zh-CN" altLang="zh-CN" dirty="0"/>
              <a:t>属于一个架构的对象称为</a:t>
            </a:r>
            <a:r>
              <a:rPr lang="zh-CN" altLang="zh-CN" dirty="0">
                <a:solidFill>
                  <a:srgbClr val="FF0000"/>
                </a:solidFill>
              </a:rPr>
              <a:t>架构对象</a:t>
            </a:r>
            <a:r>
              <a:rPr lang="zh-CN" altLang="zh-CN" dirty="0"/>
              <a:t>。架构对象</a:t>
            </a:r>
            <a:r>
              <a:rPr lang="zh-CN" altLang="en-US" dirty="0"/>
              <a:t>可以是</a:t>
            </a:r>
            <a:r>
              <a:rPr lang="zh-CN" altLang="zh-CN" dirty="0"/>
              <a:t>：基本表、视图、触发器等。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8097C7-EE20-4E87-A6ED-29CC3CF9603E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18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定义架构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sz="3400" dirty="0">
                <a:solidFill>
                  <a:srgbClr val="FF0000"/>
                </a:solidFill>
              </a:rPr>
              <a:t> CREATE SCHEMA [&lt;</a:t>
            </a:r>
            <a:r>
              <a:rPr lang="zh-CN" altLang="zh-CN" sz="3400" dirty="0">
                <a:solidFill>
                  <a:srgbClr val="FF0000"/>
                </a:solidFill>
              </a:rPr>
              <a:t>架构名</a:t>
            </a:r>
            <a:r>
              <a:rPr lang="en-US" altLang="zh-CN" sz="3400" dirty="0">
                <a:solidFill>
                  <a:srgbClr val="FF0000"/>
                </a:solidFill>
              </a:rPr>
              <a:t>&gt;]  </a:t>
            </a:r>
          </a:p>
          <a:p>
            <a:pPr>
              <a:buNone/>
            </a:pPr>
            <a:r>
              <a:rPr lang="en-US" altLang="zh-CN" sz="3400" dirty="0">
                <a:solidFill>
                  <a:srgbClr val="FF0000"/>
                </a:solidFill>
              </a:rPr>
              <a:t>   AUTHORIZATION &lt;</a:t>
            </a:r>
            <a:r>
              <a:rPr lang="zh-CN" altLang="zh-CN" sz="3400" dirty="0">
                <a:solidFill>
                  <a:srgbClr val="FF0000"/>
                </a:solidFill>
              </a:rPr>
              <a:t>用户名</a:t>
            </a:r>
            <a:r>
              <a:rPr lang="en-US" altLang="zh-CN" sz="3400" dirty="0">
                <a:solidFill>
                  <a:srgbClr val="FF0000"/>
                </a:solidFill>
              </a:rPr>
              <a:t>&gt;</a:t>
            </a:r>
          </a:p>
          <a:p>
            <a:r>
              <a:rPr lang="zh-CN" altLang="zh-CN" sz="3400" dirty="0"/>
              <a:t>如果没有指定</a:t>
            </a:r>
            <a:r>
              <a:rPr lang="en-US" altLang="zh-CN" sz="3400" dirty="0"/>
              <a:t>&lt;</a:t>
            </a:r>
            <a:r>
              <a:rPr lang="zh-CN" altLang="zh-CN" sz="3400" dirty="0"/>
              <a:t>架构名</a:t>
            </a:r>
            <a:r>
              <a:rPr lang="en-US" altLang="zh-CN" sz="3400" dirty="0"/>
              <a:t>&gt;</a:t>
            </a:r>
            <a:r>
              <a:rPr lang="zh-CN" altLang="zh-CN" sz="3400" dirty="0"/>
              <a:t>，则</a:t>
            </a:r>
            <a:r>
              <a:rPr lang="en-US" altLang="zh-CN" sz="3400" dirty="0"/>
              <a:t>&lt;</a:t>
            </a:r>
            <a:r>
              <a:rPr lang="zh-CN" altLang="zh-CN" sz="3400" dirty="0"/>
              <a:t>架构名</a:t>
            </a:r>
            <a:r>
              <a:rPr lang="en-US" altLang="zh-CN" sz="3400" dirty="0"/>
              <a:t>&gt;</a:t>
            </a:r>
            <a:r>
              <a:rPr lang="zh-CN" altLang="zh-CN" sz="3400" dirty="0"/>
              <a:t>隐含为</a:t>
            </a:r>
            <a:r>
              <a:rPr lang="en-US" altLang="zh-CN" sz="3400" dirty="0"/>
              <a:t>&lt;</a:t>
            </a:r>
            <a:r>
              <a:rPr lang="zh-CN" altLang="zh-CN" sz="3400" dirty="0"/>
              <a:t>用户名</a:t>
            </a:r>
            <a:r>
              <a:rPr lang="en-US" altLang="zh-CN" sz="3400" dirty="0"/>
              <a:t>&gt;</a:t>
            </a:r>
            <a:r>
              <a:rPr lang="zh-CN" altLang="zh-CN" sz="3400" dirty="0"/>
              <a:t>。</a:t>
            </a:r>
            <a:endParaRPr lang="en-US" altLang="zh-CN" sz="3400" dirty="0"/>
          </a:p>
          <a:p>
            <a:r>
              <a:rPr lang="zh-CN" altLang="zh-CN" sz="3400" dirty="0"/>
              <a:t>一个</a:t>
            </a:r>
            <a:r>
              <a:rPr lang="en-US" altLang="zh-CN" sz="3400" dirty="0"/>
              <a:t>&lt;</a:t>
            </a:r>
            <a:r>
              <a:rPr lang="zh-CN" altLang="zh-CN" sz="3400" dirty="0"/>
              <a:t>用户名</a:t>
            </a:r>
            <a:r>
              <a:rPr lang="en-US" altLang="zh-CN" sz="3400" dirty="0"/>
              <a:t>&gt;</a:t>
            </a:r>
            <a:r>
              <a:rPr lang="zh-CN" altLang="zh-CN" sz="3400" dirty="0"/>
              <a:t>可以拥有多个架构。</a:t>
            </a:r>
            <a:endParaRPr lang="en-US" altLang="zh-CN" sz="3400" dirty="0"/>
          </a:p>
          <a:p>
            <a:r>
              <a:rPr lang="zh-CN" altLang="en-US" sz="3400" dirty="0"/>
              <a:t>执行</a:t>
            </a:r>
            <a:r>
              <a:rPr lang="zh-CN" altLang="zh-CN" sz="3400" dirty="0"/>
              <a:t>创建架构语句的用户必须具有管理员权限，</a:t>
            </a:r>
            <a:r>
              <a:rPr lang="zh-CN" altLang="en-US" sz="3400" dirty="0"/>
              <a:t>或</a:t>
            </a:r>
            <a:r>
              <a:rPr lang="en-US" altLang="zh-CN" sz="3400" dirty="0"/>
              <a:t>CREATE SCHEMA</a:t>
            </a:r>
            <a:r>
              <a:rPr lang="zh-CN" altLang="zh-CN" sz="3400" dirty="0"/>
              <a:t>权限</a:t>
            </a:r>
            <a:r>
              <a:rPr lang="zh-CN" altLang="en-US" sz="3400" dirty="0"/>
              <a:t>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8E79B6-66E8-4F1B-AB30-BB395FACB997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19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例</a:t>
            </a:r>
            <a:r>
              <a:rPr lang="en-US" altLang="zh-CN" dirty="0"/>
              <a:t>1</a:t>
            </a:r>
            <a:r>
              <a:rPr lang="zh-CN" altLang="zh-CN" dirty="0"/>
              <a:t>．为用户“</a:t>
            </a:r>
            <a:r>
              <a:rPr lang="en-US" altLang="zh-CN" dirty="0"/>
              <a:t>ZHANG</a:t>
            </a:r>
            <a:r>
              <a:rPr lang="zh-CN" altLang="zh-CN" dirty="0"/>
              <a:t>”定义一个架构，架构名为“</a:t>
            </a:r>
            <a:r>
              <a:rPr lang="en-US" altLang="zh-CN" dirty="0"/>
              <a:t>S_C</a:t>
            </a:r>
            <a:r>
              <a:rPr lang="zh-CN" altLang="zh-CN" dirty="0"/>
              <a:t>”。</a:t>
            </a:r>
          </a:p>
          <a:p>
            <a:pPr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 CREATE SCHEMA S_C AUTHORIZATION ZHANG</a:t>
            </a:r>
            <a:endParaRPr lang="zh-CN" altLang="zh-CN" sz="3200" dirty="0">
              <a:solidFill>
                <a:srgbClr val="FF0000"/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zh-CN" dirty="0"/>
              <a:t>例</a:t>
            </a:r>
            <a:r>
              <a:rPr lang="en-US" altLang="zh-CN" dirty="0"/>
              <a:t>2</a:t>
            </a:r>
            <a:r>
              <a:rPr lang="zh-CN" altLang="zh-CN" dirty="0"/>
              <a:t>．定义一个用隐含名字的架构。</a:t>
            </a:r>
          </a:p>
          <a:p>
            <a:pPr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 CREATE SCHEMA AUTHORIZATION ZHANG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C5DC65-5AA6-4831-9E7D-C1A8916E195E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20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3200" dirty="0"/>
              <a:t>例</a:t>
            </a:r>
            <a:r>
              <a:rPr lang="en-US" altLang="zh-CN" sz="3200" dirty="0"/>
              <a:t>3</a:t>
            </a:r>
            <a:r>
              <a:rPr lang="zh-CN" altLang="zh-CN" sz="3200" dirty="0"/>
              <a:t>．在定义架构的同时定义表。</a:t>
            </a:r>
          </a:p>
          <a:p>
            <a:pPr>
              <a:buNone/>
            </a:pP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CREATE SCHEMA TEST AUTHORIZATION ZHANG</a:t>
            </a:r>
            <a:endParaRPr lang="zh-CN" altLang="zh-CN" sz="28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CREATE TABLE T1( </a:t>
            </a:r>
          </a:p>
          <a:p>
            <a:pPr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  C1 INT,</a:t>
            </a:r>
            <a:endParaRPr lang="zh-CN" altLang="zh-CN" sz="28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  C2 CHAR(10),</a:t>
            </a:r>
            <a:endParaRPr lang="zh-CN" altLang="zh-CN" sz="28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  C3 SMALLDATETIME,</a:t>
            </a:r>
            <a:endParaRPr lang="zh-CN" altLang="zh-CN" sz="28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  C4 NUMERIC(4,1)</a:t>
            </a:r>
          </a:p>
          <a:p>
            <a:pPr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)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7F9635F-10BD-49AF-93FE-1894D96F4206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21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删除架构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  DROP SCHEMA &lt;</a:t>
            </a:r>
            <a:r>
              <a:rPr lang="zh-CN" altLang="zh-CN" sz="3200" dirty="0">
                <a:solidFill>
                  <a:srgbClr val="FF0000"/>
                </a:solidFill>
              </a:rPr>
              <a:t>架构名</a:t>
            </a:r>
            <a:r>
              <a:rPr lang="en-US" altLang="zh-CN" sz="3200" dirty="0">
                <a:solidFill>
                  <a:srgbClr val="FF0000"/>
                </a:solidFill>
              </a:rPr>
              <a:t>&gt;  </a:t>
            </a:r>
          </a:p>
          <a:p>
            <a:pPr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   { &lt;CASCADE&gt; | &lt;RESTRICT&gt; }</a:t>
            </a:r>
          </a:p>
          <a:p>
            <a:pPr lvl="0">
              <a:spcBef>
                <a:spcPts val="1200"/>
              </a:spcBef>
            </a:pPr>
            <a:r>
              <a:rPr lang="en-US" altLang="zh-CN" sz="3400" dirty="0">
                <a:solidFill>
                  <a:srgbClr val="0000FF"/>
                </a:solidFill>
              </a:rPr>
              <a:t>CASCADE</a:t>
            </a:r>
            <a:r>
              <a:rPr lang="zh-CN" altLang="zh-CN" sz="3400" dirty="0"/>
              <a:t>：删除架构的同时将该架构中所有的对象一起删除。</a:t>
            </a:r>
          </a:p>
          <a:p>
            <a:pPr lvl="0"/>
            <a:r>
              <a:rPr lang="en-US" altLang="zh-CN" sz="3400" dirty="0">
                <a:solidFill>
                  <a:srgbClr val="0000FF"/>
                </a:solidFill>
              </a:rPr>
              <a:t>RESTRICT</a:t>
            </a:r>
            <a:r>
              <a:rPr lang="zh-CN" altLang="zh-CN" sz="3400" dirty="0"/>
              <a:t>：如果被删除的架构中包含对象，则拒绝删除此架构。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8E046C-A9A7-44DD-BC6C-0358A3244A33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22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不同</a:t>
            </a:r>
            <a:r>
              <a:rPr lang="en-US" altLang="zh-CN" dirty="0"/>
              <a:t>DBMS</a:t>
            </a:r>
            <a:r>
              <a:rPr lang="zh-CN" altLang="zh-CN" dirty="0"/>
              <a:t>的</a:t>
            </a:r>
            <a:r>
              <a:rPr lang="en-US" altLang="zh-CN" dirty="0"/>
              <a:t>DROP SCHEMA</a:t>
            </a:r>
            <a:r>
              <a:rPr lang="zh-CN" altLang="zh-CN" dirty="0"/>
              <a:t>语句的语法格式和执行略有不同。</a:t>
            </a:r>
            <a:endParaRPr lang="en-US" altLang="zh-CN" dirty="0"/>
          </a:p>
          <a:p>
            <a:r>
              <a:rPr lang="en-US" altLang="zh-CN" dirty="0"/>
              <a:t>SQL Server 2008</a:t>
            </a:r>
            <a:r>
              <a:rPr lang="zh-CN" altLang="zh-CN" dirty="0"/>
              <a:t>的</a:t>
            </a:r>
            <a:r>
              <a:rPr lang="en-US" altLang="zh-CN" dirty="0"/>
              <a:t>DROP SCHEMA</a:t>
            </a:r>
            <a:r>
              <a:rPr lang="zh-CN" altLang="zh-CN" dirty="0"/>
              <a:t>语句没有可选项，其语法格式为：</a:t>
            </a:r>
          </a:p>
          <a:p>
            <a:pPr>
              <a:buNone/>
            </a:pPr>
            <a:r>
              <a:rPr lang="en-US" altLang="zh-CN" dirty="0">
                <a:solidFill>
                  <a:srgbClr val="FF0000"/>
                </a:solidFill>
              </a:rPr>
              <a:t>  DROP SCHEMA &lt;</a:t>
            </a:r>
            <a:r>
              <a:rPr lang="zh-CN" altLang="zh-CN" dirty="0">
                <a:solidFill>
                  <a:srgbClr val="FF0000"/>
                </a:solidFill>
              </a:rPr>
              <a:t>架构名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zh-CN" altLang="zh-CN" dirty="0"/>
              <a:t>在</a:t>
            </a:r>
            <a:r>
              <a:rPr lang="en-US" altLang="zh-CN" dirty="0"/>
              <a:t>SQL Server 2008</a:t>
            </a:r>
            <a:r>
              <a:rPr lang="zh-CN" altLang="zh-CN" dirty="0"/>
              <a:t>中只能删除不包含任何对象的架构</a:t>
            </a:r>
            <a:r>
              <a:rPr lang="zh-CN" altLang="en-US" dirty="0"/>
              <a:t>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95BECB-9E1E-4581-9DEF-0594F79435B2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23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</a:t>
            </a:r>
            <a:r>
              <a:rPr lang="zh-CN" altLang="en-US" sz="4200" dirty="0"/>
              <a:t>基本表</a:t>
            </a:r>
          </a:p>
        </p:txBody>
      </p:sp>
      <p:sp>
        <p:nvSpPr>
          <p:cNvPr id="415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5" y="1412776"/>
            <a:ext cx="8352928" cy="4608512"/>
          </a:xfrm>
        </p:spPr>
        <p:txBody>
          <a:bodyPr/>
          <a:lstStyle/>
          <a:p>
            <a:pPr lvl="1">
              <a:buFontTx/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CREATE  TABLE  &lt;</a:t>
            </a:r>
            <a:r>
              <a:rPr lang="zh-CN" altLang="en-US" sz="3200" dirty="0">
                <a:solidFill>
                  <a:srgbClr val="FF0000"/>
                </a:solidFill>
              </a:rPr>
              <a:t>表名</a:t>
            </a:r>
            <a:r>
              <a:rPr lang="en-US" altLang="zh-CN" sz="3200" dirty="0">
                <a:solidFill>
                  <a:srgbClr val="FF0000"/>
                </a:solidFill>
              </a:rPr>
              <a:t>&gt; (</a:t>
            </a:r>
            <a:endParaRPr lang="zh-CN" altLang="en-US" sz="3200" dirty="0">
              <a:solidFill>
                <a:srgbClr val="FF0000"/>
              </a:solidFill>
            </a:endParaRPr>
          </a:p>
          <a:p>
            <a:pPr lvl="1">
              <a:buFontTx/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 &lt;</a:t>
            </a:r>
            <a:r>
              <a:rPr lang="zh-CN" altLang="en-US" sz="3200" dirty="0">
                <a:solidFill>
                  <a:srgbClr val="FF0000"/>
                </a:solidFill>
              </a:rPr>
              <a:t>列名</a:t>
            </a:r>
            <a:r>
              <a:rPr lang="en-US" altLang="zh-CN" sz="3200" dirty="0">
                <a:solidFill>
                  <a:srgbClr val="FF0000"/>
                </a:solidFill>
              </a:rPr>
              <a:t>&gt; &lt;</a:t>
            </a:r>
            <a:r>
              <a:rPr lang="zh-CN" altLang="en-US" sz="3200" dirty="0">
                <a:solidFill>
                  <a:srgbClr val="FF0000"/>
                </a:solidFill>
              </a:rPr>
              <a:t>数据类型</a:t>
            </a:r>
            <a:r>
              <a:rPr lang="en-US" altLang="zh-CN" sz="3200" dirty="0">
                <a:solidFill>
                  <a:srgbClr val="FF0000"/>
                </a:solidFill>
              </a:rPr>
              <a:t>&gt; [</a:t>
            </a:r>
            <a:r>
              <a:rPr lang="zh-CN" altLang="en-US" sz="3200" dirty="0">
                <a:solidFill>
                  <a:srgbClr val="FF0000"/>
                </a:solidFill>
              </a:rPr>
              <a:t>列级完整性约束</a:t>
            </a:r>
            <a:r>
              <a:rPr lang="en-US" altLang="zh-CN" sz="3200" dirty="0">
                <a:solidFill>
                  <a:srgbClr val="FF0000"/>
                </a:solidFill>
              </a:rPr>
              <a:t>]</a:t>
            </a:r>
          </a:p>
          <a:p>
            <a:pPr lvl="1">
              <a:buFontTx/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{, &lt;</a:t>
            </a:r>
            <a:r>
              <a:rPr lang="zh-CN" altLang="en-US" sz="3200" dirty="0">
                <a:solidFill>
                  <a:srgbClr val="FF0000"/>
                </a:solidFill>
              </a:rPr>
              <a:t>列名</a:t>
            </a:r>
            <a:r>
              <a:rPr lang="en-US" altLang="zh-CN" sz="3200" dirty="0">
                <a:solidFill>
                  <a:srgbClr val="FF0000"/>
                </a:solidFill>
              </a:rPr>
              <a:t>&gt; &lt;</a:t>
            </a:r>
            <a:r>
              <a:rPr lang="zh-CN" altLang="en-US" sz="3200" dirty="0">
                <a:solidFill>
                  <a:srgbClr val="FF0000"/>
                </a:solidFill>
              </a:rPr>
              <a:t>数据类型</a:t>
            </a:r>
            <a:r>
              <a:rPr lang="en-US" altLang="zh-CN" sz="3200" dirty="0">
                <a:solidFill>
                  <a:srgbClr val="FF0000"/>
                </a:solidFill>
              </a:rPr>
              <a:t>&gt; </a:t>
            </a:r>
          </a:p>
          <a:p>
            <a:pPr lvl="1">
              <a:buFontTx/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   [</a:t>
            </a:r>
            <a:r>
              <a:rPr lang="zh-CN" altLang="en-US" sz="3200" dirty="0">
                <a:solidFill>
                  <a:srgbClr val="FF0000"/>
                </a:solidFill>
              </a:rPr>
              <a:t>列级完整性约束］ </a:t>
            </a:r>
            <a:r>
              <a:rPr lang="en-US" altLang="zh-CN" sz="3200" dirty="0">
                <a:solidFill>
                  <a:srgbClr val="FF0000"/>
                </a:solidFill>
                <a:latin typeface="Times New Roman"/>
              </a:rPr>
              <a:t>…</a:t>
            </a:r>
            <a:r>
              <a:rPr lang="en-US" altLang="zh-CN" sz="3200" dirty="0">
                <a:solidFill>
                  <a:srgbClr val="FF0000"/>
                </a:solidFill>
              </a:rPr>
              <a:t> }</a:t>
            </a:r>
          </a:p>
          <a:p>
            <a:pPr lvl="1">
              <a:buFontTx/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[, </a:t>
            </a:r>
            <a:r>
              <a:rPr lang="zh-CN" altLang="en-US" sz="3200" dirty="0">
                <a:solidFill>
                  <a:srgbClr val="FF0000"/>
                </a:solidFill>
              </a:rPr>
              <a:t>表级完整性约束 </a:t>
            </a:r>
            <a:r>
              <a:rPr lang="en-US" altLang="zh-CN" sz="3200" dirty="0">
                <a:solidFill>
                  <a:srgbClr val="FF0000"/>
                </a:solidFill>
              </a:rPr>
              <a:t>] )</a:t>
            </a:r>
            <a:r>
              <a:rPr lang="zh-CN" altLang="en-US" sz="40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E87DECF-D910-416D-AA55-9B95CAEE0E59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24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260648"/>
            <a:ext cx="7599788" cy="819150"/>
          </a:xfrm>
        </p:spPr>
        <p:txBody>
          <a:bodyPr/>
          <a:lstStyle/>
          <a:p>
            <a:r>
              <a:rPr lang="zh-CN" altLang="en-US" sz="3400" dirty="0"/>
              <a:t>在列级完整性约束定义处可定义的约束</a:t>
            </a:r>
          </a:p>
        </p:txBody>
      </p:sp>
      <p:sp>
        <p:nvSpPr>
          <p:cNvPr id="416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340768"/>
            <a:ext cx="8424936" cy="4752528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en-US" altLang="zh-CN" sz="3200" dirty="0">
                <a:solidFill>
                  <a:srgbClr val="FF0000"/>
                </a:solidFill>
                <a:ea typeface="宋体" charset="-122"/>
              </a:rPr>
              <a:t>NOT NULL</a:t>
            </a:r>
            <a:r>
              <a:rPr lang="zh-CN" altLang="en-US" sz="3200" dirty="0">
                <a:ea typeface="宋体" charset="-122"/>
              </a:rPr>
              <a:t>：限制列取值非空。</a:t>
            </a:r>
          </a:p>
          <a:p>
            <a:pPr>
              <a:lnSpc>
                <a:spcPct val="114000"/>
              </a:lnSpc>
            </a:pPr>
            <a:r>
              <a:rPr lang="en-US" altLang="zh-CN" sz="3200" dirty="0">
                <a:solidFill>
                  <a:srgbClr val="FF0000"/>
                </a:solidFill>
                <a:ea typeface="宋体" charset="-122"/>
              </a:rPr>
              <a:t>DEFAULT</a:t>
            </a:r>
            <a:r>
              <a:rPr lang="zh-CN" altLang="en-US" sz="3200" dirty="0">
                <a:ea typeface="宋体" charset="-122"/>
              </a:rPr>
              <a:t>：给定列的默认值。</a:t>
            </a:r>
          </a:p>
          <a:p>
            <a:pPr>
              <a:lnSpc>
                <a:spcPct val="114000"/>
              </a:lnSpc>
            </a:pPr>
            <a:r>
              <a:rPr lang="en-US" altLang="zh-CN" sz="3200" dirty="0">
                <a:solidFill>
                  <a:srgbClr val="FF0000"/>
                </a:solidFill>
                <a:ea typeface="宋体" charset="-122"/>
              </a:rPr>
              <a:t>UNIQUE</a:t>
            </a:r>
            <a:r>
              <a:rPr lang="zh-CN" altLang="en-US" sz="3200" dirty="0">
                <a:ea typeface="宋体" charset="-122"/>
              </a:rPr>
              <a:t>：限制列取值不重。</a:t>
            </a:r>
          </a:p>
          <a:p>
            <a:pPr>
              <a:lnSpc>
                <a:spcPct val="114000"/>
              </a:lnSpc>
            </a:pPr>
            <a:r>
              <a:rPr lang="en-US" altLang="zh-CN" sz="3200" dirty="0">
                <a:solidFill>
                  <a:srgbClr val="FF0000"/>
                </a:solidFill>
                <a:ea typeface="宋体" charset="-122"/>
              </a:rPr>
              <a:t>CHECK</a:t>
            </a:r>
            <a:r>
              <a:rPr lang="zh-CN" altLang="en-US" sz="3200" dirty="0">
                <a:ea typeface="宋体" charset="-122"/>
              </a:rPr>
              <a:t>：限制列的取值范围。</a:t>
            </a:r>
          </a:p>
          <a:p>
            <a:pPr>
              <a:lnSpc>
                <a:spcPct val="114000"/>
              </a:lnSpc>
            </a:pPr>
            <a:r>
              <a:rPr lang="en-US" altLang="zh-CN" sz="3200" dirty="0">
                <a:solidFill>
                  <a:srgbClr val="FF0000"/>
                </a:solidFill>
                <a:ea typeface="宋体" charset="-122"/>
              </a:rPr>
              <a:t>PRIMARY KEY</a:t>
            </a:r>
            <a:r>
              <a:rPr lang="zh-CN" altLang="en-US" sz="3200" dirty="0">
                <a:ea typeface="宋体" charset="-122"/>
              </a:rPr>
              <a:t>：指定本列为主键。</a:t>
            </a:r>
          </a:p>
          <a:p>
            <a:pPr>
              <a:lnSpc>
                <a:spcPct val="114000"/>
              </a:lnSpc>
            </a:pPr>
            <a:r>
              <a:rPr lang="en-US" altLang="zh-CN" sz="3200" dirty="0">
                <a:solidFill>
                  <a:srgbClr val="FF0000"/>
                </a:solidFill>
                <a:ea typeface="宋体" charset="-122"/>
              </a:rPr>
              <a:t>FOREIGN KEY</a:t>
            </a:r>
            <a:r>
              <a:rPr lang="zh-CN" altLang="en-US" sz="3200" dirty="0">
                <a:ea typeface="宋体" charset="-122"/>
              </a:rPr>
              <a:t>：定义本列为引用其他表的外键。</a:t>
            </a:r>
            <a:endParaRPr lang="zh-CN" altLang="en-US" sz="32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2DC291-06C5-470E-8DF4-FE4AD1107282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25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几点说明</a:t>
            </a:r>
          </a:p>
        </p:txBody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341438"/>
            <a:ext cx="8712522" cy="4751858"/>
          </a:xfrm>
        </p:spPr>
        <p:txBody>
          <a:bodyPr/>
          <a:lstStyle/>
          <a:p>
            <a:r>
              <a:rPr lang="en-US" altLang="zh-CN" sz="2800" dirty="0"/>
              <a:t>NOT NULL</a:t>
            </a:r>
            <a:r>
              <a:rPr lang="zh-CN" altLang="en-US" sz="2800" dirty="0"/>
              <a:t>和</a:t>
            </a:r>
            <a:r>
              <a:rPr lang="en-US" altLang="zh-CN" sz="2800" dirty="0"/>
              <a:t>DEFAULT</a:t>
            </a:r>
            <a:r>
              <a:rPr lang="zh-CN" altLang="en-US" sz="2800" dirty="0"/>
              <a:t>只能是列级完整性约束；</a:t>
            </a:r>
          </a:p>
          <a:p>
            <a:r>
              <a:rPr lang="zh-CN" altLang="en-US" sz="2800" dirty="0"/>
              <a:t>其他约束均可在表级完整性约束处定义。</a:t>
            </a:r>
          </a:p>
          <a:p>
            <a:r>
              <a:rPr lang="zh-CN" altLang="en-US" sz="2800" dirty="0"/>
              <a:t>注意以下几点：</a:t>
            </a:r>
          </a:p>
          <a:p>
            <a:pPr lvl="1"/>
            <a:r>
              <a:rPr lang="zh-CN" altLang="en-US" sz="2800" dirty="0"/>
              <a:t>如果</a:t>
            </a:r>
            <a:r>
              <a:rPr lang="en-US" altLang="zh-CN" sz="2800" dirty="0"/>
              <a:t>CHECK</a:t>
            </a:r>
            <a:r>
              <a:rPr lang="zh-CN" altLang="en-US" sz="2800" dirty="0"/>
              <a:t>约束是定义多列之间的取值约束，则只能在表级完整性约束处定义；</a:t>
            </a:r>
          </a:p>
          <a:p>
            <a:pPr lvl="1"/>
            <a:r>
              <a:rPr lang="zh-CN" altLang="en-US" sz="2800" dirty="0"/>
              <a:t>如果在表级完整性约束处定义主键和</a:t>
            </a:r>
            <a:r>
              <a:rPr lang="zh-CN" altLang="zh-CN" sz="2800" dirty="0"/>
              <a:t>唯一值约束，则应将主键列和唯一值约束列用圆括号括起来，如</a:t>
            </a:r>
            <a:r>
              <a:rPr lang="zh-CN" altLang="en-US" sz="2800" dirty="0"/>
              <a:t>：</a:t>
            </a:r>
            <a:r>
              <a:rPr lang="en-US" altLang="zh-CN" sz="2800" dirty="0">
                <a:solidFill>
                  <a:srgbClr val="FF0000"/>
                </a:solidFill>
              </a:rPr>
              <a:t>PRIMARY KEY (</a:t>
            </a:r>
            <a:r>
              <a:rPr lang="zh-CN" altLang="zh-CN" sz="2800" dirty="0">
                <a:solidFill>
                  <a:srgbClr val="FF0000"/>
                </a:solidFill>
              </a:rPr>
              <a:t>列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r>
              <a:rPr lang="zh-CN" altLang="zh-CN" sz="2800" dirty="0">
                <a:solidFill>
                  <a:srgbClr val="FF0000"/>
                </a:solidFill>
              </a:rPr>
              <a:t>｛</a:t>
            </a:r>
            <a:r>
              <a:rPr lang="en-US" altLang="zh-CN" sz="2800" dirty="0">
                <a:solidFill>
                  <a:srgbClr val="FF0000"/>
                </a:solidFill>
              </a:rPr>
              <a:t>[</a:t>
            </a:r>
            <a:r>
              <a:rPr lang="zh-CN" altLang="zh-CN" sz="2800" dirty="0">
                <a:solidFill>
                  <a:srgbClr val="FF0000"/>
                </a:solidFill>
              </a:rPr>
              <a:t>，列</a:t>
            </a:r>
            <a:r>
              <a:rPr lang="en-US" altLang="zh-CN" sz="2800" dirty="0">
                <a:solidFill>
                  <a:srgbClr val="FF0000"/>
                </a:solidFill>
              </a:rPr>
              <a:t>2 ] </a:t>
            </a:r>
            <a:r>
              <a:rPr lang="zh-CN" altLang="zh-CN" sz="2800" dirty="0">
                <a:solidFill>
                  <a:srgbClr val="FF0000"/>
                </a:solidFill>
              </a:rPr>
              <a:t>…｝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r>
              <a:rPr lang="zh-CN" altLang="zh-CN" sz="2800" dirty="0">
                <a:solidFill>
                  <a:srgbClr val="FF0000"/>
                </a:solidFill>
              </a:rPr>
              <a:t> 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zh-CN" altLang="zh-CN" sz="2800" dirty="0"/>
              <a:t>本章只介绍非空约束、主键约束和外键约束</a:t>
            </a:r>
            <a:r>
              <a:rPr lang="zh-CN" altLang="en-US" sz="2800" dirty="0"/>
              <a:t>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598DCE-8104-4F1D-96F4-6FA73DE44810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26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非空约束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sz="4200" dirty="0">
                <a:solidFill>
                  <a:srgbClr val="FF0000"/>
                </a:solidFill>
              </a:rPr>
              <a:t> </a:t>
            </a:r>
            <a:r>
              <a:rPr lang="en-US" altLang="zh-CN" sz="3500" dirty="0"/>
              <a:t>&lt;</a:t>
            </a:r>
            <a:r>
              <a:rPr lang="zh-CN" altLang="en-US" sz="3500" dirty="0"/>
              <a:t>列名</a:t>
            </a:r>
            <a:r>
              <a:rPr lang="en-US" altLang="zh-CN" sz="3500" dirty="0"/>
              <a:t>&gt;  &lt;</a:t>
            </a:r>
            <a:r>
              <a:rPr lang="zh-CN" altLang="en-US" sz="3500" dirty="0"/>
              <a:t>类型</a:t>
            </a:r>
            <a:r>
              <a:rPr lang="en-US" altLang="zh-CN" sz="3500" dirty="0"/>
              <a:t>&gt; </a:t>
            </a:r>
            <a:r>
              <a:rPr lang="en-US" altLang="zh-CN" sz="3500" dirty="0">
                <a:solidFill>
                  <a:srgbClr val="FF0000"/>
                </a:solidFill>
              </a:rPr>
              <a:t>NOT NULL</a:t>
            </a:r>
            <a:endParaRPr lang="en-US" altLang="zh-CN" sz="3500" dirty="0"/>
          </a:p>
          <a:p>
            <a:pPr algn="just">
              <a:buFontTx/>
              <a:buNone/>
            </a:pPr>
            <a:r>
              <a:rPr lang="en-US" altLang="zh-CN" dirty="0">
                <a:solidFill>
                  <a:srgbClr val="009900"/>
                </a:solidFill>
              </a:rPr>
              <a:t>	</a:t>
            </a:r>
            <a:r>
              <a:rPr lang="zh-CN" altLang="en-US" dirty="0">
                <a:solidFill>
                  <a:srgbClr val="008000"/>
                </a:solidFill>
              </a:rPr>
              <a:t>例：</a:t>
            </a:r>
            <a:r>
              <a:rPr lang="en-US" altLang="zh-CN" dirty="0" err="1">
                <a:solidFill>
                  <a:srgbClr val="008000"/>
                </a:solidFill>
              </a:rPr>
              <a:t>sname</a:t>
            </a:r>
            <a:r>
              <a:rPr lang="en-US" altLang="zh-CN" dirty="0">
                <a:solidFill>
                  <a:srgbClr val="008000"/>
                </a:solidFill>
              </a:rPr>
              <a:t> char(10) NOT NULL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948F85-CB17-435B-BD0D-494A7BCBF346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27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主键约束</a:t>
            </a:r>
          </a:p>
        </p:txBody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340768"/>
            <a:ext cx="8424614" cy="4752528"/>
          </a:xfrm>
        </p:spPr>
        <p:txBody>
          <a:bodyPr/>
          <a:lstStyle/>
          <a:p>
            <a:pPr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  PRIMARY KEY [(&lt;</a:t>
            </a:r>
            <a:r>
              <a:rPr lang="zh-CN" altLang="zh-CN" sz="3200" dirty="0">
                <a:solidFill>
                  <a:srgbClr val="FF0000"/>
                </a:solidFill>
              </a:rPr>
              <a:t>列名</a:t>
            </a:r>
            <a:r>
              <a:rPr lang="en-US" altLang="zh-CN" sz="3200" dirty="0">
                <a:solidFill>
                  <a:srgbClr val="FF0000"/>
                </a:solidFill>
              </a:rPr>
              <a:t>&gt; [, </a:t>
            </a:r>
            <a:r>
              <a:rPr lang="zh-CN" altLang="zh-CN" sz="3200" dirty="0">
                <a:solidFill>
                  <a:srgbClr val="FF0000"/>
                </a:solidFill>
              </a:rPr>
              <a:t>…</a:t>
            </a:r>
            <a:r>
              <a:rPr lang="en-US" altLang="zh-CN" sz="3200" dirty="0">
                <a:solidFill>
                  <a:srgbClr val="FF0000"/>
                </a:solidFill>
              </a:rPr>
              <a:t> n] )]</a:t>
            </a:r>
            <a:endParaRPr lang="zh-CN" altLang="zh-CN" sz="3200" dirty="0">
              <a:solidFill>
                <a:srgbClr val="FF0000"/>
              </a:solidFill>
            </a:endParaRPr>
          </a:p>
          <a:p>
            <a:pPr algn="just"/>
            <a:r>
              <a:rPr lang="zh-CN" altLang="en-US" sz="3300" dirty="0"/>
              <a:t>如果在列级完整性约束处定义单列主键，则可省略括号。</a:t>
            </a:r>
            <a:endParaRPr lang="en-US" altLang="zh-CN" sz="3300" dirty="0"/>
          </a:p>
          <a:p>
            <a:pPr lvl="1" algn="just">
              <a:buFontTx/>
              <a:buNone/>
            </a:pPr>
            <a:r>
              <a:rPr lang="zh-CN" altLang="en-US" sz="3300" dirty="0">
                <a:solidFill>
                  <a:srgbClr val="008000"/>
                </a:solidFill>
              </a:rPr>
              <a:t>例</a:t>
            </a:r>
            <a:r>
              <a:rPr lang="en-US" altLang="zh-CN" sz="3300" dirty="0">
                <a:solidFill>
                  <a:srgbClr val="008000"/>
                </a:solidFill>
              </a:rPr>
              <a:t>1</a:t>
            </a:r>
            <a:r>
              <a:rPr lang="zh-CN" altLang="en-US" sz="3300" dirty="0">
                <a:solidFill>
                  <a:srgbClr val="008000"/>
                </a:solidFill>
              </a:rPr>
              <a:t>： </a:t>
            </a:r>
            <a:r>
              <a:rPr lang="en-US" altLang="zh-CN" sz="3300" dirty="0">
                <a:solidFill>
                  <a:srgbClr val="008000"/>
                </a:solidFill>
              </a:rPr>
              <a:t>SNO char(7) PRIMARY KEY</a:t>
            </a:r>
          </a:p>
          <a:p>
            <a:pPr algn="just">
              <a:buFontTx/>
              <a:buNone/>
            </a:pPr>
            <a:r>
              <a:rPr lang="zh-CN" altLang="en-US" sz="3300" dirty="0">
                <a:solidFill>
                  <a:srgbClr val="008000"/>
                </a:solidFill>
              </a:rPr>
              <a:t>	例</a:t>
            </a:r>
            <a:r>
              <a:rPr lang="en-US" altLang="zh-CN" sz="3300" dirty="0">
                <a:solidFill>
                  <a:srgbClr val="008000"/>
                </a:solidFill>
              </a:rPr>
              <a:t>2</a:t>
            </a:r>
            <a:r>
              <a:rPr lang="zh-CN" altLang="en-US" sz="3300" dirty="0">
                <a:solidFill>
                  <a:srgbClr val="008000"/>
                </a:solidFill>
              </a:rPr>
              <a:t>： </a:t>
            </a:r>
            <a:r>
              <a:rPr lang="en-US" altLang="zh-CN" sz="3300" dirty="0">
                <a:solidFill>
                  <a:srgbClr val="008000"/>
                </a:solidFill>
              </a:rPr>
              <a:t>PRIMARY KEY(SNO)</a:t>
            </a:r>
          </a:p>
          <a:p>
            <a:pPr algn="just">
              <a:buFontTx/>
              <a:buNone/>
            </a:pPr>
            <a:r>
              <a:rPr lang="en-US" altLang="zh-CN" sz="3300" dirty="0">
                <a:solidFill>
                  <a:srgbClr val="008000"/>
                </a:solidFill>
              </a:rPr>
              <a:t>        PRIMARY KEY(SNO</a:t>
            </a:r>
            <a:r>
              <a:rPr lang="zh-CN" altLang="en-US" sz="3300" dirty="0">
                <a:solidFill>
                  <a:srgbClr val="008000"/>
                </a:solidFill>
              </a:rPr>
              <a:t>，</a:t>
            </a:r>
            <a:r>
              <a:rPr lang="en-US" altLang="zh-CN" sz="3300" dirty="0">
                <a:solidFill>
                  <a:srgbClr val="008000"/>
                </a:solidFill>
              </a:rPr>
              <a:t>CNO)</a:t>
            </a:r>
            <a:endParaRPr lang="zh-CN" altLang="en-US" sz="3300" dirty="0">
              <a:solidFill>
                <a:srgbClr val="008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2AC645-5D96-44F6-A773-24E3FBE0D725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28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外键约束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FCE09E-F067-47E3-A6F2-AB8DACAE669D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altLang="zh-CN" dirty="0">
                <a:solidFill>
                  <a:srgbClr val="FF0000"/>
                </a:solidFill>
              </a:rPr>
              <a:t>[ FOREIGN KEY (&lt;</a:t>
            </a:r>
            <a:r>
              <a:rPr lang="zh-CN" altLang="en-US" dirty="0">
                <a:solidFill>
                  <a:srgbClr val="FF0000"/>
                </a:solidFill>
              </a:rPr>
              <a:t>外键列名</a:t>
            </a:r>
            <a:r>
              <a:rPr lang="en-US" altLang="zh-CN" dirty="0">
                <a:solidFill>
                  <a:srgbClr val="FF0000"/>
                </a:solidFill>
              </a:rPr>
              <a:t>&gt;)]</a:t>
            </a:r>
          </a:p>
          <a:p>
            <a:pPr algn="just">
              <a:buNone/>
            </a:pPr>
            <a:r>
              <a:rPr lang="en-US" altLang="zh-CN" dirty="0">
                <a:solidFill>
                  <a:srgbClr val="FF0000"/>
                </a:solidFill>
              </a:rPr>
              <a:t> REFERENCES &lt;</a:t>
            </a:r>
            <a:r>
              <a:rPr lang="zh-CN" altLang="en-US" dirty="0">
                <a:solidFill>
                  <a:srgbClr val="FF0000"/>
                </a:solidFill>
              </a:rPr>
              <a:t>表名</a:t>
            </a:r>
            <a:r>
              <a:rPr lang="en-US" altLang="zh-CN" dirty="0">
                <a:solidFill>
                  <a:srgbClr val="FF0000"/>
                </a:solidFill>
              </a:rPr>
              <a:t>&gt; (&lt;</a:t>
            </a:r>
            <a:r>
              <a:rPr lang="zh-CN" altLang="en-US" dirty="0">
                <a:solidFill>
                  <a:srgbClr val="FF0000"/>
                </a:solidFill>
              </a:rPr>
              <a:t>主键列名</a:t>
            </a:r>
            <a:r>
              <a:rPr lang="en-US" altLang="zh-CN" dirty="0">
                <a:solidFill>
                  <a:srgbClr val="FF0000"/>
                </a:solidFill>
              </a:rPr>
              <a:t>&gt;)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zh-CN" sz="3200" dirty="0"/>
              <a:t>如果是在列级完整性约束处，则可省略“</a:t>
            </a:r>
            <a:r>
              <a:rPr lang="en-US" altLang="zh-CN" sz="3200" dirty="0"/>
              <a:t>FOREIGN KEY </a:t>
            </a:r>
            <a:r>
              <a:rPr lang="zh-CN" altLang="zh-CN" sz="3200" dirty="0"/>
              <a:t>（</a:t>
            </a:r>
            <a:r>
              <a:rPr lang="en-US" altLang="zh-CN" sz="3200" dirty="0"/>
              <a:t>&lt;</a:t>
            </a:r>
            <a:r>
              <a:rPr lang="zh-CN" altLang="zh-CN" sz="3200" dirty="0"/>
              <a:t>列名</a:t>
            </a:r>
            <a:r>
              <a:rPr lang="en-US" altLang="zh-CN" sz="3200" dirty="0"/>
              <a:t>&gt;</a:t>
            </a:r>
            <a:r>
              <a:rPr lang="zh-CN" altLang="zh-CN" sz="3200" dirty="0"/>
              <a:t>）”部分</a:t>
            </a:r>
            <a:r>
              <a:rPr lang="zh-CN" altLang="en-US" sz="3200" dirty="0"/>
              <a:t>。</a:t>
            </a:r>
            <a:endParaRPr lang="en-US" altLang="zh-CN" sz="3200" dirty="0"/>
          </a:p>
          <a:p>
            <a:pPr lvl="1">
              <a:buNone/>
            </a:pPr>
            <a:r>
              <a:rPr lang="zh-CN" altLang="en-US" sz="3200" dirty="0"/>
              <a:t>例：定义</a:t>
            </a:r>
            <a:r>
              <a:rPr lang="en-US" altLang="zh-CN" sz="3200" dirty="0"/>
              <a:t>SC</a:t>
            </a:r>
            <a:r>
              <a:rPr lang="zh-CN" altLang="en-US" sz="3200" dirty="0"/>
              <a:t>表的</a:t>
            </a:r>
            <a:r>
              <a:rPr lang="en-US" altLang="zh-CN" sz="3200" dirty="0" err="1"/>
              <a:t>Sno</a:t>
            </a:r>
            <a:r>
              <a:rPr lang="zh-CN" altLang="en-US" sz="3200" dirty="0"/>
              <a:t>外键。</a:t>
            </a:r>
            <a:endParaRPr lang="en-US" altLang="zh-CN" sz="3200" dirty="0"/>
          </a:p>
          <a:p>
            <a:pPr lvl="1">
              <a:buNone/>
            </a:pPr>
            <a:r>
              <a:rPr lang="en-US" altLang="zh-CN" sz="3200" dirty="0">
                <a:solidFill>
                  <a:srgbClr val="008000"/>
                </a:solidFill>
              </a:rPr>
              <a:t>    FOREIGN KEY(</a:t>
            </a:r>
            <a:r>
              <a:rPr lang="en-US" altLang="zh-CN" sz="3200" dirty="0" err="1">
                <a:solidFill>
                  <a:srgbClr val="008000"/>
                </a:solidFill>
              </a:rPr>
              <a:t>Sno</a:t>
            </a:r>
            <a:r>
              <a:rPr lang="en-US" altLang="zh-CN" sz="3200" dirty="0">
                <a:solidFill>
                  <a:srgbClr val="008000"/>
                </a:solidFill>
              </a:rPr>
              <a:t>)</a:t>
            </a:r>
          </a:p>
          <a:p>
            <a:pPr lvl="1">
              <a:buNone/>
            </a:pPr>
            <a:r>
              <a:rPr lang="en-US" altLang="zh-CN" sz="3200" dirty="0">
                <a:solidFill>
                  <a:srgbClr val="008000"/>
                </a:solidFill>
              </a:rPr>
              <a:t>      REFERENCES Student(</a:t>
            </a:r>
            <a:r>
              <a:rPr lang="en-US" altLang="zh-CN" sz="3200" dirty="0" err="1">
                <a:solidFill>
                  <a:srgbClr val="008000"/>
                </a:solidFill>
              </a:rPr>
              <a:t>Sno</a:t>
            </a:r>
            <a:r>
              <a:rPr lang="en-US" altLang="zh-CN" sz="3200" dirty="0">
                <a:solidFill>
                  <a:srgbClr val="008000"/>
                </a:solidFill>
              </a:rPr>
              <a:t>)</a:t>
            </a:r>
            <a:endParaRPr lang="zh-CN" altLang="en-US" sz="3200" dirty="0">
              <a:solidFill>
                <a:srgbClr val="008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29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唯一值约束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340768"/>
            <a:ext cx="8001000" cy="4752528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    UNIQUE [(&lt;</a:t>
            </a:r>
            <a:r>
              <a:rPr lang="zh-CN" altLang="zh-CN" sz="3200" dirty="0">
                <a:solidFill>
                  <a:srgbClr val="FF0000"/>
                </a:solidFill>
              </a:rPr>
              <a:t>列名</a:t>
            </a:r>
            <a:r>
              <a:rPr lang="en-US" altLang="zh-CN" sz="3200" dirty="0">
                <a:solidFill>
                  <a:srgbClr val="FF0000"/>
                </a:solidFill>
              </a:rPr>
              <a:t>&gt; [, … n] )]</a:t>
            </a:r>
            <a:endParaRPr lang="zh-CN" altLang="zh-CN" sz="32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zh-CN" sz="2800" dirty="0"/>
              <a:t>如果在列级完整性约束处定义单列的唯一值约束，则可省略方括号中的内容。</a:t>
            </a:r>
            <a:endParaRPr lang="en-US" altLang="zh-CN" sz="28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zh-CN" sz="2800" dirty="0"/>
              <a:t>用于限制一个列的取值不重复，或者是多个列的组合取值不重复。</a:t>
            </a:r>
            <a:endParaRPr lang="en-US" altLang="zh-CN" sz="28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zh-CN" sz="2800" dirty="0"/>
              <a:t>有</a:t>
            </a:r>
            <a:r>
              <a:rPr lang="en-US" altLang="zh-CN" sz="2800" dirty="0"/>
              <a:t>UNIQUE</a:t>
            </a:r>
            <a:r>
              <a:rPr lang="zh-CN" altLang="zh-CN" sz="2800" dirty="0"/>
              <a:t>约束的列允许有一个空值；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zh-CN" sz="2800" dirty="0"/>
              <a:t>在一个表中可以定义多个</a:t>
            </a:r>
            <a:r>
              <a:rPr lang="en-US" altLang="zh-CN" sz="2800" dirty="0"/>
              <a:t>UNIQUE</a:t>
            </a:r>
            <a:r>
              <a:rPr lang="zh-CN" altLang="zh-CN" sz="2800" dirty="0"/>
              <a:t>约束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zh-CN" sz="2800" dirty="0"/>
              <a:t>可以在一个列或多个列上定义</a:t>
            </a:r>
            <a:r>
              <a:rPr lang="en-US" altLang="zh-CN" sz="2800" dirty="0"/>
              <a:t>UNIQUE</a:t>
            </a:r>
            <a:r>
              <a:rPr lang="zh-CN" altLang="zh-CN" sz="2800" dirty="0"/>
              <a:t>约束</a:t>
            </a: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65E4FF-756F-46F8-89A7-3E62B221F7C9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30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923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默认值约束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用于提供列的默认值</a:t>
            </a:r>
            <a:r>
              <a:rPr lang="zh-CN" altLang="en-US" dirty="0"/>
              <a:t>。</a:t>
            </a:r>
            <a:r>
              <a:rPr lang="zh-CN" altLang="zh-CN" dirty="0"/>
              <a:t>当在表中插入数据时，</a:t>
            </a:r>
            <a:r>
              <a:rPr lang="zh-CN" altLang="en-US" dirty="0"/>
              <a:t>若</a:t>
            </a:r>
            <a:r>
              <a:rPr lang="zh-CN" altLang="zh-CN" dirty="0"/>
              <a:t>没有为有</a:t>
            </a:r>
            <a:r>
              <a:rPr lang="zh-CN" altLang="en-US" dirty="0"/>
              <a:t>默认值</a:t>
            </a:r>
            <a:r>
              <a:rPr lang="zh-CN" altLang="zh-CN" dirty="0"/>
              <a:t>约束的列提供值，则系统自动使用</a:t>
            </a:r>
            <a:r>
              <a:rPr lang="zh-CN" altLang="en-US" dirty="0"/>
              <a:t>默认值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一个默认值约束只能为一个列提供默认值，且默认值约束必须是列级约束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65E4FF-756F-46F8-89A7-3E62B221F7C9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31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19868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默认值约束（续）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默认值约束的定义有两种形式</a:t>
            </a:r>
            <a:r>
              <a:rPr lang="zh-CN" altLang="en-US" dirty="0"/>
              <a:t>：</a:t>
            </a:r>
            <a:endParaRPr lang="zh-CN" altLang="zh-CN" dirty="0"/>
          </a:p>
          <a:p>
            <a:pPr lvl="1"/>
            <a:r>
              <a:rPr lang="en-US" altLang="zh-CN" dirty="0"/>
              <a:t> </a:t>
            </a:r>
            <a:r>
              <a:rPr lang="zh-CN" altLang="zh-CN" dirty="0"/>
              <a:t>在创建表时定义</a:t>
            </a:r>
            <a:r>
              <a:rPr lang="en-US" altLang="zh-CN" dirty="0"/>
              <a:t>DEFAULT</a:t>
            </a:r>
            <a:r>
              <a:rPr lang="zh-CN" altLang="zh-CN" dirty="0"/>
              <a:t>约束</a:t>
            </a:r>
          </a:p>
          <a:p>
            <a:pPr marL="471487" lvl="1" indent="0">
              <a:buNone/>
            </a:pPr>
            <a:r>
              <a:rPr lang="en-US" altLang="zh-CN" dirty="0"/>
              <a:t>   </a:t>
            </a:r>
            <a:r>
              <a:rPr lang="en-US" altLang="zh-CN" dirty="0">
                <a:solidFill>
                  <a:srgbClr val="FF0000"/>
                </a:solidFill>
              </a:rPr>
              <a:t>DEFAULT </a:t>
            </a:r>
            <a:r>
              <a:rPr lang="zh-CN" altLang="zh-CN" dirty="0">
                <a:solidFill>
                  <a:srgbClr val="FF0000"/>
                </a:solidFill>
              </a:rPr>
              <a:t>常量表达式</a:t>
            </a:r>
          </a:p>
          <a:p>
            <a:pPr lvl="1"/>
            <a:r>
              <a:rPr lang="en-US" altLang="zh-CN" dirty="0"/>
              <a:t> </a:t>
            </a:r>
            <a:r>
              <a:rPr lang="zh-CN" altLang="zh-CN" dirty="0"/>
              <a:t>为已创建好的表添加</a:t>
            </a:r>
            <a:r>
              <a:rPr lang="en-US" altLang="zh-CN" dirty="0"/>
              <a:t>Default</a:t>
            </a:r>
            <a:r>
              <a:rPr lang="zh-CN" altLang="zh-CN" dirty="0"/>
              <a:t>约束</a:t>
            </a:r>
          </a:p>
          <a:p>
            <a:pPr marL="438150" lvl="1" indent="0">
              <a:buNone/>
            </a:pPr>
            <a:r>
              <a:rPr lang="en-US" altLang="zh-CN" dirty="0"/>
              <a:t>   </a:t>
            </a:r>
            <a:r>
              <a:rPr lang="en-US" altLang="zh-CN" sz="3200" dirty="0">
                <a:solidFill>
                  <a:srgbClr val="FF0000"/>
                </a:solidFill>
              </a:rPr>
              <a:t>DEFAULT </a:t>
            </a:r>
            <a:r>
              <a:rPr lang="zh-CN" altLang="zh-CN" sz="3200" dirty="0">
                <a:solidFill>
                  <a:srgbClr val="FF0000"/>
                </a:solidFill>
              </a:rPr>
              <a:t>常量表达式 </a:t>
            </a:r>
            <a:r>
              <a:rPr lang="en-US" altLang="zh-CN" sz="3200" dirty="0">
                <a:solidFill>
                  <a:srgbClr val="FF0000"/>
                </a:solidFill>
              </a:rPr>
              <a:t>FOR </a:t>
            </a:r>
            <a:r>
              <a:rPr lang="zh-CN" altLang="zh-CN" sz="3200" dirty="0">
                <a:solidFill>
                  <a:srgbClr val="FF0000"/>
                </a:solidFill>
              </a:rPr>
              <a:t>列名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65E4FF-756F-46F8-89A7-3E62B221F7C9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32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02390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限制列取值约束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340768"/>
            <a:ext cx="8001000" cy="467836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CHECK(</a:t>
            </a:r>
            <a:r>
              <a:rPr lang="zh-CN" altLang="zh-CN" dirty="0">
                <a:solidFill>
                  <a:srgbClr val="FF0000"/>
                </a:solidFill>
              </a:rPr>
              <a:t>逻辑表达式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zh-CN" altLang="zh-CN" dirty="0"/>
              <a:t>用于限制列的取值在指定范围内，</a:t>
            </a:r>
            <a:endParaRPr lang="en-US" altLang="zh-CN" dirty="0"/>
          </a:p>
          <a:p>
            <a:r>
              <a:rPr lang="zh-CN" altLang="zh-CN" dirty="0"/>
              <a:t>例如，人的性别只能是</a:t>
            </a:r>
            <a:r>
              <a:rPr lang="en-US" altLang="zh-CN" dirty="0"/>
              <a:t>{</a:t>
            </a:r>
            <a:r>
              <a:rPr lang="zh-CN" altLang="zh-CN" dirty="0"/>
              <a:t>男</a:t>
            </a:r>
            <a:r>
              <a:rPr lang="zh-CN" altLang="en-US" dirty="0"/>
              <a:t>，</a:t>
            </a:r>
            <a:r>
              <a:rPr lang="zh-CN" altLang="zh-CN" dirty="0"/>
              <a:t>女</a:t>
            </a:r>
            <a:r>
              <a:rPr lang="en-US" altLang="zh-CN" dirty="0"/>
              <a:t>}</a:t>
            </a:r>
          </a:p>
          <a:p>
            <a:r>
              <a:rPr lang="en-US" altLang="zh-CN" dirty="0"/>
              <a:t>CHECK</a:t>
            </a:r>
            <a:r>
              <a:rPr lang="zh-CN" altLang="zh-CN" dirty="0"/>
              <a:t>所限制的列必须在同一个表中</a:t>
            </a:r>
            <a:endParaRPr lang="en-US" altLang="zh-CN" dirty="0"/>
          </a:p>
          <a:p>
            <a:r>
              <a:rPr lang="zh-CN" altLang="zh-CN" dirty="0"/>
              <a:t>如果</a:t>
            </a:r>
            <a:r>
              <a:rPr lang="en-US" altLang="zh-CN" dirty="0"/>
              <a:t>CHECK</a:t>
            </a:r>
            <a:r>
              <a:rPr lang="zh-CN" altLang="zh-CN" dirty="0"/>
              <a:t>约束是定义多列之间的取值约束，则只能在“表级完整性约束定义”处定义。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65E4FF-756F-46F8-89A7-3E62B221F7C9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33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43348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65E4FF-756F-46F8-89A7-3E62B221F7C9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34</a:t>
            </a:fld>
            <a:r>
              <a:rPr lang="en-US" altLang="zh-CN"/>
              <a:t>/37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7583" y="1340768"/>
            <a:ext cx="7750681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2029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/>
              <a:t>Jobs</a:t>
            </a:r>
            <a:r>
              <a:rPr lang="zh-CN" altLang="en-US" dirty="0"/>
              <a:t>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340768"/>
            <a:ext cx="8001000" cy="467836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3200" dirty="0"/>
              <a:t>CREATE TABLE Jobs (</a:t>
            </a:r>
            <a:endParaRPr lang="zh-CN" altLang="zh-CN" sz="32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3200" dirty="0"/>
              <a:t>  </a:t>
            </a:r>
            <a:r>
              <a:rPr lang="en-US" altLang="zh-CN" sz="3200" dirty="0" err="1"/>
              <a:t>Jid</a:t>
            </a:r>
            <a:r>
              <a:rPr lang="en-US" altLang="zh-CN" sz="3200" dirty="0"/>
              <a:t>	  char(6)	 PRIMARY KEY, 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3200" dirty="0"/>
              <a:t>  </a:t>
            </a:r>
            <a:r>
              <a:rPr lang="en-US" altLang="zh-CN" sz="3200" dirty="0" err="1"/>
              <a:t>Descp</a:t>
            </a:r>
            <a:r>
              <a:rPr lang="en-US" altLang="zh-CN" sz="3200" dirty="0"/>
              <a:t>	  </a:t>
            </a:r>
            <a:r>
              <a:rPr lang="en-US" altLang="zh-CN" sz="3200" dirty="0" err="1"/>
              <a:t>nchar</a:t>
            </a:r>
            <a:r>
              <a:rPr lang="en-US" altLang="zh-CN" sz="3200" dirty="0"/>
              <a:t>(20) NOT NULL,</a:t>
            </a:r>
            <a:endParaRPr lang="zh-CN" altLang="zh-CN" sz="32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3200" dirty="0"/>
              <a:t>  </a:t>
            </a:r>
            <a:r>
              <a:rPr lang="en-US" altLang="zh-CN" sz="3200" dirty="0" err="1"/>
              <a:t>EduReq</a:t>
            </a:r>
            <a:r>
              <a:rPr lang="en-US" altLang="zh-CN" sz="3200" dirty="0"/>
              <a:t>	  </a:t>
            </a:r>
            <a:r>
              <a:rPr lang="en-US" altLang="zh-CN" sz="3200" dirty="0" err="1"/>
              <a:t>nchar</a:t>
            </a:r>
            <a:r>
              <a:rPr lang="en-US" altLang="zh-CN" sz="3200" dirty="0"/>
              <a:t>(6)  DEFAULT '</a:t>
            </a:r>
            <a:r>
              <a:rPr lang="zh-CN" altLang="zh-CN" sz="3200" dirty="0"/>
              <a:t>本科</a:t>
            </a:r>
            <a:r>
              <a:rPr lang="en-US" altLang="zh-CN" sz="3200" dirty="0"/>
              <a:t>', </a:t>
            </a:r>
            <a:endParaRPr lang="zh-CN" altLang="zh-CN" sz="32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3200" dirty="0"/>
              <a:t>  </a:t>
            </a:r>
            <a:r>
              <a:rPr lang="en-US" altLang="zh-CN" sz="3200" dirty="0" err="1"/>
              <a:t>MinSalary</a:t>
            </a:r>
            <a:r>
              <a:rPr lang="en-US" altLang="zh-CN" sz="3200" dirty="0"/>
              <a:t>  </a:t>
            </a:r>
            <a:r>
              <a:rPr lang="en-US" altLang="zh-CN" sz="3200" dirty="0" err="1"/>
              <a:t>int</a:t>
            </a:r>
            <a:r>
              <a:rPr lang="en-US" altLang="zh-CN" sz="3200" dirty="0"/>
              <a:t>		 ,</a:t>
            </a:r>
            <a:endParaRPr lang="zh-CN" altLang="zh-CN" sz="32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3200" dirty="0"/>
              <a:t>  </a:t>
            </a:r>
            <a:r>
              <a:rPr lang="en-US" altLang="zh-CN" sz="3200" dirty="0" err="1"/>
              <a:t>MaxSalary</a:t>
            </a:r>
            <a:r>
              <a:rPr lang="en-US" altLang="zh-CN" sz="3200" dirty="0"/>
              <a:t>  </a:t>
            </a:r>
            <a:r>
              <a:rPr lang="en-US" altLang="zh-CN" sz="3200" dirty="0" err="1"/>
              <a:t>int</a:t>
            </a:r>
            <a:r>
              <a:rPr lang="en-US" altLang="zh-CN" sz="3200" dirty="0"/>
              <a:t>		 ,</a:t>
            </a:r>
            <a:endParaRPr lang="zh-CN" altLang="zh-CN" sz="32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3200" dirty="0"/>
              <a:t>  CHECK( </a:t>
            </a:r>
            <a:r>
              <a:rPr lang="en-US" altLang="zh-CN" sz="3200" dirty="0" err="1"/>
              <a:t>MaxSalary</a:t>
            </a:r>
            <a:r>
              <a:rPr lang="en-US" altLang="zh-CN" sz="3200" dirty="0"/>
              <a:t> &gt;= </a:t>
            </a:r>
            <a:r>
              <a:rPr lang="en-US" altLang="zh-CN" sz="3200" dirty="0" err="1"/>
              <a:t>MinSalary</a:t>
            </a:r>
            <a:r>
              <a:rPr lang="en-US" altLang="zh-CN" sz="3200" dirty="0"/>
              <a:t> )</a:t>
            </a:r>
            <a:endParaRPr lang="zh-CN" altLang="zh-CN" sz="32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3200" dirty="0"/>
              <a:t>)</a:t>
            </a:r>
            <a:endParaRPr lang="zh-CN" altLang="en-US" sz="32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65E4FF-756F-46F8-89A7-3E62B221F7C9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35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17856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65E4FF-756F-46F8-89A7-3E62B221F7C9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36</a:t>
            </a:fld>
            <a:r>
              <a:rPr lang="en-US" altLang="zh-CN"/>
              <a:t>/37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7230" y="1484784"/>
            <a:ext cx="7809540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6161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/>
              <a:t>Employees</a:t>
            </a:r>
            <a:r>
              <a:rPr lang="zh-CN" altLang="en-US" dirty="0"/>
              <a:t>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340768"/>
            <a:ext cx="8181726" cy="4752528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600" dirty="0"/>
              <a:t>CREATE TABLE Employees (</a:t>
            </a:r>
            <a:endParaRPr lang="zh-CN" altLang="zh-CN" sz="26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600" dirty="0"/>
              <a:t>  </a:t>
            </a:r>
            <a:r>
              <a:rPr lang="en-US" altLang="zh-CN" sz="2600" dirty="0" err="1"/>
              <a:t>Eid</a:t>
            </a:r>
            <a:r>
              <a:rPr lang="en-US" altLang="zh-CN" sz="2600" dirty="0"/>
              <a:t>   char(10)      ,</a:t>
            </a:r>
            <a:endParaRPr lang="zh-CN" altLang="zh-CN" sz="26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600" dirty="0"/>
              <a:t>  </a:t>
            </a:r>
            <a:r>
              <a:rPr lang="en-US" altLang="zh-CN" sz="2600" dirty="0" err="1"/>
              <a:t>Ename</a:t>
            </a:r>
            <a:r>
              <a:rPr lang="en-US" altLang="zh-CN" sz="2600" dirty="0"/>
              <a:t> </a:t>
            </a:r>
            <a:r>
              <a:rPr lang="en-US" altLang="zh-CN" sz="2600" dirty="0" err="1"/>
              <a:t>nvarchar</a:t>
            </a:r>
            <a:r>
              <a:rPr lang="en-US" altLang="zh-CN" sz="2600" dirty="0"/>
              <a:t>(20) NOT NULL,</a:t>
            </a:r>
            <a:endParaRPr lang="zh-CN" altLang="zh-CN" sz="26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600" dirty="0"/>
              <a:t>  Sex </a:t>
            </a:r>
            <a:r>
              <a:rPr lang="en-US" altLang="zh-CN" sz="2600" dirty="0" err="1"/>
              <a:t>nchar</a:t>
            </a:r>
            <a:r>
              <a:rPr lang="en-US" altLang="zh-CN" sz="2600" dirty="0"/>
              <a:t>(1) CHECK( Sex = '</a:t>
            </a:r>
            <a:r>
              <a:rPr lang="zh-CN" altLang="zh-CN" sz="2600" dirty="0"/>
              <a:t>男</a:t>
            </a:r>
            <a:r>
              <a:rPr lang="en-US" altLang="zh-CN" sz="2600" dirty="0"/>
              <a:t>' OR Sex = '</a:t>
            </a:r>
            <a:r>
              <a:rPr lang="zh-CN" altLang="zh-CN" sz="2600" dirty="0"/>
              <a:t>女</a:t>
            </a:r>
            <a:r>
              <a:rPr lang="en-US" altLang="zh-CN" sz="2600" dirty="0"/>
              <a:t>'),</a:t>
            </a:r>
            <a:endParaRPr lang="zh-CN" altLang="zh-CN" sz="26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600" dirty="0"/>
              <a:t>  </a:t>
            </a:r>
            <a:r>
              <a:rPr lang="en-US" altLang="zh-CN" sz="2600" dirty="0" err="1"/>
              <a:t>BirthDate</a:t>
            </a:r>
            <a:r>
              <a:rPr lang="en-US" altLang="zh-CN" sz="2600" dirty="0"/>
              <a:t> date           ,</a:t>
            </a:r>
            <a:endParaRPr lang="zh-CN" altLang="zh-CN" sz="26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600" dirty="0"/>
              <a:t>  </a:t>
            </a:r>
            <a:r>
              <a:rPr lang="en-US" altLang="zh-CN" sz="2600" dirty="0" err="1"/>
              <a:t>JobDate</a:t>
            </a:r>
            <a:r>
              <a:rPr lang="en-US" altLang="zh-CN" sz="2600" dirty="0"/>
              <a:t>   </a:t>
            </a:r>
            <a:r>
              <a:rPr lang="en-US" altLang="zh-CN" sz="2600" dirty="0" err="1"/>
              <a:t>datetime</a:t>
            </a:r>
            <a:r>
              <a:rPr lang="en-US" altLang="zh-CN" sz="2600" dirty="0"/>
              <a:t> DEFAULT </a:t>
            </a:r>
            <a:r>
              <a:rPr lang="en-US" altLang="zh-CN" sz="2600" dirty="0" err="1"/>
              <a:t>GetDate</a:t>
            </a:r>
            <a:r>
              <a:rPr lang="en-US" altLang="zh-CN" sz="2600" dirty="0"/>
              <a:t>(),</a:t>
            </a:r>
            <a:endParaRPr lang="zh-CN" altLang="zh-CN" sz="26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600" dirty="0"/>
              <a:t>  Sid		  char(18) UNIQUE ,</a:t>
            </a:r>
            <a:endParaRPr lang="zh-CN" altLang="zh-CN" sz="26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600" dirty="0"/>
              <a:t>  </a:t>
            </a:r>
            <a:r>
              <a:rPr lang="en-US" altLang="zh-CN" sz="2600" dirty="0" err="1"/>
              <a:t>Jid</a:t>
            </a:r>
            <a:r>
              <a:rPr lang="en-US" altLang="zh-CN" sz="2600" dirty="0"/>
              <a:t>		  char(6)         , </a:t>
            </a:r>
            <a:endParaRPr lang="zh-CN" altLang="zh-CN" sz="26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600" dirty="0"/>
              <a:t>  Tel        char(11)       ,</a:t>
            </a:r>
            <a:endParaRPr lang="zh-CN" altLang="zh-CN" sz="26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600" dirty="0"/>
              <a:t>  PRIMARY KEY(</a:t>
            </a:r>
            <a:r>
              <a:rPr lang="en-US" altLang="zh-CN" sz="2600" dirty="0" err="1"/>
              <a:t>Eid</a:t>
            </a:r>
            <a:r>
              <a:rPr lang="en-US" altLang="zh-CN" sz="2600" dirty="0"/>
              <a:t>)          ,             </a:t>
            </a:r>
            <a:endParaRPr lang="zh-CN" altLang="zh-CN" sz="26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600" dirty="0"/>
              <a:t>  FOREIGN KEY(</a:t>
            </a:r>
            <a:r>
              <a:rPr lang="en-US" altLang="zh-CN" sz="2600" dirty="0" err="1"/>
              <a:t>Jid</a:t>
            </a:r>
            <a:r>
              <a:rPr lang="en-US" altLang="zh-CN" sz="2600" dirty="0"/>
              <a:t>) REFERENCES Jobs(</a:t>
            </a:r>
            <a:r>
              <a:rPr lang="en-US" altLang="zh-CN" sz="2600" dirty="0" err="1"/>
              <a:t>Jid</a:t>
            </a:r>
            <a:r>
              <a:rPr lang="en-US" altLang="zh-CN" sz="2600" dirty="0"/>
              <a:t>) )</a:t>
            </a:r>
            <a:endParaRPr lang="zh-CN" altLang="en-US" sz="26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65E4FF-756F-46F8-89A7-3E62B221F7C9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37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01004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修改表结构 </a:t>
            </a:r>
          </a:p>
        </p:txBody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412776"/>
            <a:ext cx="8001000" cy="4678362"/>
          </a:xfrm>
        </p:spPr>
        <p:txBody>
          <a:bodyPr/>
          <a:lstStyle/>
          <a:p>
            <a:r>
              <a:rPr lang="zh-CN" altLang="en-US" dirty="0"/>
              <a:t>在定义完表之后，如果需求有变化，比如添加列、删除列或修改列定义，可以使用</a:t>
            </a:r>
            <a:r>
              <a:rPr lang="en-US" altLang="zh-CN" dirty="0">
                <a:solidFill>
                  <a:srgbClr val="FF0000"/>
                </a:solidFill>
              </a:rPr>
              <a:t>ALTER TABLE</a:t>
            </a:r>
            <a:r>
              <a:rPr lang="zh-CN" altLang="en-US" dirty="0"/>
              <a:t>语句实现。</a:t>
            </a:r>
          </a:p>
          <a:p>
            <a:r>
              <a:rPr lang="en-US" altLang="zh-CN" dirty="0"/>
              <a:t>ALTER TABLE</a:t>
            </a:r>
            <a:r>
              <a:rPr lang="zh-CN" altLang="en-US" dirty="0"/>
              <a:t>语句可以对表添加列、删除列、修改列的定义、定义主键、外键，也可以添加和删除约束。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812E48-147F-43AB-80B9-E0DD0438CE28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38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修改表结构</a:t>
            </a:r>
          </a:p>
        </p:txBody>
      </p:sp>
      <p:sp>
        <p:nvSpPr>
          <p:cNvPr id="431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412776"/>
            <a:ext cx="8371656" cy="4680520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ALTER TABLE </a:t>
            </a:r>
            <a:r>
              <a:rPr lang="en-US" altLang="zh-CN" sz="3200" dirty="0"/>
              <a:t>&lt;</a:t>
            </a:r>
            <a:r>
              <a:rPr lang="zh-CN" altLang="zh-CN" sz="3200" dirty="0"/>
              <a:t>表名</a:t>
            </a:r>
            <a:r>
              <a:rPr lang="en-US" altLang="zh-CN" sz="3200" dirty="0"/>
              <a:t>&gt;  </a:t>
            </a:r>
            <a:endParaRPr lang="zh-CN" altLang="zh-CN" sz="3200" dirty="0"/>
          </a:p>
          <a:p>
            <a:pPr>
              <a:lnSpc>
                <a:spcPct val="100000"/>
              </a:lnSpc>
              <a:buNone/>
            </a:pPr>
            <a:r>
              <a:rPr lang="en-US" altLang="zh-CN" sz="3200" dirty="0"/>
              <a:t>[ ALTER  COLUMN &lt;</a:t>
            </a:r>
            <a:r>
              <a:rPr lang="zh-CN" altLang="zh-CN" sz="3200" dirty="0"/>
              <a:t>列名</a:t>
            </a:r>
            <a:r>
              <a:rPr lang="en-US" altLang="zh-CN" sz="3200" dirty="0"/>
              <a:t>&gt; &lt;</a:t>
            </a:r>
            <a:r>
              <a:rPr lang="zh-CN" altLang="zh-CN" sz="3200" dirty="0"/>
              <a:t>新数据类型</a:t>
            </a:r>
            <a:r>
              <a:rPr lang="en-US" altLang="zh-CN" sz="3200" dirty="0"/>
              <a:t>&gt;]</a:t>
            </a:r>
            <a:endParaRPr lang="zh-CN" altLang="zh-CN" sz="3200" dirty="0"/>
          </a:p>
          <a:p>
            <a:pPr>
              <a:lnSpc>
                <a:spcPct val="100000"/>
              </a:lnSpc>
              <a:buNone/>
            </a:pPr>
            <a:r>
              <a:rPr lang="en-US" altLang="zh-CN" sz="3200" dirty="0"/>
              <a:t>| [ ADD  &lt;</a:t>
            </a:r>
            <a:r>
              <a:rPr lang="zh-CN" altLang="zh-CN" sz="3200" dirty="0"/>
              <a:t>列名</a:t>
            </a:r>
            <a:r>
              <a:rPr lang="en-US" altLang="zh-CN" sz="3200" dirty="0"/>
              <a:t>&gt; &lt;</a:t>
            </a:r>
            <a:r>
              <a:rPr lang="zh-CN" altLang="zh-CN" sz="3200" dirty="0"/>
              <a:t>数据类型</a:t>
            </a:r>
            <a:r>
              <a:rPr lang="en-US" altLang="zh-CN" sz="3200" dirty="0"/>
              <a:t>&gt; [</a:t>
            </a:r>
            <a:r>
              <a:rPr lang="zh-CN" altLang="zh-CN" sz="3200" dirty="0"/>
              <a:t>约束</a:t>
            </a:r>
            <a:r>
              <a:rPr lang="en-US" altLang="zh-CN" sz="3200" dirty="0"/>
              <a:t>]]</a:t>
            </a:r>
            <a:endParaRPr lang="zh-CN" altLang="zh-CN" sz="3200" dirty="0"/>
          </a:p>
          <a:p>
            <a:pPr>
              <a:lnSpc>
                <a:spcPct val="100000"/>
              </a:lnSpc>
              <a:buNone/>
            </a:pPr>
            <a:r>
              <a:rPr lang="en-US" altLang="zh-CN" sz="3200" dirty="0"/>
              <a:t>| [ DROP  COLUMN &lt;</a:t>
            </a:r>
            <a:r>
              <a:rPr lang="zh-CN" altLang="zh-CN" sz="3200" dirty="0"/>
              <a:t>列名</a:t>
            </a:r>
            <a:r>
              <a:rPr lang="en-US" altLang="zh-CN" sz="3200" dirty="0"/>
              <a:t>&gt; ]</a:t>
            </a:r>
            <a:endParaRPr lang="zh-CN" altLang="zh-CN" sz="3200" dirty="0"/>
          </a:p>
          <a:p>
            <a:pPr>
              <a:lnSpc>
                <a:spcPct val="100000"/>
              </a:lnSpc>
              <a:buNone/>
            </a:pPr>
            <a:r>
              <a:rPr lang="en-US" altLang="zh-CN" sz="3200" dirty="0"/>
              <a:t>| [ ADD [constraint &lt;</a:t>
            </a:r>
            <a:r>
              <a:rPr lang="zh-CN" altLang="zh-CN" sz="3200" dirty="0"/>
              <a:t>约束名</a:t>
            </a:r>
            <a:r>
              <a:rPr lang="en-US" altLang="zh-CN" sz="3200" dirty="0"/>
              <a:t>&gt;] </a:t>
            </a:r>
            <a:r>
              <a:rPr lang="zh-CN" altLang="zh-CN" sz="3200" dirty="0"/>
              <a:t>约束定义</a:t>
            </a:r>
            <a:r>
              <a:rPr lang="en-US" altLang="zh-CN" sz="3200" dirty="0"/>
              <a:t>]</a:t>
            </a:r>
            <a:endParaRPr lang="zh-CN" altLang="zh-CN" sz="3200" dirty="0"/>
          </a:p>
          <a:p>
            <a:pPr>
              <a:lnSpc>
                <a:spcPct val="100000"/>
              </a:lnSpc>
              <a:buNone/>
            </a:pPr>
            <a:r>
              <a:rPr lang="en-US" altLang="zh-CN" sz="3200" dirty="0"/>
              <a:t>| [ DROP [constraint] &lt;</a:t>
            </a:r>
            <a:r>
              <a:rPr lang="zh-CN" altLang="zh-CN" sz="3200" dirty="0"/>
              <a:t>约束名</a:t>
            </a:r>
            <a:r>
              <a:rPr lang="en-US" altLang="zh-CN" sz="3200" dirty="0"/>
              <a:t>&gt;]</a:t>
            </a:r>
            <a:endParaRPr lang="zh-CN" altLang="en-US" sz="33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158EEE-F208-4167-AB66-6AF69D42FE19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39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</a:p>
        </p:txBody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57338"/>
            <a:ext cx="8610600" cy="4535958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．</a:t>
            </a:r>
            <a:r>
              <a:rPr lang="zh-CN" altLang="zh-CN" dirty="0"/>
              <a:t>为</a:t>
            </a:r>
            <a:r>
              <a:rPr lang="en-US" altLang="zh-CN" dirty="0"/>
              <a:t>Employees</a:t>
            </a:r>
            <a:r>
              <a:rPr lang="zh-CN" altLang="zh-CN" dirty="0"/>
              <a:t>表添加工资列，此列的列名为</a:t>
            </a:r>
            <a:r>
              <a:rPr lang="en-US" altLang="zh-CN" dirty="0"/>
              <a:t>Salary</a:t>
            </a:r>
            <a:r>
              <a:rPr lang="zh-CN" altLang="zh-CN" dirty="0"/>
              <a:t>，数据类型为</a:t>
            </a:r>
            <a:r>
              <a:rPr lang="en-US" altLang="zh-CN" dirty="0" err="1"/>
              <a:t>int</a:t>
            </a:r>
            <a:r>
              <a:rPr lang="zh-CN" altLang="zh-CN" dirty="0"/>
              <a:t>，允许空。</a:t>
            </a:r>
          </a:p>
          <a:p>
            <a:pPr marL="438150" lvl="1" indent="0">
              <a:buNone/>
            </a:pPr>
            <a:r>
              <a:rPr lang="en-US" altLang="zh-CN" dirty="0">
                <a:solidFill>
                  <a:srgbClr val="008000"/>
                </a:solidFill>
              </a:rPr>
              <a:t> ALTER TABLE Employees</a:t>
            </a:r>
            <a:endParaRPr lang="zh-CN" altLang="zh-CN" dirty="0">
              <a:solidFill>
                <a:srgbClr val="008000"/>
              </a:solidFill>
            </a:endParaRPr>
          </a:p>
          <a:p>
            <a:pPr marL="438150" lvl="1" indent="0">
              <a:buNone/>
            </a:pPr>
            <a:r>
              <a:rPr lang="en-US" altLang="zh-CN" dirty="0">
                <a:solidFill>
                  <a:srgbClr val="008000"/>
                </a:solidFill>
              </a:rPr>
              <a:t>  ADD Salary  INT 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85E5F9-22F6-40AC-A7D9-23AA959FB63C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40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</a:p>
        </p:txBody>
      </p:sp>
      <p:sp>
        <p:nvSpPr>
          <p:cNvPr id="433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414934"/>
            <a:ext cx="8181726" cy="4678362"/>
          </a:xfrm>
        </p:spPr>
        <p:txBody>
          <a:bodyPr/>
          <a:lstStyle/>
          <a:p>
            <a:r>
              <a:rPr lang="zh-CN" altLang="zh-CN" dirty="0"/>
              <a:t>例</a:t>
            </a:r>
            <a:r>
              <a:rPr lang="en-US" altLang="zh-CN" dirty="0"/>
              <a:t>2. </a:t>
            </a:r>
            <a:r>
              <a:rPr lang="zh-CN" altLang="zh-CN" dirty="0"/>
              <a:t>将</a:t>
            </a:r>
            <a:r>
              <a:rPr lang="en-US" altLang="zh-CN" dirty="0"/>
              <a:t>Jobs</a:t>
            </a:r>
            <a:r>
              <a:rPr lang="zh-CN" altLang="zh-CN" dirty="0"/>
              <a:t>表的</a:t>
            </a:r>
            <a:r>
              <a:rPr lang="en-US" altLang="zh-CN" dirty="0" err="1"/>
              <a:t>Descp</a:t>
            </a:r>
            <a:r>
              <a:rPr lang="zh-CN" altLang="zh-CN" dirty="0"/>
              <a:t>列的数据类型改为</a:t>
            </a:r>
            <a:r>
              <a:rPr lang="en-US" altLang="zh-CN" dirty="0"/>
              <a:t>NCHAR(40)</a:t>
            </a:r>
            <a:r>
              <a:rPr lang="zh-CN" altLang="zh-CN" dirty="0"/>
              <a:t>。</a:t>
            </a:r>
            <a:r>
              <a:rPr lang="en-US" altLang="zh-CN" dirty="0"/>
              <a:t> </a:t>
            </a:r>
            <a:endParaRPr lang="zh-CN" altLang="zh-CN" dirty="0"/>
          </a:p>
          <a:p>
            <a:pPr marL="438150" lvl="1" indent="0">
              <a:buNone/>
            </a:pPr>
            <a:r>
              <a:rPr lang="en-US" altLang="zh-CN" dirty="0">
                <a:solidFill>
                  <a:srgbClr val="008000"/>
                </a:solidFill>
              </a:rPr>
              <a:t>ALTER TABLE Jobs</a:t>
            </a:r>
            <a:endParaRPr lang="zh-CN" altLang="zh-CN" dirty="0">
              <a:solidFill>
                <a:srgbClr val="008000"/>
              </a:solidFill>
            </a:endParaRPr>
          </a:p>
          <a:p>
            <a:pPr marL="438150" lvl="1" indent="0">
              <a:buNone/>
            </a:pPr>
            <a:r>
              <a:rPr lang="en-US" altLang="zh-CN" dirty="0">
                <a:solidFill>
                  <a:srgbClr val="008000"/>
                </a:solidFill>
              </a:rPr>
              <a:t>  ALTER COLUMN </a:t>
            </a:r>
            <a:r>
              <a:rPr lang="en-US" altLang="zh-CN" dirty="0" err="1">
                <a:solidFill>
                  <a:srgbClr val="008000"/>
                </a:solidFill>
              </a:rPr>
              <a:t>Descp</a:t>
            </a:r>
            <a:r>
              <a:rPr lang="en-US" altLang="zh-CN" dirty="0">
                <a:solidFill>
                  <a:srgbClr val="008000"/>
                </a:solidFill>
              </a:rPr>
              <a:t> NCHAR(40)</a:t>
            </a:r>
            <a:endParaRPr lang="zh-CN" altLang="zh-CN" dirty="0">
              <a:solidFill>
                <a:srgbClr val="008000"/>
              </a:solidFill>
            </a:endParaRPr>
          </a:p>
          <a:p>
            <a:r>
              <a:rPr lang="zh-CN" altLang="zh-CN" dirty="0"/>
              <a:t>例</a:t>
            </a:r>
            <a:r>
              <a:rPr lang="en-US" altLang="zh-CN" dirty="0"/>
              <a:t>3. </a:t>
            </a:r>
            <a:r>
              <a:rPr lang="zh-CN" altLang="zh-CN" dirty="0"/>
              <a:t>删除</a:t>
            </a:r>
            <a:r>
              <a:rPr lang="en-US" altLang="zh-CN" dirty="0"/>
              <a:t>Employees</a:t>
            </a:r>
            <a:r>
              <a:rPr lang="zh-CN" altLang="zh-CN" dirty="0"/>
              <a:t>表的</a:t>
            </a:r>
            <a:r>
              <a:rPr lang="en-US" altLang="zh-CN" dirty="0"/>
              <a:t>Tel</a:t>
            </a:r>
            <a:r>
              <a:rPr lang="zh-CN" altLang="zh-CN" dirty="0"/>
              <a:t>列。</a:t>
            </a:r>
            <a:r>
              <a:rPr lang="en-US" altLang="zh-CN" dirty="0"/>
              <a:t> </a:t>
            </a:r>
            <a:endParaRPr lang="zh-CN" altLang="zh-CN" dirty="0"/>
          </a:p>
          <a:p>
            <a:pPr marL="438150" lvl="1" indent="0"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08000"/>
                </a:solidFill>
              </a:rPr>
              <a:t>ALTER TABLE Employees</a:t>
            </a:r>
            <a:endParaRPr lang="zh-CN" altLang="zh-CN" dirty="0">
              <a:solidFill>
                <a:srgbClr val="008000"/>
              </a:solidFill>
            </a:endParaRPr>
          </a:p>
          <a:p>
            <a:pPr marL="438150" lvl="1" indent="0"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08000"/>
                </a:solidFill>
              </a:rPr>
              <a:t>   DROP COLUMN Tel</a:t>
            </a:r>
            <a:endParaRPr lang="zh-CN" altLang="zh-CN" dirty="0">
              <a:solidFill>
                <a:srgbClr val="008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8C0A70-16FF-4693-8152-3BA0C63F1F53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41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例</a:t>
            </a:r>
            <a:r>
              <a:rPr lang="en-US" altLang="zh-CN" dirty="0"/>
              <a:t>4. </a:t>
            </a:r>
            <a:r>
              <a:rPr lang="zh-CN" altLang="zh-CN" dirty="0"/>
              <a:t>为</a:t>
            </a:r>
            <a:r>
              <a:rPr lang="en-US" altLang="zh-CN" dirty="0"/>
              <a:t>Jobs</a:t>
            </a:r>
            <a:r>
              <a:rPr lang="zh-CN" altLang="zh-CN" dirty="0"/>
              <a:t>表中</a:t>
            </a:r>
            <a:r>
              <a:rPr lang="en-US" altLang="zh-CN" dirty="0" err="1"/>
              <a:t>MinSalary</a:t>
            </a:r>
            <a:r>
              <a:rPr lang="zh-CN" altLang="zh-CN" dirty="0"/>
              <a:t>列添加约束：大于等于</a:t>
            </a:r>
            <a:r>
              <a:rPr lang="en-US" altLang="zh-CN" dirty="0"/>
              <a:t>1600</a:t>
            </a:r>
            <a:r>
              <a:rPr lang="zh-CN" altLang="zh-CN" dirty="0"/>
              <a:t>。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8000"/>
                </a:solidFill>
              </a:rPr>
              <a:t>  ALTER TABLE Jobs</a:t>
            </a:r>
            <a:endParaRPr lang="zh-CN" altLang="zh-CN" dirty="0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8000"/>
                </a:solidFill>
              </a:rPr>
              <a:t>   ADD CHECK( </a:t>
            </a:r>
            <a:r>
              <a:rPr lang="en-US" altLang="zh-CN" dirty="0" err="1">
                <a:solidFill>
                  <a:srgbClr val="008000"/>
                </a:solidFill>
              </a:rPr>
              <a:t>MinSalary</a:t>
            </a:r>
            <a:r>
              <a:rPr lang="en-US" altLang="zh-CN" dirty="0">
                <a:solidFill>
                  <a:srgbClr val="008000"/>
                </a:solidFill>
              </a:rPr>
              <a:t> &gt;= 1600 )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65E4FF-756F-46F8-89A7-3E62B221F7C9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42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78803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200" dirty="0"/>
              <a:t>删除表</a:t>
            </a:r>
          </a:p>
        </p:txBody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76250" indent="-476250"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 DROP TABLE &lt;</a:t>
            </a:r>
            <a:r>
              <a:rPr lang="zh-CN" altLang="en-US" dirty="0">
                <a:solidFill>
                  <a:srgbClr val="FF0000"/>
                </a:solidFill>
                <a:ea typeface="宋体" charset="-122"/>
              </a:rPr>
              <a:t>表名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&gt; </a:t>
            </a:r>
          </a:p>
          <a:p>
            <a:pPr marL="476250" indent="-476250"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   { [, &lt;</a:t>
            </a:r>
            <a:r>
              <a:rPr lang="zh-CN" altLang="en-US" dirty="0">
                <a:solidFill>
                  <a:srgbClr val="FF0000"/>
                </a:solidFill>
                <a:ea typeface="宋体" charset="-122"/>
              </a:rPr>
              <a:t>表名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&gt; ] </a:t>
            </a:r>
            <a:r>
              <a:rPr lang="en-US" altLang="zh-CN" dirty="0">
                <a:solidFill>
                  <a:srgbClr val="FF0000"/>
                </a:solidFill>
                <a:latin typeface="Times New Roman"/>
                <a:ea typeface="宋体" charset="-122"/>
              </a:rPr>
              <a:t>…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 }</a:t>
            </a:r>
          </a:p>
          <a:p>
            <a:pPr marL="476250" indent="-476250">
              <a:spcBef>
                <a:spcPts val="1200"/>
              </a:spcBef>
            </a:pPr>
            <a:r>
              <a:rPr lang="zh-CN" altLang="en-US" dirty="0">
                <a:ea typeface="宋体" charset="-122"/>
              </a:rPr>
              <a:t>例</a:t>
            </a:r>
            <a:r>
              <a:rPr lang="en-US" altLang="zh-CN" dirty="0">
                <a:ea typeface="宋体" charset="-122"/>
              </a:rPr>
              <a:t>4.</a:t>
            </a:r>
            <a:r>
              <a:rPr lang="zh-CN" altLang="en-US" dirty="0">
                <a:ea typeface="宋体" charset="-122"/>
              </a:rPr>
              <a:t>删除</a:t>
            </a:r>
            <a:r>
              <a:rPr lang="en-US" altLang="zh-CN" dirty="0"/>
              <a:t>Employees</a:t>
            </a:r>
            <a:r>
              <a:rPr lang="zh-CN" altLang="en-US" dirty="0">
                <a:ea typeface="宋体" charset="-122"/>
              </a:rPr>
              <a:t>表的语句为：</a:t>
            </a:r>
          </a:p>
          <a:p>
            <a:pPr marL="876300" lvl="1" indent="-419100">
              <a:buFontTx/>
              <a:buNone/>
            </a:pPr>
            <a:r>
              <a:rPr lang="en-US" altLang="zh-CN" dirty="0">
                <a:solidFill>
                  <a:srgbClr val="008000"/>
                </a:solidFill>
              </a:rPr>
              <a:t>DROP TABLE Employees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17C16A-4CF4-45FE-A154-E4F2B7E15EDD}" type="datetime8">
              <a:rPr lang="zh-CN" altLang="en-US" smtClean="0"/>
              <a:pPr>
                <a:defRPr/>
              </a:pPr>
              <a:t>2024年9月22日11时8分</a:t>
            </a:fld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93C5-2466-49C7-9407-97947274FDD1}" type="slidenum">
              <a:rPr lang="zh-CN" altLang="en-US" smtClean="0"/>
              <a:pPr>
                <a:defRPr/>
              </a:pPr>
              <a:t>43</a:t>
            </a:fld>
            <a:r>
              <a:rPr lang="en-US" altLang="zh-CN"/>
              <a:t>/37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stu-jsjxy">
  <a:themeElements>
    <a:clrScheme name="bistu-jsjxy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bistu-jsjxy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istu-jsjxy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istu-jsjxy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istu-jsjxy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istu-jsjxy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istu-jsjxy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istu-jsjxy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istu-jsjxy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istu-jsjxy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istu-jsjxy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bistu-jsjxy">
  <a:themeElements>
    <a:clrScheme name="1_bistu-jsjxy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1_bistu-jsjxy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bistu-jsjxy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istu-jsjxy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istu-jsjxy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istu-jsjxy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istu-jsjxy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istu-jsjxy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istu-jsjxy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istu-jsjxy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istu-jsjxy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FFFFFF"/>
    </a:accent3>
    <a:accent4>
      <a:srgbClr val="000000"/>
    </a:accent4>
    <a:accent5>
      <a:srgbClr val="B2C1DB"/>
    </a:accent5>
    <a:accent6>
      <a:srgbClr val="AE4845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FFFFFF"/>
    </a:accent3>
    <a:accent4>
      <a:srgbClr val="000000"/>
    </a:accent4>
    <a:accent5>
      <a:srgbClr val="B2C1DB"/>
    </a:accent5>
    <a:accent6>
      <a:srgbClr val="AE4845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157256794</TotalTime>
  <Pages>0</Pages>
  <Words>2219</Words>
  <Characters>0</Characters>
  <Application>Microsoft Office PowerPoint</Application>
  <DocSecurity>0</DocSecurity>
  <PresentationFormat>全屏显示(4:3)</PresentationFormat>
  <Lines>0</Lines>
  <Paragraphs>346</Paragraphs>
  <Slides>43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43</vt:i4>
      </vt:variant>
    </vt:vector>
  </HeadingPairs>
  <TitlesOfParts>
    <vt:vector size="57" baseType="lpstr">
      <vt:lpstr>仿宋_GB2312</vt:lpstr>
      <vt:lpstr>华文楷体</vt:lpstr>
      <vt:lpstr>华文隶书</vt:lpstr>
      <vt:lpstr>华文行楷</vt:lpstr>
      <vt:lpstr>楷体_GB2312</vt:lpstr>
      <vt:lpstr>宋体</vt:lpstr>
      <vt:lpstr>Arial</vt:lpstr>
      <vt:lpstr>Calibri</vt:lpstr>
      <vt:lpstr>Times New Roman</vt:lpstr>
      <vt:lpstr>Verdana</vt:lpstr>
      <vt:lpstr>Wingdings</vt:lpstr>
      <vt:lpstr>bistu-jsjxy</vt:lpstr>
      <vt:lpstr>自定义设计方案</vt:lpstr>
      <vt:lpstr>1_bistu-jsjxy</vt:lpstr>
      <vt:lpstr>数据库原理与应用</vt:lpstr>
      <vt:lpstr>第4章 SQL语言基础及数据定义功能</vt:lpstr>
      <vt:lpstr>4.1 SQL语言概述</vt:lpstr>
      <vt:lpstr>4.1.1 SQL语言的发展</vt:lpstr>
      <vt:lpstr>4.1.2 SQL语言的特点</vt:lpstr>
      <vt:lpstr>4.1.3 SQL语言功能概述</vt:lpstr>
      <vt:lpstr>4.2 SQL支持的数据类型</vt:lpstr>
      <vt:lpstr>数值型</vt:lpstr>
      <vt:lpstr>字符串型</vt:lpstr>
      <vt:lpstr>普通编码字符串类型（ASCII代码体系）</vt:lpstr>
      <vt:lpstr>统一字符编码字符串类型（Unicode代码体系）</vt:lpstr>
      <vt:lpstr>二进制字符串类型</vt:lpstr>
      <vt:lpstr>日期时间类型</vt:lpstr>
      <vt:lpstr>日期时间类型</vt:lpstr>
      <vt:lpstr>4.3 数据定义功能 </vt:lpstr>
      <vt:lpstr>SQL数据定义功能</vt:lpstr>
      <vt:lpstr>架构基本概念</vt:lpstr>
      <vt:lpstr>架构基本概念</vt:lpstr>
      <vt:lpstr>定义架构</vt:lpstr>
      <vt:lpstr>示例</vt:lpstr>
      <vt:lpstr>示例</vt:lpstr>
      <vt:lpstr>删除架构</vt:lpstr>
      <vt:lpstr>说明</vt:lpstr>
      <vt:lpstr>定义基本表</vt:lpstr>
      <vt:lpstr>在列级完整性约束定义处可定义的约束</vt:lpstr>
      <vt:lpstr>几点说明</vt:lpstr>
      <vt:lpstr>非空约束</vt:lpstr>
      <vt:lpstr>主键约束</vt:lpstr>
      <vt:lpstr>外键约束</vt:lpstr>
      <vt:lpstr>唯一值约束</vt:lpstr>
      <vt:lpstr>默认值约束</vt:lpstr>
      <vt:lpstr>默认值约束（续）</vt:lpstr>
      <vt:lpstr>限制列取值约束</vt:lpstr>
      <vt:lpstr>示例</vt:lpstr>
      <vt:lpstr>创建Jobs表</vt:lpstr>
      <vt:lpstr>示例</vt:lpstr>
      <vt:lpstr>创建Employees表</vt:lpstr>
      <vt:lpstr>修改表结构 </vt:lpstr>
      <vt:lpstr>修改表结构</vt:lpstr>
      <vt:lpstr>示例</vt:lpstr>
      <vt:lpstr>示例</vt:lpstr>
      <vt:lpstr>示例</vt:lpstr>
      <vt:lpstr>删除表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数据挖掘在银行信贷业务中的应用研究</dc:title>
  <dc:subject/>
  <dc:creator>Jack</dc:creator>
  <cp:keywords/>
  <dc:description/>
  <cp:lastModifiedBy>Administrator</cp:lastModifiedBy>
  <cp:revision>218</cp:revision>
  <cp:lastPrinted>1899-12-30T00:00:00Z</cp:lastPrinted>
  <dcterms:created xsi:type="dcterms:W3CDTF">2010-06-04T15:42:51Z</dcterms:created>
  <dcterms:modified xsi:type="dcterms:W3CDTF">2024-09-22T15:12:56Z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2052-6.6.0.2461</vt:lpwstr>
  </property>
</Properties>
</file>